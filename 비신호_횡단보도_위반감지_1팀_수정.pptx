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63" r:id="rId4"/>
    <p:sldId id="258" r:id="rId5"/>
    <p:sldId id="265" r:id="rId6"/>
    <p:sldId id="259" r:id="rId7"/>
    <p:sldId id="260" r:id="rId8"/>
    <p:sldId id="261" r:id="rId9"/>
    <p:sldId id="262" r:id="rId10"/>
    <p:sldId id="264"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0" d="100"/>
          <a:sy n="110"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clustered"/>
        <c:varyColors val="0"/>
        <c:ser>
          <c:idx val="0"/>
          <c:order val="0"/>
          <c:tx>
            <c:strRef>
              <c:f>Sheet1!$B$1</c:f>
              <c:strCache>
                <c:ptCount val="1"/>
                <c:pt idx="0">
                  <c:v>검출 비율</c:v>
                </c:pt>
              </c:strCache>
            </c:strRef>
          </c:tx>
          <c:spPr>
            <a:solidFill>
              <a:srgbClr val="9AA6B8"/>
            </a:solidFill>
            <a:effectLst/>
          </c:spPr>
          <c:invertIfNegative val="0"/>
          <c:dPt>
            <c:idx val="0"/>
            <c:invertIfNegative val="0"/>
            <c:bubble3D val="0"/>
            <c:extLst>
              <c:ext xmlns:c16="http://schemas.microsoft.com/office/drawing/2014/chart" uri="{C3380CC4-5D6E-409C-BE32-E72D297353CC}">
                <c16:uniqueId val="{00000001-70AC-4BB4-9952-EA1D45A8C534}"/>
              </c:ext>
            </c:extLst>
          </c:dPt>
          <c:dPt>
            <c:idx val="1"/>
            <c:invertIfNegative val="0"/>
            <c:bubble3D val="0"/>
            <c:spPr>
              <a:solidFill>
                <a:srgbClr val="F2A63B"/>
              </a:solidFill>
              <a:effectLst/>
            </c:spPr>
            <c:extLst>
              <c:ext xmlns:c16="http://schemas.microsoft.com/office/drawing/2014/chart" uri="{C3380CC4-5D6E-409C-BE32-E72D297353CC}">
                <c16:uniqueId val="{00000003-70AC-4BB4-9952-EA1D45A8C534}"/>
              </c:ext>
            </c:extLst>
          </c:dPt>
          <c:dLbls>
            <c:numFmt formatCode="0.0&quot;%&quot;" sourceLinked="0"/>
            <c:spPr>
              <a:noFill/>
              <a:ln>
                <a:noFill/>
              </a:ln>
              <a:effectLst/>
            </c:spPr>
            <c:txPr>
              <a:bodyPr/>
              <a:lstStyle/>
              <a:p>
                <a:pPr>
                  <a:defRPr sz="1000" b="0" i="0" u="none" strike="noStrike">
                    <a:solidFill>
                      <a:srgbClr val="1F2937"/>
                    </a:solidFill>
                    <a:latin typeface="맑은 고딕"/>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학습 전 (yolo11m)</c:v>
                </c:pt>
                <c:pt idx="1">
                  <c:v>학습 후 (best_moto)</c:v>
                </c:pt>
              </c:strCache>
            </c:strRef>
          </c:cat>
          <c:val>
            <c:numRef>
              <c:f>Sheet1!$B$2:$B$3</c:f>
              <c:numCache>
                <c:formatCode>General</c:formatCode>
                <c:ptCount val="2"/>
                <c:pt idx="0">
                  <c:v>20.8</c:v>
                </c:pt>
                <c:pt idx="1">
                  <c:v>45.5</c:v>
                </c:pt>
              </c:numCache>
            </c:numRef>
          </c:val>
          <c:extLst>
            <c:ext xmlns:c16="http://schemas.microsoft.com/office/drawing/2014/chart" uri="{C3380CC4-5D6E-409C-BE32-E72D297353CC}">
              <c16:uniqueId val="{00000004-70AC-4BB4-9952-EA1D45A8C534}"/>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맑은 고딕"/>
              </a:defRPr>
            </a:pPr>
            <a:endParaRPr lang="en-US"/>
          </a:p>
        </c:txPr>
        <c:crossAx val="2094734552"/>
        <c:crosses val="autoZero"/>
        <c:auto val="1"/>
        <c:lblAlgn val="ctr"/>
        <c:lblOffset val="100"/>
        <c:noMultiLvlLbl val="1"/>
      </c:catAx>
      <c:valAx>
        <c:axId val="2094734552"/>
        <c:scaling>
          <c:orientation val="minMax"/>
          <c:max val="55"/>
        </c:scaling>
        <c:delete val="0"/>
        <c:axPos val="l"/>
        <c:majorGridlines>
          <c:spPr>
            <a:ln w="12700" cap="flat">
              <a:solidFill>
                <a:srgbClr val="E8EBEF"/>
              </a:solidFill>
              <a:prstDash val="solid"/>
              <a:round/>
            </a:ln>
          </c:spPr>
        </c:majorGridlines>
        <c:title>
          <c:tx>
            <c:rich>
              <a:bodyPr/>
              <a:lstStyle/>
              <a:p>
                <a:pPr>
                  <a:defRPr sz="1000" b="0" i="0" u="none" strike="noStrike">
                    <a:solidFill>
                      <a:srgbClr val="6B7280"/>
                    </a:solidFill>
                    <a:latin typeface="Arial"/>
                  </a:defRPr>
                </a:pPr>
                <a:r>
                  <a:rPr lang="en-US" altLang="ko-KR" sz="1000" b="0" i="0" u="none" strike="noStrike">
                    <a:solidFill>
                      <a:srgbClr val="6B7280"/>
                    </a:solidFill>
                    <a:latin typeface="Arial"/>
                  </a:rPr>
                  <a:t>%</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B728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4209698"/>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1팀입니다. 저희는 비신호 횡단보도에서 도로교통법 제27조 보행자 보호의무 위반을 자동으로 찾아내는 시스템을 개발했습니다.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도로교통법 제27조 1항은 보행자가 건너려 할 때 차량이 일시정지하도록 규정합니다. 하지만 비신호 횡단보도는 신호가 없어 운전자 판단에만 맡겨져 있고, 기존 단속 카메라는 보행자를 보지 않아 이 조항을 판단할 수 없습니다. 결국 담당자가 영상을 다 돌려봐야 하는 상황입니다. 저희 시스템은 위반을 확정하는 게 아니라, 담당자가 검토할 후보를 추려주는 역할입니다.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개발 환경은 WSL2 위에서 RTX 4060 GPU를 써서 구성했고, 검출은 YOLO11, 추적은 ByteTrack을 썼습니다. 라벨링은 Roboflow를 활용했고, 웹은 Streamlit으로 만들었습니다.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문제를 통째로 푸는 공개 모델은 없습니다. 그래서 검출과 추적은 공개 부분 모델을 쓰고, 한국 법 기준의 판정 로직은 직접 개발했습니다. 스마트 횡단보도는 예방만 하고 기록을 못 남기고, 기존 단속 카메라는 보행자를 보지 않습니다. 저희는 조문을 로직으로 옮겼고, 확정하지 않고 검토를 지원한다는 점이 핵심입니다.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4일 일정으로 진행했습니다. 첫날 주제를 정하고, 5일과 6일에 판정 로직과 데이터 수집을 하고, 마지막 날 오토바이 파인튜닝과 UI를 완성했습니다.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사용자는 영상을 올리고 횡단보도 네 모서리만 클릭하면 됩니다. 설계에서 가장 중요했던 판단은, 보행자가 실제로 건넜는지를 위반 조건으로 삼지 않은 것입니다. 차가 안 멈추면 보행자는 못 건너니까, 그걸 조건으로 걸면 가장 심각한 위반을 놓치게 됩니다.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구조는 다섯 단계입니다. 검출과 추적, 상태 분석, 규칙 기반 판정, 증거 산출입니다. 특히 판정 단계에서는 특정 보행자와 특정 차량을 짝짓지 않고 프레임 단위로 봅니다. 야간 CCTV에서는 추적 ID가 자주 끊기는데, 이 방식이면 ID가 끊겨도 판정이 유지됩니다.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제27조는 두 가지를 요구합니다. 보행자가 있었는가, 차량이 일시정지했는가. 보행자 쪽은 원근 왜곡을 없애려고 픽셀 거리를 사람 키로 나눈 정규화 거리를 썼고, 차량 쪽은 서행과 완전 정지를 구분하기 위해 정지 지속 시간으로 판정했습니다. 참고로 계획서에 있던 딥러닝 의도예측 모델은 차량 카메라 데이터로 학습된 모델이라 고정 CCTV와 맞지 않아서, 검증 후 규칙 기반으로 전환했습니다.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실제 야간 CCTV 화면입니다. 빨간 박스가 위반 차량으로 판정된 대상이고, 자동차와 오토바이가 동시에 잡힌 장면입니다. 오른쪽은 산출되는 기능들인데, 단순히 위반이라고 알려주는 게 아니라 검토자가 확인할 수 있는 증거와 근거를 함께 냅니다.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사전학습 모델은 야간 오토바이를 잘 못 잡았습니다. 현장 영상에서 693장을 직접 라벨링하고 증강해서 1733장으로 학습시킨 결과, 신뢰도 0.45 이상으로 검출되는 비율이 20.8%에서 45.5%로 두 배 이상 올랐습니다.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가장 직접적인 활용은 단속 업무 보조입니다. 사람이 다 볼 수 없는 영상에서 후보만 추려주는 역할입니다. 그 외에 위반이 잦은 지점을 데이터로 확인해서 시설 개선 우선순위를 정하는 데도 쓸 수 있습니다. 추가 장비 없이 기존 CCTV로 동작한다는 점이 가장 큰 강점입니다.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한계와 향후 계획입니다. 야간 검출 신뢰도가 불안정해 추적이 끊기는 문제가 있었고 후처리로 보완했습니다. 처리 속도, 다중 횡단보도 지원, 그리고 백엔드 분리와 데이터베이스 도입 같은 서비스 구조 확장도 앞으로 개선할 부분입니다. 이상 발표를 마치겠습니다. 감사합니다.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457200" y="6053328"/>
            <a:ext cx="566928" cy="365760"/>
          </a:xfrm>
          <a:prstGeom prst="rect">
            <a:avLst/>
          </a:prstGeom>
          <a:solidFill>
            <a:srgbClr val="FFFFFF">
              <a:alpha val="22000"/>
            </a:srgbClr>
          </a:solidFill>
          <a:ln w="12700">
            <a:solidFill>
              <a:srgbClr val="FFFFFF">
                <a:alpha val="0"/>
              </a:srgbClr>
            </a:solidFill>
            <a:prstDash val="solid"/>
          </a:ln>
        </p:spPr>
      </p:sp>
      <p:sp>
        <p:nvSpPr>
          <p:cNvPr id="3" name="Shape 1"/>
          <p:cNvSpPr/>
          <p:nvPr/>
        </p:nvSpPr>
        <p:spPr>
          <a:xfrm>
            <a:off x="1536192" y="6053328"/>
            <a:ext cx="566928" cy="365760"/>
          </a:xfrm>
          <a:prstGeom prst="rect">
            <a:avLst/>
          </a:prstGeom>
          <a:solidFill>
            <a:srgbClr val="FFFFFF">
              <a:alpha val="22000"/>
            </a:srgbClr>
          </a:solidFill>
          <a:ln w="12700">
            <a:solidFill>
              <a:srgbClr val="FFFFFF">
                <a:alpha val="0"/>
              </a:srgbClr>
            </a:solidFill>
            <a:prstDash val="solid"/>
          </a:ln>
        </p:spPr>
      </p:sp>
      <p:sp>
        <p:nvSpPr>
          <p:cNvPr id="4" name="Shape 2"/>
          <p:cNvSpPr/>
          <p:nvPr/>
        </p:nvSpPr>
        <p:spPr>
          <a:xfrm>
            <a:off x="2615184" y="6053328"/>
            <a:ext cx="566928" cy="365760"/>
          </a:xfrm>
          <a:prstGeom prst="rect">
            <a:avLst/>
          </a:prstGeom>
          <a:solidFill>
            <a:srgbClr val="FFFFFF">
              <a:alpha val="22000"/>
            </a:srgbClr>
          </a:solidFill>
          <a:ln w="12700">
            <a:solidFill>
              <a:srgbClr val="FFFFFF">
                <a:alpha val="0"/>
              </a:srgbClr>
            </a:solidFill>
            <a:prstDash val="solid"/>
          </a:ln>
        </p:spPr>
      </p:sp>
      <p:sp>
        <p:nvSpPr>
          <p:cNvPr id="5" name="Shape 3"/>
          <p:cNvSpPr/>
          <p:nvPr/>
        </p:nvSpPr>
        <p:spPr>
          <a:xfrm>
            <a:off x="3694176" y="6053328"/>
            <a:ext cx="566928" cy="365760"/>
          </a:xfrm>
          <a:prstGeom prst="rect">
            <a:avLst/>
          </a:prstGeom>
          <a:solidFill>
            <a:srgbClr val="FFFFFF">
              <a:alpha val="22000"/>
            </a:srgbClr>
          </a:solidFill>
          <a:ln w="12700">
            <a:solidFill>
              <a:srgbClr val="FFFFFF">
                <a:alpha val="0"/>
              </a:srgbClr>
            </a:solidFill>
            <a:prstDash val="solid"/>
          </a:ln>
        </p:spPr>
      </p:sp>
      <p:sp>
        <p:nvSpPr>
          <p:cNvPr id="6" name="Shape 4"/>
          <p:cNvSpPr/>
          <p:nvPr/>
        </p:nvSpPr>
        <p:spPr>
          <a:xfrm>
            <a:off x="4773168" y="6053328"/>
            <a:ext cx="566928" cy="365760"/>
          </a:xfrm>
          <a:prstGeom prst="rect">
            <a:avLst/>
          </a:prstGeom>
          <a:solidFill>
            <a:srgbClr val="FFFFFF">
              <a:alpha val="22000"/>
            </a:srgbClr>
          </a:solidFill>
          <a:ln w="12700">
            <a:solidFill>
              <a:srgbClr val="FFFFFF">
                <a:alpha val="0"/>
              </a:srgbClr>
            </a:solidFill>
            <a:prstDash val="solid"/>
          </a:ln>
        </p:spPr>
      </p:sp>
      <p:sp>
        <p:nvSpPr>
          <p:cNvPr id="7" name="Shape 5"/>
          <p:cNvSpPr/>
          <p:nvPr/>
        </p:nvSpPr>
        <p:spPr>
          <a:xfrm>
            <a:off x="5852160" y="6053328"/>
            <a:ext cx="566928" cy="365760"/>
          </a:xfrm>
          <a:prstGeom prst="rect">
            <a:avLst/>
          </a:prstGeom>
          <a:solidFill>
            <a:srgbClr val="FFFFFF">
              <a:alpha val="22000"/>
            </a:srgbClr>
          </a:solidFill>
          <a:ln w="12700">
            <a:solidFill>
              <a:srgbClr val="FFFFFF">
                <a:alpha val="0"/>
              </a:srgbClr>
            </a:solidFill>
            <a:prstDash val="solid"/>
          </a:ln>
        </p:spPr>
      </p:sp>
      <p:sp>
        <p:nvSpPr>
          <p:cNvPr id="8" name="Shape 6"/>
          <p:cNvSpPr/>
          <p:nvPr/>
        </p:nvSpPr>
        <p:spPr>
          <a:xfrm>
            <a:off x="6931152" y="6053328"/>
            <a:ext cx="566928" cy="365760"/>
          </a:xfrm>
          <a:prstGeom prst="rect">
            <a:avLst/>
          </a:prstGeom>
          <a:solidFill>
            <a:srgbClr val="FFFFFF">
              <a:alpha val="22000"/>
            </a:srgbClr>
          </a:solidFill>
          <a:ln w="12700">
            <a:solidFill>
              <a:srgbClr val="FFFFFF">
                <a:alpha val="0"/>
              </a:srgbClr>
            </a:solidFill>
            <a:prstDash val="solid"/>
          </a:ln>
        </p:spPr>
      </p:sp>
      <p:sp>
        <p:nvSpPr>
          <p:cNvPr id="9" name="Shape 7"/>
          <p:cNvSpPr/>
          <p:nvPr/>
        </p:nvSpPr>
        <p:spPr>
          <a:xfrm>
            <a:off x="8010144" y="6053328"/>
            <a:ext cx="566928" cy="365760"/>
          </a:xfrm>
          <a:prstGeom prst="rect">
            <a:avLst/>
          </a:prstGeom>
          <a:solidFill>
            <a:srgbClr val="FFFFFF">
              <a:alpha val="22000"/>
            </a:srgbClr>
          </a:solidFill>
          <a:ln w="12700">
            <a:solidFill>
              <a:srgbClr val="FFFFFF">
                <a:alpha val="0"/>
              </a:srgbClr>
            </a:solidFill>
            <a:prstDash val="solid"/>
          </a:ln>
        </p:spPr>
      </p:sp>
      <p:sp>
        <p:nvSpPr>
          <p:cNvPr id="10" name="Shape 8"/>
          <p:cNvSpPr/>
          <p:nvPr/>
        </p:nvSpPr>
        <p:spPr>
          <a:xfrm>
            <a:off x="9089136" y="6053328"/>
            <a:ext cx="566928" cy="365760"/>
          </a:xfrm>
          <a:prstGeom prst="rect">
            <a:avLst/>
          </a:prstGeom>
          <a:solidFill>
            <a:srgbClr val="FFFFFF">
              <a:alpha val="22000"/>
            </a:srgbClr>
          </a:solidFill>
          <a:ln w="12700">
            <a:solidFill>
              <a:srgbClr val="FFFFFF">
                <a:alpha val="0"/>
              </a:srgbClr>
            </a:solidFill>
            <a:prstDash val="solid"/>
          </a:ln>
        </p:spPr>
      </p:sp>
      <p:sp>
        <p:nvSpPr>
          <p:cNvPr id="11" name="Shape 9"/>
          <p:cNvSpPr/>
          <p:nvPr/>
        </p:nvSpPr>
        <p:spPr>
          <a:xfrm>
            <a:off x="10168128" y="6053328"/>
            <a:ext cx="566928" cy="365760"/>
          </a:xfrm>
          <a:prstGeom prst="rect">
            <a:avLst/>
          </a:prstGeom>
          <a:solidFill>
            <a:srgbClr val="FFFFFF">
              <a:alpha val="22000"/>
            </a:srgbClr>
          </a:solidFill>
          <a:ln w="12700">
            <a:solidFill>
              <a:srgbClr val="FFFFFF">
                <a:alpha val="0"/>
              </a:srgbClr>
            </a:solidFill>
            <a:prstDash val="solid"/>
          </a:ln>
        </p:spPr>
      </p:sp>
      <p:sp>
        <p:nvSpPr>
          <p:cNvPr id="12" name="Shape 10"/>
          <p:cNvSpPr/>
          <p:nvPr/>
        </p:nvSpPr>
        <p:spPr>
          <a:xfrm>
            <a:off x="11247120" y="6053328"/>
            <a:ext cx="566928" cy="365760"/>
          </a:xfrm>
          <a:prstGeom prst="rect">
            <a:avLst/>
          </a:prstGeom>
          <a:solidFill>
            <a:srgbClr val="FFFFFF">
              <a:alpha val="22000"/>
            </a:srgbClr>
          </a:solidFill>
          <a:ln w="12700">
            <a:solidFill>
              <a:srgbClr val="FFFFFF">
                <a:alpha val="0"/>
              </a:srgbClr>
            </a:solidFill>
            <a:prstDash val="solid"/>
          </a:ln>
        </p:spPr>
      </p:sp>
      <p:sp>
        <p:nvSpPr>
          <p:cNvPr id="13" name="Text 11"/>
          <p:cNvSpPr txBox="1"/>
          <p:nvPr/>
        </p:nvSpPr>
        <p:spPr>
          <a:xfrm>
            <a:off x="822960" y="1600200"/>
            <a:ext cx="8686800" cy="365760"/>
          </a:xfrm>
          <a:prstGeom prst="rect">
            <a:avLst/>
          </a:prstGeom>
          <a:noFill/>
          <a:ln/>
        </p:spPr>
        <p:txBody>
          <a:bodyPr wrap="square" lIns="0" tIns="0" rIns="0" bIns="0" rtlCol="0" anchor="ctr"/>
          <a:lstStyle/>
          <a:p>
            <a:pPr marL="0" indent="0">
              <a:buNone/>
            </a:pPr>
            <a:r>
              <a:rPr lang="en-US" sz="1500" b="1" kern="0" spc="100" dirty="0">
                <a:solidFill>
                  <a:srgbClr val="F2A63B"/>
                </a:solidFill>
                <a:latin typeface="맑은 고딕" pitchFamily="34" charset="0"/>
                <a:ea typeface="맑은 고딕" pitchFamily="34" charset="-122"/>
                <a:cs typeface="맑은 고딕" pitchFamily="34" charset="-120"/>
              </a:rPr>
              <a:t>도로교통법 제27조 · 보행자 보호의무</a:t>
            </a:r>
            <a:endParaRPr lang="en-US" sz="1500" dirty="0"/>
          </a:p>
        </p:txBody>
      </p:sp>
      <p:sp>
        <p:nvSpPr>
          <p:cNvPr id="14" name="Text 12"/>
          <p:cNvSpPr txBox="1"/>
          <p:nvPr/>
        </p:nvSpPr>
        <p:spPr>
          <a:xfrm>
            <a:off x="822960" y="2057400"/>
            <a:ext cx="9601200" cy="1828800"/>
          </a:xfrm>
          <a:prstGeom prst="rect">
            <a:avLst/>
          </a:prstGeom>
          <a:noFill/>
          <a:ln/>
        </p:spPr>
        <p:txBody>
          <a:bodyPr wrap="square" lIns="0" tIns="0" rIns="0" bIns="0" rtlCol="0" anchor="ctr"/>
          <a:lstStyle/>
          <a:p>
            <a:pPr marL="0" indent="0">
              <a:lnSpc>
                <a:spcPts val="5600"/>
              </a:lnSpc>
              <a:buNone/>
            </a:pPr>
            <a:r>
              <a:rPr lang="en-US" sz="4600" b="1" dirty="0">
                <a:solidFill>
                  <a:srgbClr val="FFFFFF"/>
                </a:solidFill>
                <a:latin typeface="맑은 고딕" pitchFamily="34" charset="0"/>
                <a:ea typeface="맑은 고딕" pitchFamily="34" charset="-122"/>
                <a:cs typeface="맑은 고딕" pitchFamily="34" charset="-120"/>
              </a:rPr>
              <a:t>비신호 횡단보도</a:t>
            </a:r>
            <a:endParaRPr lang="en-US" sz="4600" dirty="0"/>
          </a:p>
          <a:p>
            <a:pPr marL="0" indent="0">
              <a:lnSpc>
                <a:spcPts val="5600"/>
              </a:lnSpc>
              <a:buNone/>
            </a:pPr>
            <a:r>
              <a:rPr lang="en-US" sz="4600" b="1" dirty="0">
                <a:solidFill>
                  <a:srgbClr val="FFFFFF"/>
                </a:solidFill>
                <a:latin typeface="맑은 고딕" pitchFamily="34" charset="0"/>
                <a:ea typeface="맑은 고딕" pitchFamily="34" charset="-122"/>
                <a:cs typeface="맑은 고딕" pitchFamily="34" charset="-120"/>
              </a:rPr>
              <a:t>위반 감지 시스템</a:t>
            </a:r>
            <a:endParaRPr lang="en-US" sz="4600" dirty="0"/>
          </a:p>
        </p:txBody>
      </p:sp>
      <p:sp>
        <p:nvSpPr>
          <p:cNvPr id="15" name="Text 13"/>
          <p:cNvSpPr txBox="1"/>
          <p:nvPr/>
        </p:nvSpPr>
        <p:spPr>
          <a:xfrm>
            <a:off x="822960" y="3950208"/>
            <a:ext cx="9692640" cy="731520"/>
          </a:xfrm>
          <a:prstGeom prst="rect">
            <a:avLst/>
          </a:prstGeom>
          <a:noFill/>
          <a:ln/>
        </p:spPr>
        <p:txBody>
          <a:bodyPr wrap="square" lIns="0" tIns="0" rIns="0" bIns="0" rtlCol="0" anchor="ctr"/>
          <a:lstStyle/>
          <a:p>
            <a:pPr marL="0" indent="0">
              <a:lnSpc>
                <a:spcPts val="2400"/>
              </a:lnSpc>
              <a:buNone/>
            </a:pPr>
            <a:r>
              <a:rPr lang="en-US" sz="1450" dirty="0">
                <a:solidFill>
                  <a:srgbClr val="C3CBD8"/>
                </a:solidFill>
                <a:latin typeface="맑은 고딕" pitchFamily="34" charset="0"/>
                <a:ea typeface="맑은 고딕" pitchFamily="34" charset="-122"/>
                <a:cs typeface="맑은 고딕" pitchFamily="34" charset="-120"/>
              </a:rPr>
              <a:t>영상에서 보행자의 횡단 상황과 차량 반응을 함께 분석해 위반 의심 사건을 자동 선별하고,</a:t>
            </a:r>
            <a:endParaRPr lang="en-US" sz="1450" dirty="0"/>
          </a:p>
          <a:p>
            <a:pPr marL="0" indent="0">
              <a:lnSpc>
                <a:spcPts val="2400"/>
              </a:lnSpc>
              <a:buNone/>
            </a:pPr>
            <a:r>
              <a:rPr lang="en-US" sz="1450" dirty="0">
                <a:solidFill>
                  <a:srgbClr val="C3CBD8"/>
                </a:solidFill>
                <a:latin typeface="맑은 고딕" pitchFamily="34" charset="0"/>
                <a:ea typeface="맑은 고딕" pitchFamily="34" charset="-122"/>
                <a:cs typeface="맑은 고딕" pitchFamily="34" charset="-120"/>
              </a:rPr>
              <a:t>담당자가 판단할 수 있도록 전후 영상과 판단 근거를 함께 제공한다.</a:t>
            </a:r>
            <a:endParaRPr lang="en-US" sz="1450" dirty="0"/>
          </a:p>
        </p:txBody>
      </p:sp>
      <p:sp>
        <p:nvSpPr>
          <p:cNvPr id="16" name="Shape 14"/>
          <p:cNvSpPr/>
          <p:nvPr/>
        </p:nvSpPr>
        <p:spPr>
          <a:xfrm>
            <a:off x="822960" y="4892040"/>
            <a:ext cx="1371600" cy="27432"/>
          </a:xfrm>
          <a:prstGeom prst="rect">
            <a:avLst/>
          </a:prstGeom>
          <a:solidFill>
            <a:srgbClr val="F2A63B"/>
          </a:solidFill>
          <a:ln/>
        </p:spPr>
      </p:sp>
      <p:sp>
        <p:nvSpPr>
          <p:cNvPr id="17" name="Text 15"/>
          <p:cNvSpPr txBox="1"/>
          <p:nvPr/>
        </p:nvSpPr>
        <p:spPr>
          <a:xfrm>
            <a:off x="822960" y="5102352"/>
            <a:ext cx="7315200" cy="320040"/>
          </a:xfrm>
          <a:prstGeom prst="rect">
            <a:avLst/>
          </a:prstGeom>
          <a:noFill/>
          <a:ln/>
        </p:spPr>
        <p:txBody>
          <a:bodyPr wrap="square" lIns="0" tIns="0" rIns="0" bIns="0" rtlCol="0" anchor="ctr"/>
          <a:lstStyle/>
          <a:p>
            <a:pPr marL="0" indent="0">
              <a:buNone/>
            </a:pPr>
            <a:r>
              <a:rPr lang="en-US" sz="1600" b="1" dirty="0">
                <a:solidFill>
                  <a:srgbClr val="FFFFFF"/>
                </a:solidFill>
                <a:latin typeface="맑은 고딕" pitchFamily="34" charset="0"/>
                <a:ea typeface="맑은 고딕" pitchFamily="34" charset="-122"/>
                <a:cs typeface="맑은 고딕" pitchFamily="34" charset="-120"/>
              </a:rPr>
              <a:t>1팀  ·  심보영, 김건하, 양세윤, 조성률, 차민규</a:t>
            </a:r>
            <a:endParaRPr lang="en-US" sz="1600" dirty="0"/>
          </a:p>
        </p:txBody>
      </p:sp>
      <p:sp>
        <p:nvSpPr>
          <p:cNvPr id="18" name="Text 16"/>
          <p:cNvSpPr txBox="1"/>
          <p:nvPr/>
        </p:nvSpPr>
        <p:spPr>
          <a:xfrm>
            <a:off x="822960" y="5449824"/>
            <a:ext cx="7315200" cy="292608"/>
          </a:xfrm>
          <a:prstGeom prst="rect">
            <a:avLst/>
          </a:prstGeom>
          <a:noFill/>
          <a:ln/>
        </p:spPr>
        <p:txBody>
          <a:bodyPr wrap="square" lIns="0" tIns="0" rIns="0" bIns="0" rtlCol="0" anchor="ctr"/>
          <a:lstStyle/>
          <a:p>
            <a:pPr marL="0" indent="0">
              <a:buNone/>
            </a:pPr>
            <a:r>
              <a:rPr lang="en-US" sz="1250" dirty="0">
                <a:solidFill>
                  <a:srgbClr val="9AA6B8"/>
                </a:solidFill>
                <a:latin typeface="맑은 고딕" pitchFamily="34" charset="0"/>
                <a:ea typeface="맑은 고딕" pitchFamily="34" charset="-122"/>
                <a:cs typeface="맑은 고딕" pitchFamily="34" charset="-120"/>
              </a:rPr>
              <a:t>경기 AI 멤버십 채용연계형 교육   |   2026. 09. 04 ~ 09. 07</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F2A63B"/>
          </a:solidFill>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marL="0" indent="0" algn="ctr">
              <a:buNone/>
            </a:pPr>
            <a:r>
              <a:rPr lang="en-US" sz="1800" b="1" dirty="0">
                <a:solidFill>
                  <a:srgbClr val="14213D"/>
                </a:solidFill>
                <a:latin typeface="맑은 고딕" pitchFamily="34" charset="0"/>
                <a:ea typeface="맑은 고딕" pitchFamily="34" charset="-122"/>
                <a:cs typeface="맑은 고딕" pitchFamily="34" charset="-120"/>
              </a:rPr>
              <a:t>1</a:t>
            </a:r>
            <a:endParaRPr lang="en-US" sz="1800" dirty="0"/>
          </a:p>
        </p:txBody>
      </p:sp>
      <p:sp>
        <p:nvSpPr>
          <p:cNvPr id="4" name="Text 2"/>
          <p:cNvSpPr txBox="1"/>
          <p:nvPr/>
        </p:nvSpPr>
        <p:spPr>
          <a:xfrm>
            <a:off x="1170432" y="347472"/>
            <a:ext cx="7680960" cy="548640"/>
          </a:xfrm>
          <a:prstGeom prst="rect">
            <a:avLst/>
          </a:prstGeom>
          <a:noFill/>
          <a:ln/>
        </p:spPr>
        <p:txBody>
          <a:bodyPr wrap="square" lIns="0" tIns="0" rIns="0" bIns="0" rtlCol="0" anchor="ctr"/>
          <a:lstStyle/>
          <a:p>
            <a:pPr marL="0" indent="0" algn="l">
              <a:buNone/>
            </a:pPr>
            <a:r>
              <a:rPr lang="en-US" sz="3000" b="1">
                <a:solidFill>
                  <a:srgbClr val="14213D"/>
                </a:solidFill>
                <a:latin typeface="맑은 고딕" pitchFamily="34" charset="0"/>
                <a:ea typeface="맑은 고딕" pitchFamily="34" charset="-122"/>
                <a:cs typeface="맑은 고딕" pitchFamily="34" charset="-120"/>
              </a:rPr>
              <a:t>기획의도</a:t>
            </a:r>
            <a:endParaRPr lang="en-US" sz="3000" dirty="0"/>
          </a:p>
        </p:txBody>
      </p:sp>
      <p:sp>
        <p:nvSpPr>
          <p:cNvPr id="5" name="Text 3"/>
          <p:cNvSpPr txBox="1"/>
          <p:nvPr/>
        </p:nvSpPr>
        <p:spPr>
          <a:xfrm>
            <a:off x="1170432" y="896112"/>
            <a:ext cx="10424160" cy="310896"/>
          </a:xfrm>
          <a:prstGeom prst="rect">
            <a:avLst/>
          </a:prstGeom>
          <a:noFill/>
          <a:ln/>
        </p:spPr>
        <p:txBody>
          <a:bodyPr wrap="square" lIns="0" tIns="0" rIns="0" bIns="0" rtlCol="0" anchor="ctr"/>
          <a:lstStyle/>
          <a:p>
            <a:pPr marL="0" indent="0" algn="l">
              <a:buNone/>
            </a:pPr>
            <a:r>
              <a:rPr lang="en-US" sz="1300" dirty="0">
                <a:solidFill>
                  <a:srgbClr val="6B7280"/>
                </a:solidFill>
                <a:latin typeface="맑은 고딕" pitchFamily="34" charset="0"/>
                <a:ea typeface="맑은 고딕" pitchFamily="34" charset="-122"/>
                <a:cs typeface="맑은 고딕" pitchFamily="34" charset="-120"/>
              </a:rPr>
              <a:t>왜 이 주제를 선택했는가</a:t>
            </a:r>
            <a:endParaRPr lang="en-US" sz="1300" dirty="0"/>
          </a:p>
        </p:txBody>
      </p:sp>
      <p:sp>
        <p:nvSpPr>
          <p:cNvPr id="9" name="Shape 7"/>
          <p:cNvSpPr/>
          <p:nvPr/>
        </p:nvSpPr>
        <p:spPr>
          <a:xfrm>
            <a:off x="4325112" y="1417320"/>
            <a:ext cx="7315200" cy="1234440"/>
          </a:xfrm>
          <a:prstGeom prst="roundRect">
            <a:avLst>
              <a:gd name="adj" fmla="val 5926"/>
            </a:avLst>
          </a:prstGeom>
          <a:solidFill>
            <a:srgbClr val="14213D"/>
          </a:solidFill>
          <a:ln w="12700">
            <a:solidFill>
              <a:srgbClr val="14213D"/>
            </a:solidFill>
            <a:prstDash val="solid"/>
          </a:ln>
        </p:spPr>
      </p:sp>
      <p:sp>
        <p:nvSpPr>
          <p:cNvPr id="10" name="Text 8"/>
          <p:cNvSpPr txBox="1"/>
          <p:nvPr/>
        </p:nvSpPr>
        <p:spPr>
          <a:xfrm>
            <a:off x="4572000" y="1554480"/>
            <a:ext cx="6858000" cy="292608"/>
          </a:xfrm>
          <a:prstGeom prst="rect">
            <a:avLst/>
          </a:prstGeom>
          <a:noFill/>
          <a:ln/>
        </p:spPr>
        <p:txBody>
          <a:bodyPr wrap="square" lIns="0" tIns="0" rIns="0" bIns="0" rtlCol="0" anchor="ctr"/>
          <a:lstStyle/>
          <a:p>
            <a:pPr marL="0" indent="0">
              <a:buNone/>
            </a:pPr>
            <a:r>
              <a:rPr lang="en-US" sz="1250" b="1" dirty="0">
                <a:solidFill>
                  <a:srgbClr val="F2A63B"/>
                </a:solidFill>
                <a:latin typeface="맑은 고딕" pitchFamily="34" charset="0"/>
                <a:ea typeface="맑은 고딕" pitchFamily="34" charset="-122"/>
                <a:cs typeface="맑은 고딕" pitchFamily="34" charset="-120"/>
              </a:rPr>
              <a:t>도로교통법 제27조 제1항</a:t>
            </a:r>
            <a:endParaRPr lang="en-US" sz="1250" dirty="0"/>
          </a:p>
        </p:txBody>
      </p:sp>
      <p:sp>
        <p:nvSpPr>
          <p:cNvPr id="11" name="Text 9"/>
          <p:cNvSpPr txBox="1"/>
          <p:nvPr/>
        </p:nvSpPr>
        <p:spPr>
          <a:xfrm>
            <a:off x="4572000" y="1883664"/>
            <a:ext cx="6858000" cy="658368"/>
          </a:xfrm>
          <a:prstGeom prst="rect">
            <a:avLst/>
          </a:prstGeom>
          <a:noFill/>
          <a:ln/>
        </p:spPr>
        <p:txBody>
          <a:bodyPr wrap="square" lIns="0" tIns="0" rIns="0" bIns="0" rtlCol="0" anchor="ctr"/>
          <a:lstStyle/>
          <a:p>
            <a:pPr marL="0" indent="0">
              <a:lnSpc>
                <a:spcPts val="2200"/>
              </a:lnSpc>
              <a:buNone/>
            </a:pPr>
            <a:r>
              <a:rPr lang="en-US" sz="1400" b="1" dirty="0">
                <a:solidFill>
                  <a:srgbClr val="FFFFFF"/>
                </a:solidFill>
                <a:latin typeface="맑은 고딕" pitchFamily="34" charset="0"/>
                <a:ea typeface="맑은 고딕" pitchFamily="34" charset="-122"/>
                <a:cs typeface="맑은 고딕" pitchFamily="34" charset="-120"/>
              </a:rPr>
              <a:t>보행자가 횡단 중이거나 횡단하려는 때, 차량은 횡단보도 또는 정지선 앞에서 일시정지하여야 한다.</a:t>
            </a:r>
            <a:endParaRPr lang="en-US" sz="1400" dirty="0"/>
          </a:p>
        </p:txBody>
      </p:sp>
      <p:sp>
        <p:nvSpPr>
          <p:cNvPr id="12" name="Shape 10"/>
          <p:cNvSpPr/>
          <p:nvPr/>
        </p:nvSpPr>
        <p:spPr>
          <a:xfrm>
            <a:off x="548640" y="2880360"/>
            <a:ext cx="3520440" cy="2331720"/>
          </a:xfrm>
          <a:prstGeom prst="roundRect">
            <a:avLst>
              <a:gd name="adj" fmla="val 3137"/>
            </a:avLst>
          </a:prstGeom>
          <a:solidFill>
            <a:srgbClr val="FFFFFF"/>
          </a:solidFill>
          <a:ln w="12700">
            <a:solidFill>
              <a:srgbClr val="DDE1E7"/>
            </a:solidFill>
            <a:prstDash val="solid"/>
          </a:ln>
        </p:spPr>
      </p:sp>
      <p:sp>
        <p:nvSpPr>
          <p:cNvPr id="13" name="Shape 11"/>
          <p:cNvSpPr/>
          <p:nvPr/>
        </p:nvSpPr>
        <p:spPr>
          <a:xfrm>
            <a:off x="841248" y="3154680"/>
            <a:ext cx="402336" cy="402336"/>
          </a:xfrm>
          <a:prstGeom prst="ellipse">
            <a:avLst/>
          </a:prstGeom>
          <a:solidFill>
            <a:srgbClr val="14213D"/>
          </a:solidFill>
          <a:ln/>
        </p:spPr>
      </p:sp>
      <p:sp>
        <p:nvSpPr>
          <p:cNvPr id="14" name="Text 12"/>
          <p:cNvSpPr txBox="1"/>
          <p:nvPr/>
        </p:nvSpPr>
        <p:spPr>
          <a:xfrm>
            <a:off x="841248" y="3154680"/>
            <a:ext cx="402336" cy="402336"/>
          </a:xfrm>
          <a:prstGeom prst="rect">
            <a:avLst/>
          </a:prstGeom>
          <a:noFill/>
          <a:ln/>
        </p:spPr>
        <p:txBody>
          <a:bodyPr wrap="square" lIns="0" tIns="0" rIns="0" bIns="0" rtlCol="0" anchor="ctr"/>
          <a:lstStyle/>
          <a:p>
            <a:pPr marL="0" indent="0" algn="ctr">
              <a:buNone/>
            </a:pPr>
            <a:r>
              <a:rPr lang="en-US" sz="1500" b="1" dirty="0">
                <a:solidFill>
                  <a:srgbClr val="F2A63B"/>
                </a:solidFill>
                <a:latin typeface="맑은 고딕" pitchFamily="34" charset="0"/>
                <a:ea typeface="맑은 고딕" pitchFamily="34" charset="-122"/>
                <a:cs typeface="맑은 고딕" pitchFamily="34" charset="-120"/>
              </a:rPr>
              <a:t>1</a:t>
            </a:r>
            <a:endParaRPr lang="en-US" sz="1500" dirty="0"/>
          </a:p>
        </p:txBody>
      </p:sp>
      <p:sp>
        <p:nvSpPr>
          <p:cNvPr id="15" name="Text 13"/>
          <p:cNvSpPr txBox="1"/>
          <p:nvPr/>
        </p:nvSpPr>
        <p:spPr>
          <a:xfrm>
            <a:off x="841248" y="3730752"/>
            <a:ext cx="2971800" cy="384048"/>
          </a:xfrm>
          <a:prstGeom prst="rect">
            <a:avLst/>
          </a:prstGeom>
          <a:noFill/>
          <a:ln/>
        </p:spPr>
        <p:txBody>
          <a:bodyPr wrap="square" lIns="0" tIns="0" rIns="0" bIns="0" rtlCol="0" anchor="ctr"/>
          <a:lstStyle/>
          <a:p>
            <a:pPr marL="0" indent="0">
              <a:buNone/>
            </a:pPr>
            <a:r>
              <a:rPr lang="en-US" sz="1700" b="1" dirty="0">
                <a:solidFill>
                  <a:srgbClr val="14213D"/>
                </a:solidFill>
                <a:latin typeface="맑은 고딕" pitchFamily="34" charset="0"/>
                <a:ea typeface="맑은 고딕" pitchFamily="34" charset="-122"/>
                <a:cs typeface="맑은 고딕" pitchFamily="34" charset="-120"/>
              </a:rPr>
              <a:t>신호가 없다</a:t>
            </a:r>
            <a:endParaRPr lang="en-US" sz="1700" dirty="0"/>
          </a:p>
        </p:txBody>
      </p:sp>
      <p:sp>
        <p:nvSpPr>
          <p:cNvPr id="16" name="Text 14"/>
          <p:cNvSpPr txBox="1"/>
          <p:nvPr/>
        </p:nvSpPr>
        <p:spPr>
          <a:xfrm>
            <a:off x="841248" y="4187952"/>
            <a:ext cx="2971800" cy="914400"/>
          </a:xfrm>
          <a:prstGeom prst="rect">
            <a:avLst/>
          </a:prstGeom>
          <a:noFill/>
          <a:ln/>
        </p:spPr>
        <p:txBody>
          <a:bodyPr wrap="square" lIns="0" tIns="0" rIns="0" bIns="0" rtlCol="0" anchor="t"/>
          <a:lstStyle/>
          <a:p>
            <a:pPr marL="0" indent="0">
              <a:lnSpc>
                <a:spcPts val="1900"/>
              </a:lnSpc>
              <a:buNone/>
            </a:pPr>
            <a:r>
              <a:rPr lang="en-US" sz="1200" dirty="0">
                <a:solidFill>
                  <a:srgbClr val="1F2937"/>
                </a:solidFill>
                <a:latin typeface="맑은 고딕" pitchFamily="34" charset="0"/>
                <a:ea typeface="맑은 고딕" pitchFamily="34" charset="-122"/>
                <a:cs typeface="맑은 고딕" pitchFamily="34" charset="-120"/>
              </a:rPr>
              <a:t>비신호 횡단보도에는 신호등이 없어 운전자 판단에만 의존한다. 보행자가 서 있어도 그냥 지나가는 경우가 많다.</a:t>
            </a:r>
            <a:endParaRPr lang="en-US" sz="1200" dirty="0"/>
          </a:p>
        </p:txBody>
      </p:sp>
      <p:sp>
        <p:nvSpPr>
          <p:cNvPr id="17" name="Shape 15"/>
          <p:cNvSpPr/>
          <p:nvPr/>
        </p:nvSpPr>
        <p:spPr>
          <a:xfrm>
            <a:off x="4325112" y="2880360"/>
            <a:ext cx="3520440" cy="2331720"/>
          </a:xfrm>
          <a:prstGeom prst="roundRect">
            <a:avLst>
              <a:gd name="adj" fmla="val 3137"/>
            </a:avLst>
          </a:prstGeom>
          <a:solidFill>
            <a:srgbClr val="FFFFFF"/>
          </a:solidFill>
          <a:ln w="12700">
            <a:solidFill>
              <a:srgbClr val="DDE1E7"/>
            </a:solidFill>
            <a:prstDash val="solid"/>
          </a:ln>
        </p:spPr>
      </p:sp>
      <p:sp>
        <p:nvSpPr>
          <p:cNvPr id="18" name="Shape 16"/>
          <p:cNvSpPr/>
          <p:nvPr/>
        </p:nvSpPr>
        <p:spPr>
          <a:xfrm>
            <a:off x="4617720" y="3154680"/>
            <a:ext cx="402336" cy="402336"/>
          </a:xfrm>
          <a:prstGeom prst="ellipse">
            <a:avLst/>
          </a:prstGeom>
          <a:solidFill>
            <a:srgbClr val="14213D"/>
          </a:solidFill>
          <a:ln/>
        </p:spPr>
      </p:sp>
      <p:sp>
        <p:nvSpPr>
          <p:cNvPr id="19" name="Text 17"/>
          <p:cNvSpPr txBox="1"/>
          <p:nvPr/>
        </p:nvSpPr>
        <p:spPr>
          <a:xfrm>
            <a:off x="4617720" y="3154680"/>
            <a:ext cx="402336" cy="402336"/>
          </a:xfrm>
          <a:prstGeom prst="rect">
            <a:avLst/>
          </a:prstGeom>
          <a:noFill/>
          <a:ln/>
        </p:spPr>
        <p:txBody>
          <a:bodyPr wrap="square" lIns="0" tIns="0" rIns="0" bIns="0" rtlCol="0" anchor="ctr"/>
          <a:lstStyle/>
          <a:p>
            <a:pPr marL="0" indent="0" algn="ctr">
              <a:buNone/>
            </a:pPr>
            <a:r>
              <a:rPr lang="en-US" sz="1500" b="1" dirty="0">
                <a:solidFill>
                  <a:srgbClr val="F2A63B"/>
                </a:solidFill>
                <a:latin typeface="맑은 고딕" pitchFamily="34" charset="0"/>
                <a:ea typeface="맑은 고딕" pitchFamily="34" charset="-122"/>
                <a:cs typeface="맑은 고딕" pitchFamily="34" charset="-120"/>
              </a:rPr>
              <a:t>2</a:t>
            </a:r>
            <a:endParaRPr lang="en-US" sz="1500" dirty="0"/>
          </a:p>
        </p:txBody>
      </p:sp>
      <p:sp>
        <p:nvSpPr>
          <p:cNvPr id="20" name="Text 18"/>
          <p:cNvSpPr txBox="1"/>
          <p:nvPr/>
        </p:nvSpPr>
        <p:spPr>
          <a:xfrm>
            <a:off x="4617720" y="3730752"/>
            <a:ext cx="2971800" cy="384048"/>
          </a:xfrm>
          <a:prstGeom prst="rect">
            <a:avLst/>
          </a:prstGeom>
          <a:noFill/>
          <a:ln/>
        </p:spPr>
        <p:txBody>
          <a:bodyPr wrap="square" lIns="0" tIns="0" rIns="0" bIns="0" rtlCol="0" anchor="ctr"/>
          <a:lstStyle/>
          <a:p>
            <a:pPr marL="0" indent="0">
              <a:buNone/>
            </a:pPr>
            <a:r>
              <a:rPr lang="en-US" sz="1700" b="1" dirty="0">
                <a:solidFill>
                  <a:srgbClr val="14213D"/>
                </a:solidFill>
                <a:latin typeface="맑은 고딕" pitchFamily="34" charset="0"/>
                <a:ea typeface="맑은 고딕" pitchFamily="34" charset="-122"/>
                <a:cs typeface="맑은 고딕" pitchFamily="34" charset="-120"/>
              </a:rPr>
              <a:t>기존 단속으로 못 잡는다</a:t>
            </a:r>
            <a:endParaRPr lang="en-US" sz="1700" dirty="0"/>
          </a:p>
        </p:txBody>
      </p:sp>
      <p:sp>
        <p:nvSpPr>
          <p:cNvPr id="21" name="Text 19"/>
          <p:cNvSpPr txBox="1"/>
          <p:nvPr/>
        </p:nvSpPr>
        <p:spPr>
          <a:xfrm>
            <a:off x="4617720" y="4187952"/>
            <a:ext cx="2971800" cy="914400"/>
          </a:xfrm>
          <a:prstGeom prst="rect">
            <a:avLst/>
          </a:prstGeom>
          <a:noFill/>
          <a:ln/>
        </p:spPr>
        <p:txBody>
          <a:bodyPr wrap="square" lIns="0" tIns="0" rIns="0" bIns="0" rtlCol="0" anchor="t"/>
          <a:lstStyle/>
          <a:p>
            <a:pPr marL="0" indent="0">
              <a:lnSpc>
                <a:spcPts val="1900"/>
              </a:lnSpc>
              <a:buNone/>
            </a:pPr>
            <a:r>
              <a:rPr lang="en-US" sz="1200" dirty="0">
                <a:solidFill>
                  <a:srgbClr val="1F2937"/>
                </a:solidFill>
                <a:latin typeface="맑은 고딕" pitchFamily="34" charset="0"/>
                <a:ea typeface="맑은 고딕" pitchFamily="34" charset="-122"/>
                <a:cs typeface="맑은 고딕" pitchFamily="34" charset="-120"/>
              </a:rPr>
              <a:t>제27조 위반은 '보행자가 있었는가'와 '차량이 멈췄는가'를 동시에 봐야 해, 속도·신호만 보는 기존 카메라로는 판단 자체가 불가능하다.</a:t>
            </a:r>
            <a:endParaRPr lang="en-US" sz="1200" dirty="0"/>
          </a:p>
        </p:txBody>
      </p:sp>
      <p:sp>
        <p:nvSpPr>
          <p:cNvPr id="22" name="Shape 20"/>
          <p:cNvSpPr/>
          <p:nvPr/>
        </p:nvSpPr>
        <p:spPr>
          <a:xfrm>
            <a:off x="8101584" y="2880360"/>
            <a:ext cx="3520440" cy="2331720"/>
          </a:xfrm>
          <a:prstGeom prst="roundRect">
            <a:avLst>
              <a:gd name="adj" fmla="val 3137"/>
            </a:avLst>
          </a:prstGeom>
          <a:solidFill>
            <a:srgbClr val="FFFFFF"/>
          </a:solidFill>
          <a:ln w="12700">
            <a:solidFill>
              <a:srgbClr val="DDE1E7"/>
            </a:solidFill>
            <a:prstDash val="solid"/>
          </a:ln>
        </p:spPr>
      </p:sp>
      <p:sp>
        <p:nvSpPr>
          <p:cNvPr id="23" name="Shape 21"/>
          <p:cNvSpPr/>
          <p:nvPr/>
        </p:nvSpPr>
        <p:spPr>
          <a:xfrm>
            <a:off x="8394192" y="3154680"/>
            <a:ext cx="402336" cy="402336"/>
          </a:xfrm>
          <a:prstGeom prst="ellipse">
            <a:avLst/>
          </a:prstGeom>
          <a:solidFill>
            <a:srgbClr val="14213D"/>
          </a:solidFill>
          <a:ln/>
        </p:spPr>
      </p:sp>
      <p:sp>
        <p:nvSpPr>
          <p:cNvPr id="24" name="Text 22"/>
          <p:cNvSpPr txBox="1"/>
          <p:nvPr/>
        </p:nvSpPr>
        <p:spPr>
          <a:xfrm>
            <a:off x="8394192" y="3154680"/>
            <a:ext cx="402336" cy="402336"/>
          </a:xfrm>
          <a:prstGeom prst="rect">
            <a:avLst/>
          </a:prstGeom>
          <a:noFill/>
          <a:ln/>
        </p:spPr>
        <p:txBody>
          <a:bodyPr wrap="square" lIns="0" tIns="0" rIns="0" bIns="0" rtlCol="0" anchor="ctr"/>
          <a:lstStyle/>
          <a:p>
            <a:pPr marL="0" indent="0" algn="ctr">
              <a:buNone/>
            </a:pPr>
            <a:r>
              <a:rPr lang="en-US" sz="1500" b="1" dirty="0">
                <a:solidFill>
                  <a:srgbClr val="F2A63B"/>
                </a:solidFill>
                <a:latin typeface="맑은 고딕" pitchFamily="34" charset="0"/>
                <a:ea typeface="맑은 고딕" pitchFamily="34" charset="-122"/>
                <a:cs typeface="맑은 고딕" pitchFamily="34" charset="-120"/>
              </a:rPr>
              <a:t>3</a:t>
            </a:r>
            <a:endParaRPr lang="en-US" sz="1500" dirty="0"/>
          </a:p>
        </p:txBody>
      </p:sp>
      <p:sp>
        <p:nvSpPr>
          <p:cNvPr id="25" name="Text 23"/>
          <p:cNvSpPr txBox="1"/>
          <p:nvPr/>
        </p:nvSpPr>
        <p:spPr>
          <a:xfrm>
            <a:off x="8394192" y="3730752"/>
            <a:ext cx="2971800" cy="384048"/>
          </a:xfrm>
          <a:prstGeom prst="rect">
            <a:avLst/>
          </a:prstGeom>
          <a:noFill/>
          <a:ln/>
        </p:spPr>
        <p:txBody>
          <a:bodyPr wrap="square" lIns="0" tIns="0" rIns="0" bIns="0" rtlCol="0" anchor="ctr"/>
          <a:lstStyle/>
          <a:p>
            <a:pPr marL="0" indent="0">
              <a:buNone/>
            </a:pPr>
            <a:r>
              <a:rPr lang="en-US" sz="1700" b="1" dirty="0">
                <a:solidFill>
                  <a:srgbClr val="14213D"/>
                </a:solidFill>
                <a:latin typeface="맑은 고딕" pitchFamily="34" charset="0"/>
                <a:ea typeface="맑은 고딕" pitchFamily="34" charset="-122"/>
                <a:cs typeface="맑은 고딕" pitchFamily="34" charset="-120"/>
              </a:rPr>
              <a:t>사람이 다 볼 수 없다</a:t>
            </a:r>
            <a:endParaRPr lang="en-US" sz="1700" dirty="0"/>
          </a:p>
        </p:txBody>
      </p:sp>
      <p:sp>
        <p:nvSpPr>
          <p:cNvPr id="26" name="Text 24"/>
          <p:cNvSpPr txBox="1"/>
          <p:nvPr/>
        </p:nvSpPr>
        <p:spPr>
          <a:xfrm>
            <a:off x="8394192" y="4187952"/>
            <a:ext cx="2971800" cy="914400"/>
          </a:xfrm>
          <a:prstGeom prst="rect">
            <a:avLst/>
          </a:prstGeom>
          <a:noFill/>
          <a:ln/>
        </p:spPr>
        <p:txBody>
          <a:bodyPr wrap="square" lIns="0" tIns="0" rIns="0" bIns="0" rtlCol="0" anchor="t"/>
          <a:lstStyle/>
          <a:p>
            <a:pPr marL="0" indent="0">
              <a:lnSpc>
                <a:spcPts val="1900"/>
              </a:lnSpc>
              <a:buNone/>
            </a:pPr>
            <a:r>
              <a:rPr lang="en-US" sz="1200" dirty="0">
                <a:solidFill>
                  <a:srgbClr val="1F2937"/>
                </a:solidFill>
                <a:latin typeface="맑은 고딕" pitchFamily="34" charset="0"/>
                <a:ea typeface="맑은 고딕" pitchFamily="34" charset="-122"/>
                <a:cs typeface="맑은 고딕" pitchFamily="34" charset="-120"/>
              </a:rPr>
              <a:t>CCTV는 이미 설치되어 있지만, 위반 순간을 찾으려면 담당자가 영상 전체를 눈으로 돌려봐야 한다.</a:t>
            </a:r>
            <a:endParaRPr lang="en-US" sz="1200" dirty="0"/>
          </a:p>
        </p:txBody>
      </p:sp>
      <p:sp>
        <p:nvSpPr>
          <p:cNvPr id="27" name="Shape 25"/>
          <p:cNvSpPr/>
          <p:nvPr/>
        </p:nvSpPr>
        <p:spPr>
          <a:xfrm>
            <a:off x="548640" y="5440680"/>
            <a:ext cx="11091672" cy="868680"/>
          </a:xfrm>
          <a:prstGeom prst="roundRect">
            <a:avLst>
              <a:gd name="adj" fmla="val 8421"/>
            </a:avLst>
          </a:prstGeom>
          <a:solidFill>
            <a:srgbClr val="FDF3E3"/>
          </a:solidFill>
          <a:ln w="12700">
            <a:solidFill>
              <a:srgbClr val="F2A63B"/>
            </a:solidFill>
            <a:prstDash val="solid"/>
          </a:ln>
        </p:spPr>
      </p:sp>
      <p:sp>
        <p:nvSpPr>
          <p:cNvPr id="28" name="Text 26"/>
          <p:cNvSpPr txBox="1"/>
          <p:nvPr/>
        </p:nvSpPr>
        <p:spPr>
          <a:xfrm>
            <a:off x="868680" y="5440680"/>
            <a:ext cx="10424160" cy="868680"/>
          </a:xfrm>
          <a:prstGeom prst="rect">
            <a:avLst/>
          </a:prstGeom>
          <a:noFill/>
          <a:ln/>
        </p:spPr>
        <p:txBody>
          <a:bodyPr wrap="square" lIns="0" tIns="0" rIns="0" bIns="0" rtlCol="0" anchor="ctr"/>
          <a:lstStyle/>
          <a:p>
            <a:pPr marL="0" indent="0">
              <a:buNone/>
            </a:pPr>
            <a:r>
              <a:rPr lang="en-US" sz="1350" b="1" dirty="0">
                <a:solidFill>
                  <a:srgbClr val="14213D"/>
                </a:solidFill>
                <a:latin typeface="맑은 고딕" pitchFamily="34" charset="0"/>
                <a:ea typeface="맑은 고딕" pitchFamily="34" charset="-122"/>
                <a:cs typeface="맑은 고딕" pitchFamily="34" charset="-120"/>
              </a:rPr>
              <a:t>핵심 타겟: 경찰 교통부서 및 지자체 교통안전 담당자  —  모델이 위반을 확정하지 않고, 담당자의 검토를 지원한다.</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8">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F2A63B"/>
          </a:solidFill>
          <a:ln/>
        </p:spPr>
        <p:txBody>
          <a:bodyPr/>
          <a:p/>
        </p:txBody>
      </p:sp>
      <p:sp>
        <p:nvSpPr>
          <p:cNvPr id="3" name="Text 1"/>
          <p:cNvSpPr txBox="1"/>
          <p:nvPr/>
        </p:nvSpPr>
        <p:spPr>
          <a:xfrm>
            <a:off x="548640" y="384048"/>
            <a:ext cx="475488" cy="475488"/>
          </a:xfrm>
          <a:prstGeom prst="rect">
            <a:avLst/>
          </a:prstGeom>
          <a:noFill/>
          <a:ln/>
        </p:spPr>
        <p:txBody>
          <a:bodyPr wrap="square" lIns="0" tIns="0" rIns="0" bIns="0" rtlCol="0" anchor="ctr"/>
          <a:lstStyle/>
          <a:p>
            <a:pPr marL="0" indent="0" algn="ctr">
              <a:buNone/>
            </a:pPr>
            <a:r>
              <a:rPr lang="en-US" sz="1800" b="1" dirty="0">
                <a:solidFill>
                  <a:srgbClr val="14213D"/>
                </a:solidFill>
                <a:latin typeface="맑은 고딕" pitchFamily="34" charset="0"/>
                <a:ea typeface="맑은 고딕" pitchFamily="34" charset="-122"/>
              </a:rPr>
              <a:t>2</a:t>
            </a:r>
            <a:endParaRPr lang="en-US" sz="1800" dirty="0"/>
          </a:p>
        </p:txBody>
      </p:sp>
      <p:sp>
        <p:nvSpPr>
          <p:cNvPr id="4" name="Text 2"/>
          <p:cNvSpPr txBox="1"/>
          <p:nvPr/>
        </p:nvSpPr>
        <p:spPr>
          <a:xfrm>
            <a:off x="1170432" y="347472"/>
            <a:ext cx="7680960" cy="548640"/>
          </a:xfrm>
          <a:prstGeom prst="rect">
            <a:avLst/>
          </a:prstGeom>
          <a:noFill/>
          <a:ln/>
        </p:spPr>
        <p:txBody>
          <a:bodyPr wrap="square" lIns="0" tIns="0" rIns="0" bIns="0" rtlCol="0" anchor="ctr"/>
          <a:lstStyle/>
          <a:p>
            <a:pPr marL="0" indent="0" algn="l">
              <a:buNone/>
            </a:pPr>
            <a:r>
              <a:rPr lang="en-US" sz="3000" b="1" dirty="0">
                <a:solidFill>
                  <a:srgbClr val="14213D"/>
                </a:solidFill>
                <a:latin typeface="맑은 고딕" pitchFamily="34" charset="0"/>
                <a:ea typeface="맑은 고딕" pitchFamily="34" charset="-122"/>
                <a:cs typeface="맑은 고딕" pitchFamily="34" charset="-120"/>
              </a:rPr>
              <a:t>활용 장비 및 핵심 기술</a:t>
            </a:r>
            <a:endParaRPr lang="en-US" sz="3000" dirty="0"/>
          </a:p>
        </p:txBody>
      </p:sp>
      <p:sp>
        <p:nvSpPr>
          <p:cNvPr id="5" name="Text 3"/>
          <p:cNvSpPr txBox="1"/>
          <p:nvPr/>
        </p:nvSpPr>
        <p:spPr>
          <a:xfrm>
            <a:off x="1170432" y="896112"/>
            <a:ext cx="10424160" cy="310896"/>
          </a:xfrm>
          <a:prstGeom prst="rect">
            <a:avLst/>
          </a:prstGeom>
          <a:noFill/>
          <a:ln/>
        </p:spPr>
        <p:txBody>
          <a:bodyPr wrap="square" lIns="0" tIns="0" rIns="0" bIns="0" rtlCol="0" anchor="ctr"/>
          <a:lstStyle/>
          <a:p>
            <a:pPr marL="0" indent="0" algn="l">
              <a:buNone/>
            </a:pPr>
            <a:r>
              <a:rPr lang="en-US" sz="1300" dirty="0">
                <a:solidFill>
                  <a:srgbClr val="6B7280"/>
                </a:solidFill>
                <a:latin typeface="맑은 고딕" pitchFamily="34" charset="0"/>
                <a:ea typeface="맑은 고딕" pitchFamily="34" charset="-122"/>
                <a:cs typeface="맑은 고딕" pitchFamily="34" charset="-120"/>
              </a:rPr>
              <a:t>개발 환경과 기술 스택</a:t>
            </a:r>
            <a:endParaRPr lang="en-US" sz="1300" dirty="0"/>
          </a:p>
        </p:txBody>
      </p:sp>
      <p:sp>
        <p:nvSpPr>
          <p:cNvPr id="6" name="Shape 4"/>
          <p:cNvSpPr/>
          <p:nvPr/>
        </p:nvSpPr>
        <p:spPr>
          <a:xfrm>
            <a:off x="548640" y="1554480"/>
            <a:ext cx="5440680" cy="2194560"/>
          </a:xfrm>
          <a:prstGeom prst="roundRect">
            <a:avLst>
              <a:gd name="adj" fmla="val 3333"/>
            </a:avLst>
          </a:prstGeom>
          <a:solidFill>
            <a:srgbClr val="FFFFFF"/>
          </a:solidFill>
          <a:ln w="12700">
            <a:solidFill>
              <a:srgbClr val="DDE1E7"/>
            </a:solidFill>
            <a:prstDash val="solid"/>
          </a:ln>
        </p:spPr>
        <p:txBody>
          <a:bodyPr/>
          <a:p/>
        </p:txBody>
      </p:sp>
      <p:sp>
        <p:nvSpPr>
          <p:cNvPr id="7" name="Shape 5"/>
          <p:cNvSpPr/>
          <p:nvPr/>
        </p:nvSpPr>
        <p:spPr>
          <a:xfrm>
            <a:off x="804672" y="1792224"/>
            <a:ext cx="329184" cy="329184"/>
          </a:xfrm>
          <a:prstGeom prst="ellipse">
            <a:avLst/>
          </a:prstGeom>
          <a:solidFill>
            <a:srgbClr val="14213D"/>
          </a:solidFill>
          <a:ln/>
        </p:spPr>
        <p:txBody>
          <a:bodyPr/>
          <a:p/>
        </p:txBody>
      </p:sp>
      <p:sp>
        <p:nvSpPr>
          <p:cNvPr id="8" name="Text 6"/>
          <p:cNvSpPr txBox="1"/>
          <p:nvPr/>
        </p:nvSpPr>
        <p:spPr>
          <a:xfrm>
            <a:off x="1261872" y="1755648"/>
            <a:ext cx="4389120" cy="402336"/>
          </a:xfrm>
          <a:prstGeom prst="rect">
            <a:avLst/>
          </a:prstGeom>
          <a:noFill/>
          <a:ln/>
        </p:spPr>
        <p:txBody>
          <a:bodyPr wrap="square" lIns="0" tIns="0" rIns="0" bIns="0" rtlCol="0" anchor="ctr"/>
          <a:lstStyle/>
          <a:p>
            <a:pPr marL="0" indent="0">
              <a:buNone/>
            </a:pPr>
            <a:r>
              <a:rPr lang="en-US" sz="1600" b="1" dirty="0">
                <a:solidFill>
                  <a:srgbClr val="14213D"/>
                </a:solidFill>
                <a:latin typeface="맑은 고딕" pitchFamily="34" charset="0"/>
                <a:ea typeface="맑은 고딕" pitchFamily="34" charset="-122"/>
                <a:cs typeface="맑은 고딕" pitchFamily="34" charset="-120"/>
              </a:rPr>
              <a:t>개발 환경</a:t>
            </a:r>
            <a:endParaRPr lang="en-US" sz="1600" dirty="0"/>
          </a:p>
        </p:txBody>
      </p:sp>
      <p:sp>
        <p:nvSpPr>
          <p:cNvPr id="9" name="Text 7"/>
          <p:cNvSpPr txBox="1"/>
          <p:nvPr/>
        </p:nvSpPr>
        <p:spPr>
          <a:xfrm>
            <a:off x="1005840" y="2331720"/>
            <a:ext cx="4709160" cy="1325880"/>
          </a:xfrm>
          <a:prstGeom prst="rect">
            <a:avLst/>
          </a:prstGeom>
          <a:noFill/>
          <a:ln/>
        </p:spPr>
        <p:txBody>
          <a:bodyPr wrap="square" lIns="0" tIns="0" rIns="0" bIns="0" rtlCol="0" anchor="t"/>
          <a:lstStyle/>
          <a:p>
            <a:pPr marL="342900" indent="-342900">
              <a:lnSpc>
                <a:spcPts val="1800"/>
              </a:lnSpc>
              <a:spcAft>
                <a:spcPts val="500"/>
              </a:spcAft>
              <a:buSzPct val="100000"/>
              <a:buChar char="•"/>
            </a:pPr>
            <a:r>
              <a:rPr lang="en-US" sz="1200" dirty="0">
                <a:solidFill>
                  <a:srgbClr val="1F2937"/>
                </a:solidFill>
                <a:latin typeface="맑은 고딕" pitchFamily="34" charset="0"/>
                <a:ea typeface="맑은 고딕" pitchFamily="34" charset="-122"/>
                <a:cs typeface="맑은 고딕" pitchFamily="34" charset="-120"/>
              </a:rPr>
              <a:t>WSL2 Ubuntu 24.04</a:t>
            </a:r>
            <a:endParaRPr lang="en-US" sz="1200" dirty="0"/>
          </a:p>
          <a:p>
            <a:pPr marL="342900" indent="-342900">
              <a:lnSpc>
                <a:spcPts val="1800"/>
              </a:lnSpc>
              <a:spcAft>
                <a:spcPts val="500"/>
              </a:spcAft>
              <a:buSzPct val="100000"/>
              <a:buChar char="•"/>
            </a:pPr>
            <a:r>
              <a:rPr lang="en-US" sz="1200" dirty="0">
                <a:solidFill>
                  <a:srgbClr val="1F2937"/>
                </a:solidFill>
                <a:latin typeface="맑은 고딕" pitchFamily="34" charset="0"/>
                <a:ea typeface="맑은 고딕" pitchFamily="34" charset="-122"/>
                <a:cs typeface="맑은 고딕" pitchFamily="34" charset="-120"/>
              </a:rPr>
              <a:t>NVIDIA RTX 4060 (GPU 가속)</a:t>
            </a:r>
            <a:endParaRPr lang="en-US" sz="1200" dirty="0"/>
          </a:p>
          <a:p>
            <a:pPr marL="342900" indent="-342900">
              <a:lnSpc>
                <a:spcPts val="1800"/>
              </a:lnSpc>
              <a:spcAft>
                <a:spcPts val="500"/>
              </a:spcAft>
              <a:buSzPct val="100000"/>
              <a:buChar char="•"/>
            </a:pPr>
            <a:r>
              <a:rPr lang="en-US" sz="1200" dirty="0">
                <a:solidFill>
                  <a:srgbClr val="1F2937"/>
                </a:solidFill>
                <a:latin typeface="맑은 고딕" pitchFamily="34" charset="0"/>
                <a:ea typeface="맑은 고딕" pitchFamily="34" charset="-122"/>
                <a:cs typeface="맑은 고딕" pitchFamily="34" charset="-120"/>
              </a:rPr>
              <a:t>Python 3.12 · uv 패키지 관리</a:t>
            </a:r>
            <a:endParaRPr lang="en-US" sz="1200" dirty="0"/>
          </a:p>
          <a:p>
            <a:pPr marL="342900" indent="-342900">
              <a:lnSpc>
                <a:spcPts val="1800"/>
              </a:lnSpc>
              <a:spcAft>
                <a:spcPts val="500"/>
              </a:spcAft>
              <a:buSzPct val="100000"/>
              <a:buChar char="•"/>
            </a:pPr>
            <a:r>
              <a:rPr lang="en-US" sz="1200" dirty="0">
                <a:solidFill>
                  <a:srgbClr val="1F2937"/>
                </a:solidFill>
                <a:latin typeface="맑은 고딕" pitchFamily="34" charset="0"/>
                <a:ea typeface="맑은 고딕" pitchFamily="34" charset="-122"/>
                <a:cs typeface="맑은 고딕" pitchFamily="34" charset="-120"/>
              </a:rPr>
              <a:t>VS Code · Git / GitHub</a:t>
            </a:r>
            <a:endParaRPr lang="en-US" sz="1200" dirty="0"/>
          </a:p>
        </p:txBody>
      </p:sp>
      <p:sp>
        <p:nvSpPr>
          <p:cNvPr id="10" name="Shape 8"/>
          <p:cNvSpPr/>
          <p:nvPr/>
        </p:nvSpPr>
        <p:spPr>
          <a:xfrm>
            <a:off x="6199632" y="1554480"/>
            <a:ext cx="5440680" cy="2194560"/>
          </a:xfrm>
          <a:prstGeom prst="roundRect">
            <a:avLst>
              <a:gd name="adj" fmla="val 3333"/>
            </a:avLst>
          </a:prstGeom>
          <a:solidFill>
            <a:srgbClr val="FFFFFF"/>
          </a:solidFill>
          <a:ln w="12700">
            <a:solidFill>
              <a:srgbClr val="DDE1E7"/>
            </a:solidFill>
            <a:prstDash val="solid"/>
          </a:ln>
        </p:spPr>
        <p:txBody>
          <a:bodyPr/>
          <a:p/>
        </p:txBody>
      </p:sp>
      <p:sp>
        <p:nvSpPr>
          <p:cNvPr id="11" name="Shape 9"/>
          <p:cNvSpPr/>
          <p:nvPr/>
        </p:nvSpPr>
        <p:spPr>
          <a:xfrm>
            <a:off x="6455664" y="1792224"/>
            <a:ext cx="329184" cy="329184"/>
          </a:xfrm>
          <a:prstGeom prst="ellipse">
            <a:avLst/>
          </a:prstGeom>
          <a:solidFill>
            <a:srgbClr val="F2A63B"/>
          </a:solidFill>
          <a:ln/>
        </p:spPr>
        <p:txBody>
          <a:bodyPr/>
          <a:p/>
        </p:txBody>
      </p:sp>
      <p:sp>
        <p:nvSpPr>
          <p:cNvPr id="12" name="Text 10"/>
          <p:cNvSpPr txBox="1"/>
          <p:nvPr/>
        </p:nvSpPr>
        <p:spPr>
          <a:xfrm>
            <a:off x="6912864" y="1755648"/>
            <a:ext cx="4389120" cy="402336"/>
          </a:xfrm>
          <a:prstGeom prst="rect">
            <a:avLst/>
          </a:prstGeom>
          <a:noFill/>
          <a:ln/>
        </p:spPr>
        <p:txBody>
          <a:bodyPr wrap="square" lIns="0" tIns="0" rIns="0" bIns="0" rtlCol="0" anchor="ctr"/>
          <a:lstStyle/>
          <a:p>
            <a:pPr marL="0" indent="0">
              <a:buNone/>
            </a:pPr>
            <a:r>
              <a:rPr lang="en-US" sz="1600" b="1" dirty="0">
                <a:solidFill>
                  <a:srgbClr val="14213D"/>
                </a:solidFill>
                <a:latin typeface="맑은 고딕" pitchFamily="34" charset="0"/>
                <a:ea typeface="맑은 고딕" pitchFamily="34" charset="-122"/>
                <a:cs typeface="맑은 고딕" pitchFamily="34" charset="-120"/>
              </a:rPr>
              <a:t>검출 · 추적</a:t>
            </a:r>
            <a:endParaRPr lang="en-US" sz="1600" dirty="0"/>
          </a:p>
        </p:txBody>
      </p:sp>
      <p:sp>
        <p:nvSpPr>
          <p:cNvPr id="13" name="Text 11"/>
          <p:cNvSpPr txBox="1"/>
          <p:nvPr/>
        </p:nvSpPr>
        <p:spPr>
          <a:xfrm>
            <a:off x="6656832" y="2331720"/>
            <a:ext cx="4709160" cy="1325880"/>
          </a:xfrm>
          <a:prstGeom prst="rect">
            <a:avLst/>
          </a:prstGeom>
          <a:noFill/>
          <a:ln/>
        </p:spPr>
        <p:txBody>
          <a:bodyPr wrap="square" lIns="0" tIns="0" rIns="0" bIns="0" rtlCol="0" anchor="t"/>
          <a:lstStyle/>
          <a:p>
            <a:pPr marL="342900" indent="-342900">
              <a:lnSpc>
                <a:spcPts val="1800"/>
              </a:lnSpc>
              <a:spcAft>
                <a:spcPts val="500"/>
              </a:spcAft>
              <a:buSzPct val="100000"/>
              <a:buChar char="•"/>
            </a:pPr>
            <a:r>
              <a:rPr lang="en-US" sz="1200" dirty="0">
                <a:solidFill>
                  <a:srgbClr val="1F2937"/>
                </a:solidFill>
                <a:latin typeface="맑은 고딕" pitchFamily="34" charset="0"/>
                <a:ea typeface="맑은 고딕" pitchFamily="34" charset="-122"/>
                <a:cs typeface="맑은 고딕" pitchFamily="34" charset="-120"/>
              </a:rPr>
              <a:t>YOLO11m — 차량 · 보행자 검출</a:t>
            </a:r>
            <a:endParaRPr lang="en-US" sz="1200" dirty="0"/>
          </a:p>
          <a:p>
            <a:pPr marL="342900" indent="-342900">
              <a:lnSpc>
                <a:spcPts val="1800"/>
              </a:lnSpc>
              <a:spcAft>
                <a:spcPts val="500"/>
              </a:spcAft>
              <a:buSzPct val="100000"/>
              <a:buChar char="•"/>
            </a:pPr>
            <a:r>
              <a:rPr lang="en-US" sz="1200" dirty="0">
                <a:solidFill>
                  <a:srgbClr val="1F2937"/>
                </a:solidFill>
                <a:latin typeface="맑은 고딕" pitchFamily="34" charset="0"/>
                <a:ea typeface="맑은 고딕" pitchFamily="34" charset="-122"/>
                <a:cs typeface="맑은 고딕" pitchFamily="34" charset="-120"/>
              </a:rPr>
              <a:t>YOLO11-pose — 보행자 자세 추정</a:t>
            </a:r>
            <a:endParaRPr lang="en-US" sz="1200" dirty="0"/>
          </a:p>
          <a:p>
            <a:pPr marL="342900" indent="-342900">
              <a:lnSpc>
                <a:spcPts val="1800"/>
              </a:lnSpc>
              <a:spcAft>
                <a:spcPts val="500"/>
              </a:spcAft>
              <a:buSzPct val="100000"/>
              <a:buChar char="•"/>
            </a:pPr>
            <a:r>
              <a:rPr lang="en-US" sz="1200" dirty="0">
                <a:solidFill>
                  <a:srgbClr val="1F2937"/>
                </a:solidFill>
                <a:latin typeface="맑은 고딕" pitchFamily="34" charset="0"/>
                <a:ea typeface="맑은 고딕" pitchFamily="34" charset="-122"/>
                <a:cs typeface="맑은 고딕" pitchFamily="34" charset="-120"/>
              </a:rPr>
              <a:t>ByteTrack — 다중 객체 ID 추적</a:t>
            </a:r>
            <a:endParaRPr lang="en-US" sz="1200" dirty="0"/>
          </a:p>
          <a:p>
            <a:pPr marL="342900" indent="-342900">
              <a:lnSpc>
                <a:spcPts val="1800"/>
              </a:lnSpc>
              <a:spcAft>
                <a:spcPts val="500"/>
              </a:spcAft>
              <a:buSzPct val="100000"/>
              <a:buChar char="•"/>
            </a:pPr>
            <a:r>
              <a:rPr lang="en-US" sz="1200" dirty="0">
                <a:solidFill>
                  <a:srgbClr val="1F2937"/>
                </a:solidFill>
                <a:latin typeface="맑은 고딕" pitchFamily="34" charset="0"/>
                <a:ea typeface="맑은 고딕" pitchFamily="34" charset="-122"/>
                <a:cs typeface="맑은 고딕" pitchFamily="34" charset="-120"/>
              </a:rPr>
              <a:t>PyTorch 2.5.1 + CUDA 12.1</a:t>
            </a:r>
            <a:endParaRPr lang="en-US" sz="1200" dirty="0"/>
          </a:p>
        </p:txBody>
      </p:sp>
      <p:sp>
        <p:nvSpPr>
          <p:cNvPr id="14" name="Shape 12"/>
          <p:cNvSpPr/>
          <p:nvPr/>
        </p:nvSpPr>
        <p:spPr>
          <a:xfrm>
            <a:off x="548640" y="3986784"/>
            <a:ext cx="5440680" cy="2194560"/>
          </a:xfrm>
          <a:prstGeom prst="roundRect">
            <a:avLst>
              <a:gd name="adj" fmla="val 3333"/>
            </a:avLst>
          </a:prstGeom>
          <a:solidFill>
            <a:srgbClr val="FFFFFF"/>
          </a:solidFill>
          <a:ln w="12700">
            <a:solidFill>
              <a:srgbClr val="DDE1E7"/>
            </a:solidFill>
            <a:prstDash val="solid"/>
          </a:ln>
        </p:spPr>
        <p:txBody>
          <a:bodyPr/>
          <a:p/>
        </p:txBody>
      </p:sp>
      <p:sp>
        <p:nvSpPr>
          <p:cNvPr id="15" name="Shape 13"/>
          <p:cNvSpPr/>
          <p:nvPr/>
        </p:nvSpPr>
        <p:spPr>
          <a:xfrm>
            <a:off x="804672" y="4224528"/>
            <a:ext cx="329184" cy="329184"/>
          </a:xfrm>
          <a:prstGeom prst="ellipse">
            <a:avLst/>
          </a:prstGeom>
          <a:solidFill>
            <a:srgbClr val="F2A63B"/>
          </a:solidFill>
          <a:ln/>
        </p:spPr>
        <p:txBody>
          <a:bodyPr/>
          <a:p/>
        </p:txBody>
      </p:sp>
      <p:sp>
        <p:nvSpPr>
          <p:cNvPr id="16" name="Text 14"/>
          <p:cNvSpPr txBox="1"/>
          <p:nvPr/>
        </p:nvSpPr>
        <p:spPr>
          <a:xfrm>
            <a:off x="1261872" y="4187952"/>
            <a:ext cx="4389120" cy="402336"/>
          </a:xfrm>
          <a:prstGeom prst="rect">
            <a:avLst/>
          </a:prstGeom>
          <a:noFill/>
          <a:ln/>
        </p:spPr>
        <p:txBody>
          <a:bodyPr wrap="square" lIns="0" tIns="0" rIns="0" bIns="0" rtlCol="0" anchor="ctr"/>
          <a:lstStyle/>
          <a:p>
            <a:pPr marL="0" indent="0">
              <a:buNone/>
            </a:pPr>
            <a:r>
              <a:rPr lang="en-US" sz="1600" b="1" dirty="0">
                <a:solidFill>
                  <a:srgbClr val="14213D"/>
                </a:solidFill>
                <a:latin typeface="맑은 고딕" pitchFamily="34" charset="0"/>
                <a:ea typeface="맑은 고딕" pitchFamily="34" charset="-122"/>
                <a:cs typeface="맑은 고딕" pitchFamily="34" charset="-120"/>
              </a:rPr>
              <a:t>데이터 · 학습</a:t>
            </a:r>
            <a:endParaRPr lang="en-US" sz="1600" dirty="0"/>
          </a:p>
        </p:txBody>
      </p:sp>
      <p:sp>
        <p:nvSpPr>
          <p:cNvPr id="17" name="Text 15"/>
          <p:cNvSpPr txBox="1"/>
          <p:nvPr/>
        </p:nvSpPr>
        <p:spPr>
          <a:xfrm>
            <a:off x="1005840" y="4764024"/>
            <a:ext cx="4709160" cy="1325880"/>
          </a:xfrm>
          <a:prstGeom prst="rect">
            <a:avLst/>
          </a:prstGeom>
          <a:noFill/>
          <a:ln/>
        </p:spPr>
        <p:txBody>
          <a:bodyPr wrap="square" lIns="0" tIns="0" rIns="0" bIns="0" rtlCol="0" anchor="t"/>
          <a:lstStyle/>
          <a:p>
            <a:pPr marL="342900" indent="-342900">
              <a:lnSpc>
                <a:spcPts val="1800"/>
              </a:lnSpc>
              <a:spcAft>
                <a:spcPts val="500"/>
              </a:spcAft>
              <a:buSzPct val="100000"/>
              <a:buChar char="•"/>
            </a:pPr>
            <a:r>
              <a:rPr lang="en-US" sz="1200" dirty="0">
                <a:solidFill>
                  <a:srgbClr val="1F2937"/>
                </a:solidFill>
                <a:latin typeface="맑은 고딕" pitchFamily="34" charset="0"/>
                <a:ea typeface="맑은 고딕" pitchFamily="34" charset="-122"/>
                <a:cs typeface="맑은 고딕" pitchFamily="34" charset="-120"/>
              </a:rPr>
              <a:t>경기도 ITS 공개 CCTV 녹화 영상</a:t>
            </a:r>
            <a:endParaRPr lang="en-US" sz="1200" dirty="0"/>
          </a:p>
          <a:p>
            <a:pPr marL="342900" indent="-342900">
              <a:lnSpc>
                <a:spcPts val="1800"/>
              </a:lnSpc>
              <a:spcAft>
                <a:spcPts val="500"/>
              </a:spcAft>
              <a:buSzPct val="100000"/>
              <a:buChar char="•"/>
            </a:pPr>
            <a:r>
              <a:rPr lang="en-US" sz="1200" dirty="0">
                <a:solidFill>
                  <a:srgbClr val="1F2937"/>
                </a:solidFill>
                <a:latin typeface="맑은 고딕" pitchFamily="34" charset="0"/>
                <a:ea typeface="맑은 고딕" pitchFamily="34" charset="-122"/>
                <a:cs typeface="맑은 고딕" pitchFamily="34" charset="-120"/>
              </a:rPr>
              <a:t>Roboflow — 증강 및 데이터셋 분할</a:t>
            </a:r>
            <a:endParaRPr lang="en-US" sz="1200" dirty="0"/>
          </a:p>
          <a:p>
            <a:pPr marL="342900" indent="-342900">
              <a:lnSpc>
                <a:spcPts val="1800"/>
              </a:lnSpc>
              <a:spcAft>
                <a:spcPts val="500"/>
              </a:spcAft>
              <a:buSzPct val="100000"/>
              <a:buChar char="•"/>
            </a:pPr>
            <a:r>
              <a:rPr lang="en-US" sz="1200" dirty="0">
                <a:solidFill>
                  <a:srgbClr val="1F2937"/>
                </a:solidFill>
                <a:latin typeface="맑은 고딕" pitchFamily="34" charset="0"/>
                <a:ea typeface="맑은 고딕" pitchFamily="34" charset="-122"/>
                <a:cs typeface="맑은 고딕" pitchFamily="34" charset="-120"/>
              </a:rPr>
              <a:t>학습 / 검증 75 : 25 분할</a:t>
            </a:r>
            <a:endParaRPr lang="en-US" sz="1200" dirty="0"/>
          </a:p>
          <a:p>
            <a:pPr marL="342900" indent="-342900">
              <a:lnSpc>
                <a:spcPts val="1800"/>
              </a:lnSpc>
              <a:spcAft>
                <a:spcPts val="500"/>
              </a:spcAft>
              <a:buSzPct val="100000"/>
              <a:buChar char="•"/>
            </a:pPr>
            <a:r>
              <a:rPr lang="en-US" sz="1200" dirty="0">
                <a:solidFill>
                  <a:srgbClr val="1F2937"/>
                </a:solidFill>
                <a:latin typeface="맑은 고딕" pitchFamily="34" charset="0"/>
                <a:ea typeface="맑은 고딕" pitchFamily="34" charset="-122"/>
                <a:cs typeface="맑은 고딕" pitchFamily="34" charset="-120"/>
              </a:rPr>
              <a:t>ultralytics 파인튜닝 파이프라인</a:t>
            </a:r>
            <a:endParaRPr lang="en-US" sz="1200" dirty="0"/>
          </a:p>
        </p:txBody>
      </p:sp>
      <p:sp>
        <p:nvSpPr>
          <p:cNvPr id="18" name="Shape 16"/>
          <p:cNvSpPr/>
          <p:nvPr/>
        </p:nvSpPr>
        <p:spPr>
          <a:xfrm>
            <a:off x="6199632" y="3986784"/>
            <a:ext cx="5440680" cy="2194560"/>
          </a:xfrm>
          <a:prstGeom prst="roundRect">
            <a:avLst>
              <a:gd name="adj" fmla="val 3333"/>
            </a:avLst>
          </a:prstGeom>
          <a:solidFill>
            <a:srgbClr val="FFFFFF"/>
          </a:solidFill>
          <a:ln w="12700">
            <a:solidFill>
              <a:srgbClr val="DDE1E7"/>
            </a:solidFill>
            <a:prstDash val="solid"/>
          </a:ln>
        </p:spPr>
        <p:txBody>
          <a:bodyPr/>
          <a:p/>
        </p:txBody>
      </p:sp>
      <p:sp>
        <p:nvSpPr>
          <p:cNvPr id="19" name="Shape 17"/>
          <p:cNvSpPr/>
          <p:nvPr/>
        </p:nvSpPr>
        <p:spPr>
          <a:xfrm>
            <a:off x="6455664" y="4224528"/>
            <a:ext cx="329184" cy="329184"/>
          </a:xfrm>
          <a:prstGeom prst="ellipse">
            <a:avLst/>
          </a:prstGeom>
          <a:solidFill>
            <a:srgbClr val="14213D"/>
          </a:solidFill>
          <a:ln/>
        </p:spPr>
        <p:txBody>
          <a:bodyPr/>
          <a:p/>
        </p:txBody>
      </p:sp>
      <p:sp>
        <p:nvSpPr>
          <p:cNvPr id="20" name="Text 18"/>
          <p:cNvSpPr txBox="1"/>
          <p:nvPr/>
        </p:nvSpPr>
        <p:spPr>
          <a:xfrm>
            <a:off x="6912864" y="4187952"/>
            <a:ext cx="4389120" cy="402336"/>
          </a:xfrm>
          <a:prstGeom prst="rect">
            <a:avLst/>
          </a:prstGeom>
          <a:noFill/>
          <a:ln/>
        </p:spPr>
        <p:txBody>
          <a:bodyPr wrap="square" lIns="0" tIns="0" rIns="0" bIns="0" rtlCol="0" anchor="ctr"/>
          <a:lstStyle/>
          <a:p>
            <a:pPr marL="0" indent="0">
              <a:buNone/>
            </a:pPr>
            <a:r>
              <a:rPr lang="en-US" sz="1600" b="1" dirty="0">
                <a:solidFill>
                  <a:srgbClr val="14213D"/>
                </a:solidFill>
                <a:latin typeface="맑은 고딕" pitchFamily="34" charset="0"/>
                <a:ea typeface="맑은 고딕" pitchFamily="34" charset="-122"/>
                <a:cs typeface="맑은 고딕" pitchFamily="34" charset="-120"/>
              </a:rPr>
              <a:t>앱 · 산출물</a:t>
            </a:r>
            <a:endParaRPr lang="en-US" sz="1600" dirty="0"/>
          </a:p>
        </p:txBody>
      </p:sp>
      <p:sp>
        <p:nvSpPr>
          <p:cNvPr id="21" name="Text 19"/>
          <p:cNvSpPr txBox="1"/>
          <p:nvPr/>
        </p:nvSpPr>
        <p:spPr>
          <a:xfrm>
            <a:off x="6656832" y="4764024"/>
            <a:ext cx="4709160" cy="1325880"/>
          </a:xfrm>
          <a:prstGeom prst="rect">
            <a:avLst/>
          </a:prstGeom>
          <a:noFill/>
          <a:ln/>
        </p:spPr>
        <p:txBody>
          <a:bodyPr wrap="square" lIns="0" tIns="0" rIns="0" bIns="0" rtlCol="0" anchor="t"/>
          <a:lstStyle/>
          <a:p>
            <a:pPr marL="342900" indent="-342900">
              <a:lnSpc>
                <a:spcPts val="1800"/>
              </a:lnSpc>
              <a:spcAft>
                <a:spcPts val="500"/>
              </a:spcAft>
              <a:buSzPct val="100000"/>
              <a:buChar char="•"/>
            </a:pPr>
            <a:r>
              <a:rPr lang="en-US" sz="1200" dirty="0">
                <a:solidFill>
                  <a:srgbClr val="1F2937"/>
                </a:solidFill>
                <a:latin typeface="맑은 고딕" pitchFamily="34" charset="0"/>
                <a:ea typeface="맑은 고딕" pitchFamily="34" charset="-122"/>
                <a:cs typeface="맑은 고딕" pitchFamily="34" charset="-120"/>
              </a:rPr>
              <a:t>Streamlit — 웹 인터페이스</a:t>
            </a:r>
            <a:endParaRPr lang="en-US" sz="1200" dirty="0"/>
          </a:p>
          <a:p>
            <a:pPr marL="342900" indent="-342900">
              <a:lnSpc>
                <a:spcPts val="1800"/>
              </a:lnSpc>
              <a:spcAft>
                <a:spcPts val="500"/>
              </a:spcAft>
              <a:buSzPct val="100000"/>
              <a:buChar char="•"/>
            </a:pPr>
            <a:r>
              <a:rPr lang="en-US" sz="1200" dirty="0">
                <a:solidFill>
                  <a:srgbClr val="1F2937"/>
                </a:solidFill>
                <a:latin typeface="맑은 고딕" pitchFamily="34" charset="0"/>
                <a:ea typeface="맑은 고딕" pitchFamily="34" charset="-122"/>
                <a:cs typeface="맑은 고딕" pitchFamily="34" charset="-120"/>
              </a:rPr>
              <a:t>OpenCV — 프레임 처리 · 주석 렌더링</a:t>
            </a:r>
            <a:endParaRPr lang="en-US" sz="1200" dirty="0"/>
          </a:p>
          <a:p>
            <a:pPr marL="342900" indent="-342900">
              <a:lnSpc>
                <a:spcPts val="1800"/>
              </a:lnSpc>
              <a:spcAft>
                <a:spcPts val="500"/>
              </a:spcAft>
              <a:buSzPct val="100000"/>
              <a:buChar char="•"/>
            </a:pPr>
            <a:r>
              <a:rPr lang="en-US" sz="1200" dirty="0">
                <a:solidFill>
                  <a:srgbClr val="1F2937"/>
                </a:solidFill>
                <a:latin typeface="맑은 고딕" pitchFamily="34" charset="0"/>
                <a:ea typeface="맑은 고딕" pitchFamily="34" charset="-122"/>
                <a:cs typeface="맑은 고딕" pitchFamily="34" charset="-120"/>
              </a:rPr>
              <a:t>ffmpeg — 브라우저 재생용 인코딩</a:t>
            </a:r>
            <a:endParaRPr lang="en-US" sz="1200" dirty="0"/>
          </a:p>
          <a:p>
            <a:pPr marL="342900" indent="-342900">
              <a:lnSpc>
                <a:spcPts val="1800"/>
              </a:lnSpc>
              <a:spcAft>
                <a:spcPts val="500"/>
              </a:spcAft>
              <a:buSzPct val="100000"/>
              <a:buChar char="•"/>
            </a:pPr>
            <a:r>
              <a:rPr lang="en-US" sz="1200" dirty="0">
                <a:solidFill>
                  <a:srgbClr val="1F2937"/>
                </a:solidFill>
                <a:latin typeface="맑은 고딕" pitchFamily="34" charset="0"/>
                <a:ea typeface="맑은 고딕" pitchFamily="34" charset="-122"/>
                <a:cs typeface="맑은 고딕" pitchFamily="34" charset="-120"/>
              </a:rPr>
              <a:t>CSV 리포트 생성</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F2A63B"/>
          </a:solidFill>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marL="0" indent="0" algn="ctr">
              <a:buNone/>
            </a:pPr>
            <a:r>
              <a:rPr lang="en-US" sz="1800" b="1" dirty="0">
                <a:solidFill>
                  <a:srgbClr val="14213D"/>
                </a:solidFill>
                <a:latin typeface="맑은 고딕" pitchFamily="34" charset="0"/>
                <a:ea typeface="맑은 고딕" pitchFamily="34" charset="-122"/>
              </a:rPr>
              <a:t>3</a:t>
            </a:r>
            <a:endParaRPr lang="en-US" sz="1800" dirty="0"/>
          </a:p>
        </p:txBody>
      </p:sp>
      <p:sp>
        <p:nvSpPr>
          <p:cNvPr id="4" name="Text 2"/>
          <p:cNvSpPr txBox="1"/>
          <p:nvPr/>
        </p:nvSpPr>
        <p:spPr>
          <a:xfrm>
            <a:off x="1170432" y="347472"/>
            <a:ext cx="7680960" cy="548640"/>
          </a:xfrm>
          <a:prstGeom prst="rect">
            <a:avLst/>
          </a:prstGeom>
          <a:noFill/>
          <a:ln/>
        </p:spPr>
        <p:txBody>
          <a:bodyPr wrap="square" lIns="0" tIns="0" rIns="0" bIns="0" rtlCol="0" anchor="ctr"/>
          <a:lstStyle/>
          <a:p>
            <a:pPr marL="0" indent="0" algn="l">
              <a:buNone/>
            </a:pPr>
            <a:r>
              <a:rPr lang="en-US" sz="3000" b="1" dirty="0">
                <a:solidFill>
                  <a:srgbClr val="14213D"/>
                </a:solidFill>
                <a:latin typeface="맑은 고딕" pitchFamily="34" charset="0"/>
                <a:ea typeface="맑은 고딕" pitchFamily="34" charset="-122"/>
                <a:cs typeface="맑은 고딕" pitchFamily="34" charset="-120"/>
              </a:rPr>
              <a:t>차별화 포인트</a:t>
            </a:r>
            <a:endParaRPr lang="en-US" sz="3000" dirty="0"/>
          </a:p>
        </p:txBody>
      </p:sp>
      <p:sp>
        <p:nvSpPr>
          <p:cNvPr id="5" name="Text 3"/>
          <p:cNvSpPr txBox="1"/>
          <p:nvPr/>
        </p:nvSpPr>
        <p:spPr>
          <a:xfrm>
            <a:off x="1170432" y="896112"/>
            <a:ext cx="10424160" cy="310896"/>
          </a:xfrm>
          <a:prstGeom prst="rect">
            <a:avLst/>
          </a:prstGeom>
          <a:noFill/>
          <a:ln/>
        </p:spPr>
        <p:txBody>
          <a:bodyPr wrap="square" lIns="0" tIns="0" rIns="0" bIns="0" rtlCol="0" anchor="ctr"/>
          <a:lstStyle/>
          <a:p>
            <a:pPr marL="0" indent="0" algn="l">
              <a:buNone/>
            </a:pPr>
            <a:r>
              <a:rPr lang="en-US" sz="1300" dirty="0">
                <a:solidFill>
                  <a:srgbClr val="6B7280"/>
                </a:solidFill>
                <a:latin typeface="맑은 고딕" pitchFamily="34" charset="0"/>
                <a:ea typeface="맑은 고딕" pitchFamily="34" charset="-122"/>
                <a:cs typeface="맑은 고딕" pitchFamily="34" charset="-120"/>
              </a:rPr>
              <a:t>기존 유사 서비스와 무엇이 다른가</a:t>
            </a:r>
            <a:endParaRPr lang="en-US" sz="1300" dirty="0"/>
          </a:p>
        </p:txBody>
      </p:sp>
      <p:sp>
        <p:nvSpPr>
          <p:cNvPr id="6" name="Shape 4"/>
          <p:cNvSpPr/>
          <p:nvPr/>
        </p:nvSpPr>
        <p:spPr>
          <a:xfrm>
            <a:off x="548640" y="1371600"/>
            <a:ext cx="11091672" cy="914400"/>
          </a:xfrm>
          <a:prstGeom prst="roundRect">
            <a:avLst>
              <a:gd name="adj" fmla="val 8000"/>
            </a:avLst>
          </a:prstGeom>
          <a:solidFill>
            <a:srgbClr val="14213D"/>
          </a:solidFill>
          <a:ln w="12700">
            <a:solidFill>
              <a:srgbClr val="14213D"/>
            </a:solidFill>
            <a:prstDash val="solid"/>
          </a:ln>
        </p:spPr>
      </p:sp>
      <p:sp>
        <p:nvSpPr>
          <p:cNvPr id="7" name="Text 5"/>
          <p:cNvSpPr txBox="1"/>
          <p:nvPr/>
        </p:nvSpPr>
        <p:spPr>
          <a:xfrm>
            <a:off x="868680" y="1371600"/>
            <a:ext cx="10424160" cy="914400"/>
          </a:xfrm>
          <a:prstGeom prst="rect">
            <a:avLst/>
          </a:prstGeom>
          <a:noFill/>
          <a:ln/>
        </p:spPr>
        <p:txBody>
          <a:bodyPr wrap="square" lIns="0" tIns="0" rIns="0" bIns="0" rtlCol="0" anchor="ctr"/>
          <a:lstStyle/>
          <a:p>
            <a:pPr marL="0" indent="0">
              <a:lnSpc>
                <a:spcPts val="2200"/>
              </a:lnSpc>
              <a:buNone/>
            </a:pPr>
            <a:r>
              <a:rPr lang="en-US" sz="1400" b="1" dirty="0">
                <a:solidFill>
                  <a:srgbClr val="FFFFFF"/>
                </a:solidFill>
                <a:latin typeface="맑은 고딕" pitchFamily="34" charset="0"/>
                <a:ea typeface="맑은 고딕" pitchFamily="34" charset="-122"/>
                <a:cs typeface="맑은 고딕" pitchFamily="34" charset="-120"/>
              </a:rPr>
              <a:t>이 문제를 통째로 푸는 공개 사전학습 모델은 존재하지 않는다</a:t>
            </a:r>
            <a:r>
              <a:rPr lang="en-US" sz="1400" b="1">
                <a:solidFill>
                  <a:srgbClr val="FFFFFF"/>
                </a:solidFill>
                <a:latin typeface="맑은 고딕" pitchFamily="34" charset="0"/>
                <a:ea typeface="맑은 고딕" pitchFamily="34" charset="-122"/>
                <a:cs typeface="맑은 고딕" pitchFamily="34" charset="-120"/>
              </a:rPr>
              <a:t>.  </a:t>
            </a:r>
          </a:p>
          <a:p>
            <a:pPr marL="0" indent="0">
              <a:lnSpc>
                <a:spcPts val="2200"/>
              </a:lnSpc>
              <a:buNone/>
            </a:pPr>
            <a:r>
              <a:rPr lang="en-US" sz="1400" b="1">
                <a:solidFill>
                  <a:srgbClr val="FFFFFF"/>
                </a:solidFill>
                <a:latin typeface="맑은 고딕" pitchFamily="34" charset="0"/>
                <a:ea typeface="맑은 고딕" pitchFamily="34" charset="-122"/>
                <a:cs typeface="맑은 고딕" pitchFamily="34" charset="-120"/>
              </a:rPr>
              <a:t>부분 </a:t>
            </a:r>
            <a:r>
              <a:rPr lang="en-US" sz="1400" b="1" dirty="0">
                <a:solidFill>
                  <a:srgbClr val="FFFFFF"/>
                </a:solidFill>
                <a:latin typeface="맑은 고딕" pitchFamily="34" charset="0"/>
                <a:ea typeface="맑은 고딕" pitchFamily="34" charset="-122"/>
                <a:cs typeface="맑은 고딕" pitchFamily="34" charset="-120"/>
              </a:rPr>
              <a:t>모델을 조합하고, 한국 법 기준의 결합·판정 로직을 </a:t>
            </a:r>
            <a:r>
              <a:rPr lang="en-US" sz="1400" b="1">
                <a:solidFill>
                  <a:srgbClr val="FFFFFF"/>
                </a:solidFill>
                <a:latin typeface="맑은 고딕" pitchFamily="34" charset="0"/>
                <a:ea typeface="맑은 고딕" pitchFamily="34" charset="-122"/>
                <a:cs typeface="맑은 고딕" pitchFamily="34" charset="-120"/>
              </a:rPr>
              <a:t>직접 </a:t>
            </a:r>
            <a:r>
              <a:rPr lang="ko-KR" altLang="en-US" sz="1400" b="1">
                <a:solidFill>
                  <a:srgbClr val="FFFFFF"/>
                </a:solidFill>
                <a:latin typeface="맑은 고딕" pitchFamily="34" charset="0"/>
                <a:ea typeface="맑은 고딕" pitchFamily="34" charset="-122"/>
                <a:cs typeface="맑은 고딕" pitchFamily="34" charset="-120"/>
              </a:rPr>
              <a:t>구현한다</a:t>
            </a:r>
            <a:r>
              <a:rPr lang="en-US" altLang="ko-KR" sz="1400" b="1">
                <a:solidFill>
                  <a:srgbClr val="FFFFFF"/>
                </a:solidFill>
                <a:latin typeface="맑은 고딕" pitchFamily="34" charset="0"/>
                <a:ea typeface="맑은 고딕" pitchFamily="34" charset="-122"/>
                <a:cs typeface="맑은 고딕" pitchFamily="34" charset="-120"/>
              </a:rPr>
              <a:t>.</a:t>
            </a:r>
            <a:endParaRPr lang="en-US" sz="1400" dirty="0"/>
          </a:p>
        </p:txBody>
      </p:sp>
      <p:sp>
        <p:nvSpPr>
          <p:cNvPr id="8" name="Text 6"/>
          <p:cNvSpPr txBox="1"/>
          <p:nvPr/>
        </p:nvSpPr>
        <p:spPr>
          <a:xfrm>
            <a:off x="548640" y="2487168"/>
            <a:ext cx="5486400" cy="320040"/>
          </a:xfrm>
          <a:prstGeom prst="rect">
            <a:avLst/>
          </a:prstGeom>
          <a:noFill/>
          <a:ln/>
        </p:spPr>
        <p:txBody>
          <a:bodyPr wrap="square" lIns="0" tIns="0" rIns="0" bIns="0" rtlCol="0" anchor="ctr"/>
          <a:lstStyle/>
          <a:p>
            <a:pPr marL="0" indent="0">
              <a:buNone/>
            </a:pPr>
            <a:r>
              <a:rPr lang="en-US" sz="1500" b="1" dirty="0">
                <a:solidFill>
                  <a:srgbClr val="6B7280"/>
                </a:solidFill>
                <a:latin typeface="맑은 고딕" pitchFamily="34" charset="0"/>
                <a:ea typeface="맑은 고딕" pitchFamily="34" charset="-122"/>
                <a:cs typeface="맑은 고딕" pitchFamily="34" charset="-120"/>
              </a:rPr>
              <a:t>기존 접근</a:t>
            </a:r>
            <a:endParaRPr lang="en-US" sz="1500" dirty="0"/>
          </a:p>
        </p:txBody>
      </p:sp>
      <p:sp>
        <p:nvSpPr>
          <p:cNvPr id="9" name="Shape 7"/>
          <p:cNvSpPr/>
          <p:nvPr/>
        </p:nvSpPr>
        <p:spPr>
          <a:xfrm>
            <a:off x="548640" y="2880360"/>
            <a:ext cx="5486400" cy="1609344"/>
          </a:xfrm>
          <a:prstGeom prst="roundRect">
            <a:avLst>
              <a:gd name="adj" fmla="val 7143"/>
            </a:avLst>
          </a:prstGeom>
          <a:solidFill>
            <a:srgbClr val="FFFFFF"/>
          </a:solidFill>
          <a:ln w="12700">
            <a:solidFill>
              <a:srgbClr val="DDE1E7"/>
            </a:solidFill>
            <a:prstDash val="solid"/>
          </a:ln>
        </p:spPr>
      </p:sp>
      <p:sp>
        <p:nvSpPr>
          <p:cNvPr id="10" name="Text 8"/>
          <p:cNvSpPr txBox="1"/>
          <p:nvPr/>
        </p:nvSpPr>
        <p:spPr>
          <a:xfrm>
            <a:off x="777240" y="3319272"/>
            <a:ext cx="1783080" cy="731520"/>
          </a:xfrm>
          <a:prstGeom prst="rect">
            <a:avLst/>
          </a:prstGeom>
          <a:noFill/>
          <a:ln/>
        </p:spPr>
        <p:txBody>
          <a:bodyPr wrap="square" lIns="0" tIns="0" rIns="0" bIns="0" rtlCol="0" anchor="ctr"/>
          <a:lstStyle/>
          <a:p>
            <a:pPr marL="0" indent="0">
              <a:lnSpc>
                <a:spcPts val="1700"/>
              </a:lnSpc>
              <a:buNone/>
            </a:pPr>
            <a:r>
              <a:rPr lang="en-US" sz="1250" b="1" dirty="0">
                <a:solidFill>
                  <a:srgbClr val="14213D"/>
                </a:solidFill>
                <a:latin typeface="맑은 고딕" pitchFamily="34" charset="0"/>
                <a:ea typeface="맑은 고딕" pitchFamily="34" charset="-122"/>
                <a:cs typeface="맑은 고딕" pitchFamily="34" charset="-120"/>
              </a:rPr>
              <a:t>스마트 횡단보도</a:t>
            </a:r>
            <a:endParaRPr lang="en-US" sz="1250" dirty="0"/>
          </a:p>
          <a:p>
            <a:pPr marL="0" indent="0">
              <a:lnSpc>
                <a:spcPts val="1700"/>
              </a:lnSpc>
              <a:buNone/>
            </a:pPr>
            <a:r>
              <a:rPr lang="en-US" sz="1250" b="1" dirty="0">
                <a:solidFill>
                  <a:srgbClr val="14213D"/>
                </a:solidFill>
                <a:latin typeface="맑은 고딕" pitchFamily="34" charset="0"/>
                <a:ea typeface="맑은 고딕" pitchFamily="34" charset="-122"/>
                <a:cs typeface="맑은 고딕" pitchFamily="34" charset="-120"/>
              </a:rPr>
              <a:t>(볼라드 · 경광등)</a:t>
            </a:r>
            <a:endParaRPr lang="en-US" sz="1250" dirty="0"/>
          </a:p>
        </p:txBody>
      </p:sp>
      <p:sp>
        <p:nvSpPr>
          <p:cNvPr id="11" name="Text 9"/>
          <p:cNvSpPr txBox="1"/>
          <p:nvPr/>
        </p:nvSpPr>
        <p:spPr>
          <a:xfrm>
            <a:off x="2697480" y="3319272"/>
            <a:ext cx="3154680" cy="731520"/>
          </a:xfrm>
          <a:prstGeom prst="rect">
            <a:avLst/>
          </a:prstGeom>
          <a:noFill/>
          <a:ln/>
        </p:spPr>
        <p:txBody>
          <a:bodyPr wrap="square" lIns="0" tIns="0" rIns="0" bIns="0" rtlCol="0" anchor="ctr"/>
          <a:lstStyle/>
          <a:p>
            <a:pPr marL="0" indent="0">
              <a:lnSpc>
                <a:spcPts val="1700"/>
              </a:lnSpc>
              <a:buNone/>
            </a:pPr>
            <a:r>
              <a:rPr lang="en-US" sz="1150" dirty="0">
                <a:solidFill>
                  <a:srgbClr val="6B7280"/>
                </a:solidFill>
                <a:latin typeface="맑은 고딕" pitchFamily="34" charset="0"/>
                <a:ea typeface="맑은 고딕" pitchFamily="34" charset="-122"/>
                <a:cs typeface="맑은 고딕" pitchFamily="34" charset="-120"/>
              </a:rPr>
              <a:t>위반 사실을 기록하지 못함</a:t>
            </a:r>
            <a:endParaRPr lang="en-US" sz="1150" dirty="0"/>
          </a:p>
          <a:p>
            <a:pPr marL="0" indent="0">
              <a:lnSpc>
                <a:spcPts val="1700"/>
              </a:lnSpc>
              <a:buNone/>
            </a:pPr>
            <a:r>
              <a:rPr lang="en-US" sz="1150" dirty="0">
                <a:solidFill>
                  <a:srgbClr val="6B7280"/>
                </a:solidFill>
                <a:latin typeface="맑은 고딕" pitchFamily="34" charset="0"/>
                <a:ea typeface="맑은 고딕" pitchFamily="34" charset="-122"/>
                <a:cs typeface="맑은 고딕" pitchFamily="34" charset="-120"/>
              </a:rPr>
              <a:t>신규 설비 설치 필요</a:t>
            </a:r>
            <a:endParaRPr lang="en-US" sz="1150" dirty="0"/>
          </a:p>
        </p:txBody>
      </p:sp>
      <p:sp>
        <p:nvSpPr>
          <p:cNvPr id="12" name="Shape 10"/>
          <p:cNvSpPr/>
          <p:nvPr/>
        </p:nvSpPr>
        <p:spPr>
          <a:xfrm>
            <a:off x="548640" y="4636008"/>
            <a:ext cx="5486400" cy="1609344"/>
          </a:xfrm>
          <a:prstGeom prst="roundRect">
            <a:avLst>
              <a:gd name="adj" fmla="val 7143"/>
            </a:avLst>
          </a:prstGeom>
          <a:solidFill>
            <a:srgbClr val="FFFFFF"/>
          </a:solidFill>
          <a:ln w="12700">
            <a:solidFill>
              <a:srgbClr val="DDE1E7"/>
            </a:solidFill>
            <a:prstDash val="solid"/>
          </a:ln>
        </p:spPr>
      </p:sp>
      <p:sp>
        <p:nvSpPr>
          <p:cNvPr id="13" name="Text 11"/>
          <p:cNvSpPr txBox="1"/>
          <p:nvPr/>
        </p:nvSpPr>
        <p:spPr>
          <a:xfrm>
            <a:off x="777240" y="5074920"/>
            <a:ext cx="1783080" cy="731520"/>
          </a:xfrm>
          <a:prstGeom prst="rect">
            <a:avLst/>
          </a:prstGeom>
          <a:noFill/>
          <a:ln/>
        </p:spPr>
        <p:txBody>
          <a:bodyPr wrap="square" lIns="0" tIns="0" rIns="0" bIns="0" rtlCol="0" anchor="ctr"/>
          <a:lstStyle/>
          <a:p>
            <a:pPr marL="0" indent="0">
              <a:lnSpc>
                <a:spcPts val="1700"/>
              </a:lnSpc>
              <a:buNone/>
            </a:pPr>
            <a:r>
              <a:rPr lang="en-US" sz="1250" b="1" dirty="0">
                <a:solidFill>
                  <a:srgbClr val="14213D"/>
                </a:solidFill>
                <a:latin typeface="맑은 고딕" pitchFamily="34" charset="0"/>
                <a:ea typeface="맑은 고딕" pitchFamily="34" charset="-122"/>
                <a:cs typeface="맑은 고딕" pitchFamily="34" charset="-120"/>
              </a:rPr>
              <a:t>과속 · 신호위반</a:t>
            </a:r>
            <a:endParaRPr lang="en-US" sz="1250" dirty="0"/>
          </a:p>
          <a:p>
            <a:pPr marL="0" indent="0">
              <a:lnSpc>
                <a:spcPts val="1700"/>
              </a:lnSpc>
              <a:buNone/>
            </a:pPr>
            <a:r>
              <a:rPr lang="en-US" sz="1250" b="1" dirty="0">
                <a:solidFill>
                  <a:srgbClr val="14213D"/>
                </a:solidFill>
                <a:latin typeface="맑은 고딕" pitchFamily="34" charset="0"/>
                <a:ea typeface="맑은 고딕" pitchFamily="34" charset="-122"/>
                <a:cs typeface="맑은 고딕" pitchFamily="34" charset="-120"/>
              </a:rPr>
              <a:t>단속 카메라</a:t>
            </a:r>
            <a:endParaRPr lang="en-US" sz="1250" dirty="0"/>
          </a:p>
        </p:txBody>
      </p:sp>
      <p:sp>
        <p:nvSpPr>
          <p:cNvPr id="14" name="Text 12"/>
          <p:cNvSpPr txBox="1"/>
          <p:nvPr/>
        </p:nvSpPr>
        <p:spPr>
          <a:xfrm>
            <a:off x="2697480" y="5074920"/>
            <a:ext cx="3154680" cy="731520"/>
          </a:xfrm>
          <a:prstGeom prst="rect">
            <a:avLst/>
          </a:prstGeom>
          <a:noFill/>
          <a:ln/>
        </p:spPr>
        <p:txBody>
          <a:bodyPr wrap="square" lIns="0" tIns="0" rIns="0" bIns="0" rtlCol="0" anchor="ctr"/>
          <a:lstStyle/>
          <a:p>
            <a:pPr marL="0" indent="0">
              <a:lnSpc>
                <a:spcPts val="1700"/>
              </a:lnSpc>
              <a:buNone/>
            </a:pPr>
            <a:r>
              <a:rPr lang="en-US" sz="1150" dirty="0">
                <a:solidFill>
                  <a:srgbClr val="6B7280"/>
                </a:solidFill>
                <a:latin typeface="맑은 고딕" pitchFamily="34" charset="0"/>
                <a:ea typeface="맑은 고딕" pitchFamily="34" charset="-122"/>
                <a:cs typeface="맑은 고딕" pitchFamily="34" charset="-120"/>
              </a:rPr>
              <a:t>보행자 존재를 보지 않아</a:t>
            </a:r>
            <a:endParaRPr lang="en-US" sz="1150" dirty="0"/>
          </a:p>
          <a:p>
            <a:pPr marL="0" indent="0">
              <a:lnSpc>
                <a:spcPts val="1700"/>
              </a:lnSpc>
              <a:buNone/>
            </a:pPr>
            <a:r>
              <a:rPr lang="en-US" sz="1150" dirty="0">
                <a:solidFill>
                  <a:srgbClr val="6B7280"/>
                </a:solidFill>
                <a:latin typeface="맑은 고딕" pitchFamily="34" charset="0"/>
                <a:ea typeface="맑은 고딕" pitchFamily="34" charset="-122"/>
                <a:cs typeface="맑은 고딕" pitchFamily="34" charset="-120"/>
              </a:rPr>
              <a:t>제27조 판단 자체가 불가</a:t>
            </a:r>
            <a:endParaRPr lang="en-US" sz="1150" dirty="0"/>
          </a:p>
        </p:txBody>
      </p:sp>
      <p:sp>
        <p:nvSpPr>
          <p:cNvPr id="18" name="Text 16"/>
          <p:cNvSpPr txBox="1"/>
          <p:nvPr/>
        </p:nvSpPr>
        <p:spPr>
          <a:xfrm>
            <a:off x="6355080" y="2487168"/>
            <a:ext cx="5486400" cy="320040"/>
          </a:xfrm>
          <a:prstGeom prst="rect">
            <a:avLst/>
          </a:prstGeom>
          <a:noFill/>
          <a:ln/>
        </p:spPr>
        <p:txBody>
          <a:bodyPr wrap="square" lIns="0" tIns="0" rIns="0" bIns="0" rtlCol="0" anchor="ctr"/>
          <a:lstStyle/>
          <a:p>
            <a:pPr marL="0" indent="0">
              <a:buNone/>
            </a:pPr>
            <a:r>
              <a:rPr lang="en-US" sz="1500" b="1" dirty="0">
                <a:solidFill>
                  <a:srgbClr val="F2A63B"/>
                </a:solidFill>
                <a:latin typeface="맑은 고딕" pitchFamily="34" charset="0"/>
                <a:ea typeface="맑은 고딕" pitchFamily="34" charset="-122"/>
                <a:cs typeface="맑은 고딕" pitchFamily="34" charset="-120"/>
              </a:rPr>
              <a:t>본 프로젝트</a:t>
            </a:r>
            <a:endParaRPr lang="en-US" sz="1500" dirty="0"/>
          </a:p>
        </p:txBody>
      </p:sp>
      <p:sp>
        <p:nvSpPr>
          <p:cNvPr id="19" name="Shape 17"/>
          <p:cNvSpPr/>
          <p:nvPr/>
        </p:nvSpPr>
        <p:spPr>
          <a:xfrm>
            <a:off x="6355080" y="2880360"/>
            <a:ext cx="5285232" cy="3364992"/>
          </a:xfrm>
          <a:prstGeom prst="roundRect">
            <a:avLst>
              <a:gd name="adj" fmla="val 2174"/>
            </a:avLst>
          </a:prstGeom>
          <a:solidFill>
            <a:srgbClr val="14213D"/>
          </a:solidFill>
          <a:ln w="12700">
            <a:solidFill>
              <a:srgbClr val="14213D"/>
            </a:solidFill>
            <a:prstDash val="solid"/>
          </a:ln>
        </p:spPr>
      </p:sp>
      <p:sp>
        <p:nvSpPr>
          <p:cNvPr id="20" name="Shape 18"/>
          <p:cNvSpPr/>
          <p:nvPr/>
        </p:nvSpPr>
        <p:spPr>
          <a:xfrm>
            <a:off x="6629400" y="3200400"/>
            <a:ext cx="292608" cy="292608"/>
          </a:xfrm>
          <a:prstGeom prst="ellipse">
            <a:avLst/>
          </a:prstGeom>
          <a:solidFill>
            <a:srgbClr val="F2A63B"/>
          </a:solidFill>
          <a:ln/>
        </p:spPr>
      </p:sp>
      <p:sp>
        <p:nvSpPr>
          <p:cNvPr id="21" name="Text 19"/>
          <p:cNvSpPr txBox="1"/>
          <p:nvPr/>
        </p:nvSpPr>
        <p:spPr>
          <a:xfrm>
            <a:off x="7059168" y="3154680"/>
            <a:ext cx="4343400" cy="347472"/>
          </a:xfrm>
          <a:prstGeom prst="rect">
            <a:avLst/>
          </a:prstGeom>
          <a:noFill/>
          <a:ln/>
        </p:spPr>
        <p:txBody>
          <a:bodyPr wrap="square" lIns="0" tIns="0" rIns="0" bIns="0" rtlCol="0" anchor="ctr"/>
          <a:lstStyle/>
          <a:p>
            <a:pPr marL="0" indent="0">
              <a:buNone/>
            </a:pPr>
            <a:r>
              <a:rPr lang="en-US" sz="1400" b="1" dirty="0">
                <a:solidFill>
                  <a:srgbClr val="FFFFFF"/>
                </a:solidFill>
                <a:latin typeface="맑은 고딕" pitchFamily="34" charset="0"/>
                <a:ea typeface="맑은 고딕" pitchFamily="34" charset="-122"/>
                <a:cs typeface="맑은 고딕" pitchFamily="34" charset="-120"/>
              </a:rPr>
              <a:t>법 조문을 그대로 로직으로</a:t>
            </a:r>
            <a:endParaRPr lang="en-US" sz="1400" dirty="0"/>
          </a:p>
        </p:txBody>
      </p:sp>
      <p:sp>
        <p:nvSpPr>
          <p:cNvPr id="22" name="Text 20"/>
          <p:cNvSpPr txBox="1"/>
          <p:nvPr/>
        </p:nvSpPr>
        <p:spPr>
          <a:xfrm>
            <a:off x="7059168" y="3557016"/>
            <a:ext cx="4343400" cy="566928"/>
          </a:xfrm>
          <a:prstGeom prst="rect">
            <a:avLst/>
          </a:prstGeom>
          <a:noFill/>
          <a:ln/>
        </p:spPr>
        <p:txBody>
          <a:bodyPr wrap="square" lIns="0" tIns="0" rIns="0" bIns="0" rtlCol="0" anchor="t"/>
          <a:lstStyle/>
          <a:p>
            <a:pPr marL="0" indent="0">
              <a:lnSpc>
                <a:spcPts val="1600"/>
              </a:lnSpc>
              <a:buNone/>
            </a:pPr>
            <a:r>
              <a:rPr lang="en-US" sz="1150">
                <a:solidFill>
                  <a:srgbClr val="B6C1D0"/>
                </a:solidFill>
                <a:latin typeface="맑은 고딕" pitchFamily="34" charset="0"/>
                <a:ea typeface="맑은 고딕" pitchFamily="34" charset="-122"/>
                <a:cs typeface="맑은 고딕" pitchFamily="34" charset="-120"/>
              </a:rPr>
              <a:t>제 27조가 요구하는</a:t>
            </a:r>
          </a:p>
          <a:p>
            <a:pPr marL="0" indent="0">
              <a:lnSpc>
                <a:spcPts val="1600"/>
              </a:lnSpc>
              <a:buNone/>
            </a:pPr>
            <a:r>
              <a:rPr lang="en-US" sz="1150">
                <a:solidFill>
                  <a:srgbClr val="B6C1D0"/>
                </a:solidFill>
                <a:latin typeface="맑은 고딕" pitchFamily="34" charset="0"/>
                <a:ea typeface="맑은 고딕" pitchFamily="34" charset="-122"/>
                <a:cs typeface="맑은 고딕" pitchFamily="34" charset="-120"/>
              </a:rPr>
              <a:t> </a:t>
            </a:r>
            <a:r>
              <a:rPr lang="en-US" sz="1150" dirty="0">
                <a:solidFill>
                  <a:srgbClr val="B6C1D0"/>
                </a:solidFill>
                <a:latin typeface="맑은 고딕" pitchFamily="34" charset="0"/>
                <a:ea typeface="맑은 고딕" pitchFamily="34" charset="-122"/>
                <a:cs typeface="맑은 고딕" pitchFamily="34" charset="-120"/>
              </a:rPr>
              <a:t>'보행자 존재 + 정지 의무'를 판정 규칙으로 구현</a:t>
            </a:r>
            <a:endParaRPr lang="en-US" sz="1150" dirty="0"/>
          </a:p>
        </p:txBody>
      </p:sp>
      <p:sp>
        <p:nvSpPr>
          <p:cNvPr id="23" name="Shape 21"/>
          <p:cNvSpPr/>
          <p:nvPr/>
        </p:nvSpPr>
        <p:spPr>
          <a:xfrm>
            <a:off x="6629400" y="4251960"/>
            <a:ext cx="292608" cy="292608"/>
          </a:xfrm>
          <a:prstGeom prst="ellipse">
            <a:avLst/>
          </a:prstGeom>
          <a:solidFill>
            <a:srgbClr val="F2A63B"/>
          </a:solidFill>
          <a:ln/>
        </p:spPr>
      </p:sp>
      <p:sp>
        <p:nvSpPr>
          <p:cNvPr id="24" name="Text 22"/>
          <p:cNvSpPr txBox="1"/>
          <p:nvPr/>
        </p:nvSpPr>
        <p:spPr>
          <a:xfrm>
            <a:off x="7059168" y="4206240"/>
            <a:ext cx="4343400" cy="347472"/>
          </a:xfrm>
          <a:prstGeom prst="rect">
            <a:avLst/>
          </a:prstGeom>
          <a:noFill/>
          <a:ln/>
        </p:spPr>
        <p:txBody>
          <a:bodyPr wrap="square" lIns="0" tIns="0" rIns="0" bIns="0" rtlCol="0" anchor="ctr"/>
          <a:lstStyle/>
          <a:p>
            <a:pPr marL="0" indent="0">
              <a:buNone/>
            </a:pPr>
            <a:r>
              <a:rPr lang="en-US" sz="1400" b="1" dirty="0">
                <a:solidFill>
                  <a:srgbClr val="FFFFFF"/>
                </a:solidFill>
                <a:latin typeface="맑은 고딕" pitchFamily="34" charset="0"/>
                <a:ea typeface="맑은 고딕" pitchFamily="34" charset="-122"/>
                <a:cs typeface="맑은 고딕" pitchFamily="34" charset="-120"/>
              </a:rPr>
              <a:t>기존 CCTV 그대로 활용</a:t>
            </a:r>
            <a:endParaRPr lang="en-US" sz="1400" dirty="0"/>
          </a:p>
        </p:txBody>
      </p:sp>
      <p:sp>
        <p:nvSpPr>
          <p:cNvPr id="25" name="Text 23"/>
          <p:cNvSpPr txBox="1"/>
          <p:nvPr/>
        </p:nvSpPr>
        <p:spPr>
          <a:xfrm>
            <a:off x="7059168" y="4608576"/>
            <a:ext cx="4343400" cy="566928"/>
          </a:xfrm>
          <a:prstGeom prst="rect">
            <a:avLst/>
          </a:prstGeom>
          <a:noFill/>
          <a:ln/>
        </p:spPr>
        <p:txBody>
          <a:bodyPr wrap="square" lIns="0" tIns="0" rIns="0" bIns="0" rtlCol="0" anchor="t"/>
          <a:lstStyle/>
          <a:p>
            <a:pPr marL="0" indent="0">
              <a:lnSpc>
                <a:spcPts val="1600"/>
              </a:lnSpc>
              <a:buNone/>
            </a:pPr>
            <a:r>
              <a:rPr lang="en-US" sz="1150" dirty="0">
                <a:solidFill>
                  <a:srgbClr val="B6C1D0"/>
                </a:solidFill>
                <a:latin typeface="맑은 고딕" pitchFamily="34" charset="0"/>
                <a:ea typeface="맑은 고딕" pitchFamily="34" charset="-122"/>
                <a:cs typeface="맑은 고딕" pitchFamily="34" charset="-120"/>
              </a:rPr>
              <a:t>새 장비 설치 없이 이미 찍힌 영상만으로 동작</a:t>
            </a:r>
            <a:endParaRPr lang="en-US" sz="1150" dirty="0"/>
          </a:p>
        </p:txBody>
      </p:sp>
      <p:sp>
        <p:nvSpPr>
          <p:cNvPr id="26" name="Shape 24"/>
          <p:cNvSpPr/>
          <p:nvPr/>
        </p:nvSpPr>
        <p:spPr>
          <a:xfrm>
            <a:off x="6629400" y="5303520"/>
            <a:ext cx="292608" cy="292608"/>
          </a:xfrm>
          <a:prstGeom prst="ellipse">
            <a:avLst/>
          </a:prstGeom>
          <a:solidFill>
            <a:srgbClr val="F2A63B"/>
          </a:solidFill>
          <a:ln/>
        </p:spPr>
      </p:sp>
      <p:sp>
        <p:nvSpPr>
          <p:cNvPr id="27" name="Text 25"/>
          <p:cNvSpPr txBox="1"/>
          <p:nvPr/>
        </p:nvSpPr>
        <p:spPr>
          <a:xfrm>
            <a:off x="7059168" y="5257800"/>
            <a:ext cx="4343400" cy="347472"/>
          </a:xfrm>
          <a:prstGeom prst="rect">
            <a:avLst/>
          </a:prstGeom>
          <a:noFill/>
          <a:ln/>
        </p:spPr>
        <p:txBody>
          <a:bodyPr wrap="square" lIns="0" tIns="0" rIns="0" bIns="0" rtlCol="0" anchor="ctr"/>
          <a:lstStyle/>
          <a:p>
            <a:pPr marL="0" indent="0">
              <a:buNone/>
            </a:pPr>
            <a:r>
              <a:rPr lang="en-US" sz="1400" b="1" dirty="0">
                <a:solidFill>
                  <a:srgbClr val="FFFFFF"/>
                </a:solidFill>
                <a:latin typeface="맑은 고딕" pitchFamily="34" charset="0"/>
                <a:ea typeface="맑은 고딕" pitchFamily="34" charset="-122"/>
                <a:cs typeface="맑은 고딕" pitchFamily="34" charset="-120"/>
              </a:rPr>
              <a:t>확정이 아닌 검토 지원</a:t>
            </a:r>
            <a:endParaRPr lang="en-US" sz="1400" dirty="0"/>
          </a:p>
        </p:txBody>
      </p:sp>
      <p:sp>
        <p:nvSpPr>
          <p:cNvPr id="28" name="Text 26"/>
          <p:cNvSpPr txBox="1"/>
          <p:nvPr/>
        </p:nvSpPr>
        <p:spPr>
          <a:xfrm>
            <a:off x="7059168" y="5660136"/>
            <a:ext cx="4343400" cy="566928"/>
          </a:xfrm>
          <a:prstGeom prst="rect">
            <a:avLst/>
          </a:prstGeom>
          <a:noFill/>
          <a:ln/>
        </p:spPr>
        <p:txBody>
          <a:bodyPr wrap="square" lIns="0" tIns="0" rIns="0" bIns="0" rtlCol="0" anchor="t"/>
          <a:lstStyle/>
          <a:p>
            <a:pPr marL="0" indent="0">
              <a:lnSpc>
                <a:spcPts val="1600"/>
              </a:lnSpc>
              <a:buNone/>
            </a:pPr>
            <a:r>
              <a:rPr lang="en-US" sz="1150" dirty="0">
                <a:solidFill>
                  <a:srgbClr val="B6C1D0"/>
                </a:solidFill>
                <a:latin typeface="맑은 고딕" pitchFamily="34" charset="0"/>
                <a:ea typeface="맑은 고딕" pitchFamily="34" charset="-122"/>
                <a:cs typeface="맑은 고딕" pitchFamily="34" charset="-120"/>
              </a:rPr>
              <a:t>전후 영상 · 스냅샷 · 판단 근거를 함께 제공해 담당자가 최종 판단</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0">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F2A63B"/>
          </a:solidFill>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marL="0" indent="0" algn="ctr">
              <a:buNone/>
            </a:pPr>
            <a:r>
              <a:rPr lang="en-US" sz="1800" b="1" dirty="0">
                <a:solidFill>
                  <a:srgbClr val="14213D"/>
                </a:solidFill>
                <a:latin typeface="맑은 고딕" pitchFamily="34" charset="0"/>
                <a:ea typeface="맑은 고딕" pitchFamily="34" charset="-122"/>
                <a:cs typeface="맑은 고딕" pitchFamily="34" charset="-120"/>
              </a:rPr>
              <a:t>4</a:t>
            </a:r>
            <a:endParaRPr lang="en-US" sz="1800" dirty="0"/>
          </a:p>
        </p:txBody>
      </p:sp>
      <p:sp>
        <p:nvSpPr>
          <p:cNvPr id="4" name="Text 2"/>
          <p:cNvSpPr txBox="1"/>
          <p:nvPr/>
        </p:nvSpPr>
        <p:spPr>
          <a:xfrm>
            <a:off x="1170432" y="347472"/>
            <a:ext cx="7680960" cy="548640"/>
          </a:xfrm>
          <a:prstGeom prst="rect">
            <a:avLst/>
          </a:prstGeom>
          <a:noFill/>
          <a:ln/>
        </p:spPr>
        <p:txBody>
          <a:bodyPr wrap="square" lIns="0" tIns="0" rIns="0" bIns="0" rtlCol="0" anchor="ctr"/>
          <a:lstStyle/>
          <a:p>
            <a:pPr marL="0" indent="0" algn="l">
              <a:buNone/>
            </a:pPr>
            <a:r>
              <a:rPr lang="en-US" sz="3000" b="1" dirty="0">
                <a:solidFill>
                  <a:srgbClr val="14213D"/>
                </a:solidFill>
                <a:latin typeface="맑은 고딕" pitchFamily="34" charset="0"/>
                <a:ea typeface="맑은 고딕" pitchFamily="34" charset="-122"/>
                <a:cs typeface="맑은 고딕" pitchFamily="34" charset="-120"/>
              </a:rPr>
              <a:t>프로젝트 일정</a:t>
            </a:r>
            <a:endParaRPr lang="en-US" sz="3000" dirty="0"/>
          </a:p>
        </p:txBody>
      </p:sp>
      <p:sp>
        <p:nvSpPr>
          <p:cNvPr id="5" name="Text 3"/>
          <p:cNvSpPr txBox="1"/>
          <p:nvPr/>
        </p:nvSpPr>
        <p:spPr>
          <a:xfrm>
            <a:off x="1170432" y="896112"/>
            <a:ext cx="10424160" cy="310896"/>
          </a:xfrm>
          <a:prstGeom prst="rect">
            <a:avLst/>
          </a:prstGeom>
          <a:noFill/>
          <a:ln/>
        </p:spPr>
        <p:txBody>
          <a:bodyPr wrap="square" lIns="0" tIns="0" rIns="0" bIns="0" rtlCol="0" anchor="ctr"/>
          <a:lstStyle/>
          <a:p>
            <a:pPr marL="0" indent="0" algn="l">
              <a:buNone/>
            </a:pPr>
            <a:r>
              <a:rPr lang="en-US" sz="1300" dirty="0">
                <a:solidFill>
                  <a:srgbClr val="6B7280"/>
                </a:solidFill>
                <a:latin typeface="맑은 고딕" pitchFamily="34" charset="0"/>
                <a:ea typeface="맑은 고딕" pitchFamily="34" charset="-122"/>
                <a:cs typeface="맑은 고딕" pitchFamily="34" charset="-120"/>
              </a:rPr>
              <a:t>2026. 09. 04 ~ 09. 07 (4일)</a:t>
            </a:r>
            <a:endParaRPr lang="en-US" sz="1300" dirty="0"/>
          </a:p>
        </p:txBody>
      </p:sp>
      <p:sp>
        <p:nvSpPr>
          <p:cNvPr id="6" name="Shape 4"/>
          <p:cNvSpPr/>
          <p:nvPr/>
        </p:nvSpPr>
        <p:spPr>
          <a:xfrm>
            <a:off x="1280160" y="1874520"/>
            <a:ext cx="9692640" cy="36576"/>
          </a:xfrm>
          <a:prstGeom prst="rect">
            <a:avLst/>
          </a:prstGeom>
          <a:solidFill>
            <a:srgbClr val="DDE1E7"/>
          </a:solidFill>
          <a:ln/>
        </p:spPr>
      </p:sp>
      <p:sp>
        <p:nvSpPr>
          <p:cNvPr id="7" name="Shape 5"/>
          <p:cNvSpPr/>
          <p:nvPr/>
        </p:nvSpPr>
        <p:spPr>
          <a:xfrm>
            <a:off x="2240280" y="1709928"/>
            <a:ext cx="365760" cy="365760"/>
          </a:xfrm>
          <a:prstGeom prst="ellipse">
            <a:avLst/>
          </a:prstGeom>
          <a:solidFill>
            <a:srgbClr val="F2A63B"/>
          </a:solidFill>
          <a:ln/>
        </p:spPr>
      </p:sp>
      <p:sp>
        <p:nvSpPr>
          <p:cNvPr id="8" name="Text 6"/>
          <p:cNvSpPr txBox="1"/>
          <p:nvPr/>
        </p:nvSpPr>
        <p:spPr>
          <a:xfrm>
            <a:off x="2240280" y="1709928"/>
            <a:ext cx="365760" cy="365760"/>
          </a:xfrm>
          <a:prstGeom prst="rect">
            <a:avLst/>
          </a:prstGeom>
          <a:noFill/>
          <a:ln/>
        </p:spPr>
        <p:txBody>
          <a:bodyPr wrap="square" lIns="0" tIns="0" rIns="0" bIns="0" rtlCol="0" anchor="ctr"/>
          <a:lstStyle/>
          <a:p>
            <a:pPr marL="0" indent="0" algn="ctr">
              <a:buNone/>
            </a:pPr>
            <a:r>
              <a:rPr lang="en-US" sz="1300" b="1" dirty="0">
                <a:solidFill>
                  <a:srgbClr val="14213D"/>
                </a:solidFill>
                <a:latin typeface="맑은 고딕" pitchFamily="34" charset="0"/>
                <a:ea typeface="맑은 고딕" pitchFamily="34" charset="-122"/>
                <a:cs typeface="맑은 고딕" pitchFamily="34" charset="-120"/>
              </a:rPr>
              <a:t>1</a:t>
            </a:r>
            <a:endParaRPr lang="en-US" sz="1300" dirty="0"/>
          </a:p>
        </p:txBody>
      </p:sp>
      <p:sp>
        <p:nvSpPr>
          <p:cNvPr id="9" name="Shape 7"/>
          <p:cNvSpPr/>
          <p:nvPr/>
        </p:nvSpPr>
        <p:spPr>
          <a:xfrm>
            <a:off x="640080" y="2377440"/>
            <a:ext cx="3566160" cy="3246120"/>
          </a:xfrm>
          <a:prstGeom prst="roundRect">
            <a:avLst>
              <a:gd name="adj" fmla="val 2254"/>
            </a:avLst>
          </a:prstGeom>
          <a:solidFill>
            <a:srgbClr val="FFFFFF"/>
          </a:solidFill>
          <a:ln w="12700">
            <a:solidFill>
              <a:srgbClr val="DDE1E7"/>
            </a:solidFill>
            <a:prstDash val="solid"/>
          </a:ln>
        </p:spPr>
      </p:sp>
      <p:sp>
        <p:nvSpPr>
          <p:cNvPr id="10" name="Text 8"/>
          <p:cNvSpPr txBox="1"/>
          <p:nvPr/>
        </p:nvSpPr>
        <p:spPr>
          <a:xfrm>
            <a:off x="896112" y="2578608"/>
            <a:ext cx="3063240" cy="310896"/>
          </a:xfrm>
          <a:prstGeom prst="rect">
            <a:avLst/>
          </a:prstGeom>
          <a:noFill/>
          <a:ln/>
        </p:spPr>
        <p:txBody>
          <a:bodyPr wrap="square" lIns="0" tIns="0" rIns="0" bIns="0" rtlCol="0" anchor="ctr"/>
          <a:lstStyle/>
          <a:p>
            <a:pPr marL="0" indent="0">
              <a:buNone/>
            </a:pPr>
            <a:r>
              <a:rPr lang="en-US" sz="1500" b="1" dirty="0">
                <a:solidFill>
                  <a:srgbClr val="F2A63B"/>
                </a:solidFill>
                <a:latin typeface="맑은 고딕" pitchFamily="34" charset="0"/>
                <a:ea typeface="맑은 고딕" pitchFamily="34" charset="-122"/>
                <a:cs typeface="맑은 고딕" pitchFamily="34" charset="-120"/>
              </a:rPr>
              <a:t>09.04</a:t>
            </a:r>
            <a:endParaRPr lang="en-US" sz="1500" dirty="0"/>
          </a:p>
        </p:txBody>
      </p:sp>
      <p:sp>
        <p:nvSpPr>
          <p:cNvPr id="11" name="Text 9"/>
          <p:cNvSpPr txBox="1"/>
          <p:nvPr/>
        </p:nvSpPr>
        <p:spPr>
          <a:xfrm>
            <a:off x="896112" y="2926080"/>
            <a:ext cx="3063240" cy="329184"/>
          </a:xfrm>
          <a:prstGeom prst="rect">
            <a:avLst/>
          </a:prstGeom>
          <a:noFill/>
          <a:ln/>
        </p:spPr>
        <p:txBody>
          <a:bodyPr wrap="square" lIns="0" tIns="0" rIns="0" bIns="0" rtlCol="0" anchor="ctr"/>
          <a:lstStyle/>
          <a:p>
            <a:pPr marL="0" indent="0">
              <a:buNone/>
            </a:pPr>
            <a:r>
              <a:rPr lang="en-US" sz="1700" b="1" dirty="0">
                <a:solidFill>
                  <a:srgbClr val="14213D"/>
                </a:solidFill>
                <a:latin typeface="맑은 고딕" pitchFamily="34" charset="0"/>
                <a:ea typeface="맑은 고딕" pitchFamily="34" charset="-122"/>
                <a:cs typeface="맑은 고딕" pitchFamily="34" charset="-120"/>
              </a:rPr>
              <a:t>주제 선정</a:t>
            </a:r>
            <a:endParaRPr lang="en-US" sz="1700" dirty="0"/>
          </a:p>
        </p:txBody>
      </p:sp>
      <p:sp>
        <p:nvSpPr>
          <p:cNvPr id="12" name="Shape 10"/>
          <p:cNvSpPr/>
          <p:nvPr/>
        </p:nvSpPr>
        <p:spPr>
          <a:xfrm>
            <a:off x="896112" y="3364992"/>
            <a:ext cx="3063240" cy="18288"/>
          </a:xfrm>
          <a:prstGeom prst="rect">
            <a:avLst/>
          </a:prstGeom>
          <a:solidFill>
            <a:srgbClr val="DDE1E7"/>
          </a:solidFill>
          <a:ln/>
        </p:spPr>
      </p:sp>
      <p:sp>
        <p:nvSpPr>
          <p:cNvPr id="13" name="Text 11"/>
          <p:cNvSpPr txBox="1"/>
          <p:nvPr/>
        </p:nvSpPr>
        <p:spPr>
          <a:xfrm>
            <a:off x="1051560" y="3547872"/>
            <a:ext cx="2926080" cy="1920240"/>
          </a:xfrm>
          <a:prstGeom prst="rect">
            <a:avLst/>
          </a:prstGeom>
          <a:noFill/>
          <a:ln/>
        </p:spPr>
        <p:txBody>
          <a:bodyPr wrap="square" lIns="0" tIns="0" rIns="0" bIns="0" rtlCol="0" anchor="t"/>
          <a:lstStyle/>
          <a:p>
            <a:pPr marL="342900" indent="-342900">
              <a:lnSpc>
                <a:spcPts val="1800"/>
              </a:lnSpc>
              <a:spcAft>
                <a:spcPts val="900"/>
              </a:spcAft>
              <a:buSzPct val="100000"/>
              <a:buChar char="•"/>
            </a:pPr>
            <a:r>
              <a:rPr lang="en-US" sz="1200" dirty="0">
                <a:solidFill>
                  <a:srgbClr val="1F2937"/>
                </a:solidFill>
                <a:latin typeface="맑은 고딕" pitchFamily="34" charset="0"/>
                <a:ea typeface="맑은 고딕" pitchFamily="34" charset="-122"/>
                <a:cs typeface="맑은 고딕" pitchFamily="34" charset="-120"/>
              </a:rPr>
              <a:t>문제 정의 및 주제 확정</a:t>
            </a:r>
            <a:endParaRPr lang="en-US" sz="1200" dirty="0"/>
          </a:p>
          <a:p>
            <a:pPr marL="342900" indent="-342900">
              <a:lnSpc>
                <a:spcPts val="1800"/>
              </a:lnSpc>
              <a:spcAft>
                <a:spcPts val="900"/>
              </a:spcAft>
              <a:buSzPct val="100000"/>
              <a:buChar char="•"/>
            </a:pPr>
            <a:r>
              <a:rPr lang="en-US" sz="1200" dirty="0">
                <a:solidFill>
                  <a:srgbClr val="1F2937"/>
                </a:solidFill>
                <a:latin typeface="맑은 고딕" pitchFamily="34" charset="0"/>
                <a:ea typeface="맑은 고딕" pitchFamily="34" charset="-122"/>
                <a:cs typeface="맑은 고딕" pitchFamily="34" charset="-120"/>
              </a:rPr>
              <a:t>도로교통법 제27조 요건 분석</a:t>
            </a:r>
            <a:endParaRPr lang="en-US" sz="1200" dirty="0"/>
          </a:p>
          <a:p>
            <a:pPr marL="342900" indent="-342900">
              <a:lnSpc>
                <a:spcPts val="1800"/>
              </a:lnSpc>
              <a:spcAft>
                <a:spcPts val="900"/>
              </a:spcAft>
              <a:buSzPct val="100000"/>
              <a:buChar char="•"/>
            </a:pPr>
            <a:r>
              <a:rPr lang="en-US" sz="1200" dirty="0">
                <a:solidFill>
                  <a:srgbClr val="1F2937"/>
                </a:solidFill>
                <a:latin typeface="맑은 고딕" pitchFamily="34" charset="0"/>
                <a:ea typeface="맑은 고딕" pitchFamily="34" charset="-122"/>
                <a:cs typeface="맑은 고딕" pitchFamily="34" charset="-120"/>
              </a:rPr>
              <a:t>기존 유사 서비스 조사</a:t>
            </a:r>
            <a:endParaRPr lang="en-US" sz="1200" dirty="0"/>
          </a:p>
        </p:txBody>
      </p:sp>
      <p:sp>
        <p:nvSpPr>
          <p:cNvPr id="14" name="Shape 12"/>
          <p:cNvSpPr/>
          <p:nvPr/>
        </p:nvSpPr>
        <p:spPr>
          <a:xfrm>
            <a:off x="6035040" y="1709928"/>
            <a:ext cx="365760" cy="365760"/>
          </a:xfrm>
          <a:prstGeom prst="ellipse">
            <a:avLst/>
          </a:prstGeom>
          <a:solidFill>
            <a:srgbClr val="F2A63B"/>
          </a:solidFill>
          <a:ln/>
        </p:spPr>
      </p:sp>
      <p:sp>
        <p:nvSpPr>
          <p:cNvPr id="15" name="Text 13"/>
          <p:cNvSpPr txBox="1"/>
          <p:nvPr/>
        </p:nvSpPr>
        <p:spPr>
          <a:xfrm>
            <a:off x="6035040" y="1709928"/>
            <a:ext cx="365760" cy="365760"/>
          </a:xfrm>
          <a:prstGeom prst="rect">
            <a:avLst/>
          </a:prstGeom>
          <a:noFill/>
          <a:ln/>
        </p:spPr>
        <p:txBody>
          <a:bodyPr wrap="square" lIns="0" tIns="0" rIns="0" bIns="0" rtlCol="0" anchor="ctr"/>
          <a:lstStyle/>
          <a:p>
            <a:pPr marL="0" indent="0" algn="ctr">
              <a:buNone/>
            </a:pPr>
            <a:r>
              <a:rPr lang="en-US" sz="1300" b="1" dirty="0">
                <a:solidFill>
                  <a:srgbClr val="14213D"/>
                </a:solidFill>
                <a:latin typeface="맑은 고딕" pitchFamily="34" charset="0"/>
                <a:ea typeface="맑은 고딕" pitchFamily="34" charset="-122"/>
                <a:cs typeface="맑은 고딕" pitchFamily="34" charset="-120"/>
              </a:rPr>
              <a:t>2</a:t>
            </a:r>
            <a:endParaRPr lang="en-US" sz="1300" dirty="0"/>
          </a:p>
        </p:txBody>
      </p:sp>
      <p:sp>
        <p:nvSpPr>
          <p:cNvPr id="16" name="Shape 14"/>
          <p:cNvSpPr/>
          <p:nvPr/>
        </p:nvSpPr>
        <p:spPr>
          <a:xfrm>
            <a:off x="4434840" y="2377440"/>
            <a:ext cx="3566160" cy="3246120"/>
          </a:xfrm>
          <a:prstGeom prst="roundRect">
            <a:avLst>
              <a:gd name="adj" fmla="val 2254"/>
            </a:avLst>
          </a:prstGeom>
          <a:solidFill>
            <a:srgbClr val="FFFFFF"/>
          </a:solidFill>
          <a:ln w="12700">
            <a:solidFill>
              <a:srgbClr val="DDE1E7"/>
            </a:solidFill>
            <a:prstDash val="solid"/>
          </a:ln>
        </p:spPr>
      </p:sp>
      <p:sp>
        <p:nvSpPr>
          <p:cNvPr id="17" name="Text 15"/>
          <p:cNvSpPr txBox="1"/>
          <p:nvPr/>
        </p:nvSpPr>
        <p:spPr>
          <a:xfrm>
            <a:off x="4690872" y="2578608"/>
            <a:ext cx="3063240" cy="310896"/>
          </a:xfrm>
          <a:prstGeom prst="rect">
            <a:avLst/>
          </a:prstGeom>
          <a:noFill/>
          <a:ln/>
        </p:spPr>
        <p:txBody>
          <a:bodyPr wrap="square" lIns="0" tIns="0" rIns="0" bIns="0" rtlCol="0" anchor="ctr"/>
          <a:lstStyle/>
          <a:p>
            <a:pPr marL="0" indent="0">
              <a:buNone/>
            </a:pPr>
            <a:r>
              <a:rPr lang="en-US" sz="1500" b="1" dirty="0">
                <a:solidFill>
                  <a:srgbClr val="F2A63B"/>
                </a:solidFill>
                <a:latin typeface="맑은 고딕" pitchFamily="34" charset="0"/>
                <a:ea typeface="맑은 고딕" pitchFamily="34" charset="-122"/>
                <a:cs typeface="맑은 고딕" pitchFamily="34" charset="-120"/>
              </a:rPr>
              <a:t>09.05 – 09.06</a:t>
            </a:r>
            <a:endParaRPr lang="en-US" sz="1500" dirty="0"/>
          </a:p>
        </p:txBody>
      </p:sp>
      <p:sp>
        <p:nvSpPr>
          <p:cNvPr id="18" name="Text 16"/>
          <p:cNvSpPr txBox="1"/>
          <p:nvPr/>
        </p:nvSpPr>
        <p:spPr>
          <a:xfrm>
            <a:off x="4690872" y="2926080"/>
            <a:ext cx="3063240" cy="329184"/>
          </a:xfrm>
          <a:prstGeom prst="rect">
            <a:avLst/>
          </a:prstGeom>
          <a:noFill/>
          <a:ln/>
        </p:spPr>
        <p:txBody>
          <a:bodyPr wrap="square" lIns="0" tIns="0" rIns="0" bIns="0" rtlCol="0" anchor="ctr"/>
          <a:lstStyle/>
          <a:p>
            <a:pPr marL="0" indent="0">
              <a:buNone/>
            </a:pPr>
            <a:r>
              <a:rPr lang="en-US" sz="1700" b="1" dirty="0">
                <a:solidFill>
                  <a:srgbClr val="14213D"/>
                </a:solidFill>
                <a:latin typeface="맑은 고딕" pitchFamily="34" charset="0"/>
                <a:ea typeface="맑은 고딕" pitchFamily="34" charset="-122"/>
                <a:cs typeface="맑은 고딕" pitchFamily="34" charset="-120"/>
              </a:rPr>
              <a:t>판정 로직 · 데이터</a:t>
            </a:r>
            <a:endParaRPr lang="en-US" sz="1700" dirty="0"/>
          </a:p>
        </p:txBody>
      </p:sp>
      <p:sp>
        <p:nvSpPr>
          <p:cNvPr id="19" name="Shape 17"/>
          <p:cNvSpPr/>
          <p:nvPr/>
        </p:nvSpPr>
        <p:spPr>
          <a:xfrm>
            <a:off x="4690872" y="3364992"/>
            <a:ext cx="3063240" cy="18288"/>
          </a:xfrm>
          <a:prstGeom prst="rect">
            <a:avLst/>
          </a:prstGeom>
          <a:solidFill>
            <a:srgbClr val="DDE1E7"/>
          </a:solidFill>
          <a:ln/>
        </p:spPr>
      </p:sp>
      <p:sp>
        <p:nvSpPr>
          <p:cNvPr id="20" name="Text 18"/>
          <p:cNvSpPr txBox="1"/>
          <p:nvPr/>
        </p:nvSpPr>
        <p:spPr>
          <a:xfrm>
            <a:off x="4846320" y="3547872"/>
            <a:ext cx="2926080" cy="1920240"/>
          </a:xfrm>
          <a:prstGeom prst="rect">
            <a:avLst/>
          </a:prstGeom>
          <a:noFill/>
          <a:ln/>
        </p:spPr>
        <p:txBody>
          <a:bodyPr wrap="square" lIns="0" tIns="0" rIns="0" bIns="0" rtlCol="0" anchor="t"/>
          <a:lstStyle/>
          <a:p>
            <a:pPr marL="342900" indent="-342900">
              <a:lnSpc>
                <a:spcPts val="1800"/>
              </a:lnSpc>
              <a:spcAft>
                <a:spcPts val="900"/>
              </a:spcAft>
              <a:buSzPct val="100000"/>
              <a:buChar char="•"/>
            </a:pPr>
            <a:r>
              <a:rPr lang="en-US" sz="1200" dirty="0">
                <a:solidFill>
                  <a:srgbClr val="1F2937"/>
                </a:solidFill>
                <a:latin typeface="맑은 고딕" pitchFamily="34" charset="0"/>
                <a:ea typeface="맑은 고딕" pitchFamily="34" charset="-122"/>
                <a:cs typeface="맑은 고딕" pitchFamily="34" charset="-120"/>
              </a:rPr>
              <a:t>CCTV 영상 수집 및 전처리</a:t>
            </a:r>
            <a:endParaRPr lang="en-US" sz="1200" dirty="0"/>
          </a:p>
          <a:p>
            <a:pPr marL="342900" indent="-342900">
              <a:lnSpc>
                <a:spcPts val="1800"/>
              </a:lnSpc>
              <a:spcAft>
                <a:spcPts val="900"/>
              </a:spcAft>
              <a:buSzPct val="100000"/>
              <a:buChar char="•"/>
            </a:pPr>
            <a:r>
              <a:rPr lang="en-US" sz="1200" dirty="0">
                <a:solidFill>
                  <a:srgbClr val="1F2937"/>
                </a:solidFill>
                <a:latin typeface="맑은 고딕" pitchFamily="34" charset="0"/>
                <a:ea typeface="맑은 고딕" pitchFamily="34" charset="-122"/>
                <a:cs typeface="맑은 고딕" pitchFamily="34" charset="-120"/>
              </a:rPr>
              <a:t>보행자 상태 분류 로직 구현</a:t>
            </a:r>
            <a:endParaRPr lang="en-US" sz="1200" dirty="0"/>
          </a:p>
          <a:p>
            <a:pPr marL="342900" indent="-342900">
              <a:lnSpc>
                <a:spcPts val="1800"/>
              </a:lnSpc>
              <a:spcAft>
                <a:spcPts val="900"/>
              </a:spcAft>
              <a:buSzPct val="100000"/>
              <a:buChar char="•"/>
            </a:pPr>
            <a:r>
              <a:rPr lang="en-US" sz="1200" dirty="0">
                <a:solidFill>
                  <a:srgbClr val="1F2937"/>
                </a:solidFill>
                <a:latin typeface="맑은 고딕" pitchFamily="34" charset="0"/>
                <a:ea typeface="맑은 고딕" pitchFamily="34" charset="-122"/>
                <a:cs typeface="맑은 고딕" pitchFamily="34" charset="-120"/>
              </a:rPr>
              <a:t>차량 운동 상태 3단계 판정 구현</a:t>
            </a:r>
            <a:endParaRPr lang="en-US" sz="1200" dirty="0"/>
          </a:p>
          <a:p>
            <a:pPr marL="342900" indent="-342900">
              <a:lnSpc>
                <a:spcPts val="1800"/>
              </a:lnSpc>
              <a:spcAft>
                <a:spcPts val="900"/>
              </a:spcAft>
              <a:buSzPct val="100000"/>
              <a:buChar char="•"/>
            </a:pPr>
            <a:r>
              <a:rPr lang="en-US" sz="1200" dirty="0">
                <a:solidFill>
                  <a:srgbClr val="1F2937"/>
                </a:solidFill>
                <a:latin typeface="맑은 고딕" pitchFamily="34" charset="0"/>
                <a:ea typeface="맑은 고딕" pitchFamily="34" charset="-122"/>
                <a:cs typeface="맑은 고딕" pitchFamily="34" charset="-120"/>
              </a:rPr>
              <a:t>프레임 단위 위반 판정 로직 완성</a:t>
            </a:r>
            <a:endParaRPr lang="en-US" sz="1200" dirty="0"/>
          </a:p>
        </p:txBody>
      </p:sp>
      <p:sp>
        <p:nvSpPr>
          <p:cNvPr id="21" name="Shape 19"/>
          <p:cNvSpPr/>
          <p:nvPr/>
        </p:nvSpPr>
        <p:spPr>
          <a:xfrm>
            <a:off x="9829800" y="1709928"/>
            <a:ext cx="365760" cy="365760"/>
          </a:xfrm>
          <a:prstGeom prst="ellipse">
            <a:avLst/>
          </a:prstGeom>
          <a:solidFill>
            <a:srgbClr val="F2A63B"/>
          </a:solidFill>
          <a:ln/>
        </p:spPr>
      </p:sp>
      <p:sp>
        <p:nvSpPr>
          <p:cNvPr id="22" name="Text 20"/>
          <p:cNvSpPr txBox="1"/>
          <p:nvPr/>
        </p:nvSpPr>
        <p:spPr>
          <a:xfrm>
            <a:off x="9829800" y="1709928"/>
            <a:ext cx="365760" cy="365760"/>
          </a:xfrm>
          <a:prstGeom prst="rect">
            <a:avLst/>
          </a:prstGeom>
          <a:noFill/>
          <a:ln/>
        </p:spPr>
        <p:txBody>
          <a:bodyPr wrap="square" lIns="0" tIns="0" rIns="0" bIns="0" rtlCol="0" anchor="ctr"/>
          <a:lstStyle/>
          <a:p>
            <a:pPr marL="0" indent="0" algn="ctr">
              <a:buNone/>
            </a:pPr>
            <a:r>
              <a:rPr lang="en-US" sz="1300" b="1" dirty="0">
                <a:solidFill>
                  <a:srgbClr val="14213D"/>
                </a:solidFill>
                <a:latin typeface="맑은 고딕" pitchFamily="34" charset="0"/>
                <a:ea typeface="맑은 고딕" pitchFamily="34" charset="-122"/>
                <a:cs typeface="맑은 고딕" pitchFamily="34" charset="-120"/>
              </a:rPr>
              <a:t>3</a:t>
            </a:r>
            <a:endParaRPr lang="en-US" sz="1300" dirty="0"/>
          </a:p>
        </p:txBody>
      </p:sp>
      <p:sp>
        <p:nvSpPr>
          <p:cNvPr id="23" name="Shape 21"/>
          <p:cNvSpPr/>
          <p:nvPr/>
        </p:nvSpPr>
        <p:spPr>
          <a:xfrm>
            <a:off x="8229600" y="2377440"/>
            <a:ext cx="3566160" cy="3246120"/>
          </a:xfrm>
          <a:prstGeom prst="roundRect">
            <a:avLst>
              <a:gd name="adj" fmla="val 2254"/>
            </a:avLst>
          </a:prstGeom>
          <a:solidFill>
            <a:srgbClr val="FFFFFF"/>
          </a:solidFill>
          <a:ln w="12700">
            <a:solidFill>
              <a:srgbClr val="DDE1E7"/>
            </a:solidFill>
            <a:prstDash val="solid"/>
          </a:ln>
        </p:spPr>
      </p:sp>
      <p:sp>
        <p:nvSpPr>
          <p:cNvPr id="24" name="Text 22"/>
          <p:cNvSpPr txBox="1"/>
          <p:nvPr/>
        </p:nvSpPr>
        <p:spPr>
          <a:xfrm>
            <a:off x="8485632" y="2578608"/>
            <a:ext cx="3063240" cy="310896"/>
          </a:xfrm>
          <a:prstGeom prst="rect">
            <a:avLst/>
          </a:prstGeom>
          <a:noFill/>
          <a:ln/>
        </p:spPr>
        <p:txBody>
          <a:bodyPr wrap="square" lIns="0" tIns="0" rIns="0" bIns="0" rtlCol="0" anchor="ctr"/>
          <a:lstStyle/>
          <a:p>
            <a:pPr marL="0" indent="0">
              <a:buNone/>
            </a:pPr>
            <a:r>
              <a:rPr lang="en-US" sz="1500" b="1" dirty="0">
                <a:solidFill>
                  <a:srgbClr val="F2A63B"/>
                </a:solidFill>
                <a:latin typeface="맑은 고딕" pitchFamily="34" charset="0"/>
                <a:ea typeface="맑은 고딕" pitchFamily="34" charset="-122"/>
                <a:cs typeface="맑은 고딕" pitchFamily="34" charset="-120"/>
              </a:rPr>
              <a:t>09.07</a:t>
            </a:r>
            <a:endParaRPr lang="en-US" sz="1500" dirty="0"/>
          </a:p>
        </p:txBody>
      </p:sp>
      <p:sp>
        <p:nvSpPr>
          <p:cNvPr id="25" name="Text 23"/>
          <p:cNvSpPr txBox="1"/>
          <p:nvPr/>
        </p:nvSpPr>
        <p:spPr>
          <a:xfrm>
            <a:off x="8485632" y="2926080"/>
            <a:ext cx="3063240" cy="329184"/>
          </a:xfrm>
          <a:prstGeom prst="rect">
            <a:avLst/>
          </a:prstGeom>
          <a:noFill/>
          <a:ln/>
        </p:spPr>
        <p:txBody>
          <a:bodyPr wrap="square" lIns="0" tIns="0" rIns="0" bIns="0" rtlCol="0" anchor="ctr"/>
          <a:lstStyle/>
          <a:p>
            <a:pPr marL="0" indent="0">
              <a:buNone/>
            </a:pPr>
            <a:r>
              <a:rPr lang="en-US" sz="1700" b="1" dirty="0">
                <a:solidFill>
                  <a:srgbClr val="14213D"/>
                </a:solidFill>
                <a:latin typeface="맑은 고딕" pitchFamily="34" charset="0"/>
                <a:ea typeface="맑은 고딕" pitchFamily="34" charset="-122"/>
                <a:cs typeface="맑은 고딕" pitchFamily="34" charset="-120"/>
              </a:rPr>
              <a:t>파인튜닝 · UI</a:t>
            </a:r>
            <a:endParaRPr lang="en-US" sz="1700" dirty="0"/>
          </a:p>
        </p:txBody>
      </p:sp>
      <p:sp>
        <p:nvSpPr>
          <p:cNvPr id="26" name="Shape 24"/>
          <p:cNvSpPr/>
          <p:nvPr/>
        </p:nvSpPr>
        <p:spPr>
          <a:xfrm>
            <a:off x="8485632" y="3364992"/>
            <a:ext cx="3063240" cy="18288"/>
          </a:xfrm>
          <a:prstGeom prst="rect">
            <a:avLst/>
          </a:prstGeom>
          <a:solidFill>
            <a:srgbClr val="DDE1E7"/>
          </a:solidFill>
          <a:ln/>
        </p:spPr>
      </p:sp>
      <p:sp>
        <p:nvSpPr>
          <p:cNvPr id="27" name="Text 25"/>
          <p:cNvSpPr txBox="1"/>
          <p:nvPr/>
        </p:nvSpPr>
        <p:spPr>
          <a:xfrm>
            <a:off x="8641080" y="3547872"/>
            <a:ext cx="2926080" cy="1920240"/>
          </a:xfrm>
          <a:prstGeom prst="rect">
            <a:avLst/>
          </a:prstGeom>
          <a:noFill/>
          <a:ln/>
        </p:spPr>
        <p:txBody>
          <a:bodyPr wrap="square" lIns="0" tIns="0" rIns="0" bIns="0" rtlCol="0" anchor="t"/>
          <a:lstStyle/>
          <a:p>
            <a:pPr marL="342900" indent="-342900">
              <a:lnSpc>
                <a:spcPts val="1800"/>
              </a:lnSpc>
              <a:spcAft>
                <a:spcPts val="900"/>
              </a:spcAft>
              <a:buSzPct val="100000"/>
              <a:buChar char="•"/>
            </a:pPr>
            <a:r>
              <a:rPr lang="en-US" sz="1200" dirty="0">
                <a:solidFill>
                  <a:srgbClr val="1F2937"/>
                </a:solidFill>
                <a:latin typeface="맑은 고딕" pitchFamily="34" charset="0"/>
                <a:ea typeface="맑은 고딕" pitchFamily="34" charset="-122"/>
                <a:cs typeface="맑은 고딕" pitchFamily="34" charset="-120"/>
              </a:rPr>
              <a:t>오토바이 검출 모델 파인튜닝</a:t>
            </a:r>
            <a:endParaRPr lang="en-US" sz="1200" dirty="0"/>
          </a:p>
          <a:p>
            <a:pPr marL="342900" indent="-342900">
              <a:lnSpc>
                <a:spcPts val="1800"/>
              </a:lnSpc>
              <a:spcAft>
                <a:spcPts val="900"/>
              </a:spcAft>
              <a:buSzPct val="100000"/>
              <a:buChar char="•"/>
            </a:pPr>
            <a:r>
              <a:rPr lang="en-US" sz="1200" dirty="0">
                <a:solidFill>
                  <a:srgbClr val="1F2937"/>
                </a:solidFill>
                <a:latin typeface="맑은 고딕" pitchFamily="34" charset="0"/>
                <a:ea typeface="맑은 고딕" pitchFamily="34" charset="-122"/>
                <a:cs typeface="맑은 고딕" pitchFamily="34" charset="-120"/>
              </a:rPr>
              <a:t>파이프라인에 학습 모델 통합</a:t>
            </a:r>
            <a:endParaRPr lang="en-US" sz="1200" dirty="0"/>
          </a:p>
          <a:p>
            <a:pPr marL="342900" indent="-342900">
              <a:lnSpc>
                <a:spcPts val="1800"/>
              </a:lnSpc>
              <a:spcAft>
                <a:spcPts val="900"/>
              </a:spcAft>
              <a:buSzPct val="100000"/>
              <a:buChar char="•"/>
            </a:pPr>
            <a:r>
              <a:rPr lang="en-US" sz="1200" dirty="0">
                <a:solidFill>
                  <a:srgbClr val="1F2937"/>
                </a:solidFill>
                <a:latin typeface="맑은 고딕" pitchFamily="34" charset="0"/>
                <a:ea typeface="맑은 고딕" pitchFamily="34" charset="-122"/>
                <a:cs typeface="맑은 고딕" pitchFamily="34" charset="-120"/>
              </a:rPr>
              <a:t>위반 이벤트 병합 후처리 추가</a:t>
            </a:r>
            <a:endParaRPr lang="en-US" sz="1200" dirty="0"/>
          </a:p>
          <a:p>
            <a:pPr marL="342900" indent="-342900">
              <a:lnSpc>
                <a:spcPts val="1800"/>
              </a:lnSpc>
              <a:spcAft>
                <a:spcPts val="900"/>
              </a:spcAft>
              <a:buSzPct val="100000"/>
              <a:buChar char="•"/>
            </a:pPr>
            <a:r>
              <a:rPr lang="en-US" sz="1200" dirty="0">
                <a:solidFill>
                  <a:srgbClr val="1F2937"/>
                </a:solidFill>
                <a:latin typeface="맑은 고딕" pitchFamily="34" charset="0"/>
                <a:ea typeface="맑은 고딕" pitchFamily="34" charset="-122"/>
                <a:cs typeface="맑은 고딕" pitchFamily="34" charset="-120"/>
              </a:rPr>
              <a:t>Streamlit UI 개선 · CSV 내보내기</a:t>
            </a:r>
            <a:endParaRPr lang="en-US" sz="1200" dirty="0"/>
          </a:p>
        </p:txBody>
      </p:sp>
      <p:sp>
        <p:nvSpPr>
          <p:cNvPr id="28" name="Text 26"/>
          <p:cNvSpPr txBox="1"/>
          <p:nvPr/>
        </p:nvSpPr>
        <p:spPr>
          <a:xfrm>
            <a:off x="640080" y="5897880"/>
            <a:ext cx="10881360" cy="320040"/>
          </a:xfrm>
          <a:prstGeom prst="rect">
            <a:avLst/>
          </a:prstGeom>
          <a:noFill/>
          <a:ln/>
        </p:spPr>
        <p:txBody>
          <a:bodyPr wrap="square" lIns="0" tIns="0" rIns="0" bIns="0" rtlCol="0" anchor="ctr"/>
          <a:lstStyle/>
          <a:p>
            <a:pPr marL="0" indent="0">
              <a:buNone/>
            </a:pPr>
            <a:r>
              <a:rPr lang="en-US" sz="1250" dirty="0">
                <a:solidFill>
                  <a:srgbClr val="6B7280"/>
                </a:solidFill>
                <a:latin typeface="맑은 고딕" pitchFamily="34" charset="0"/>
                <a:ea typeface="맑은 고딕" pitchFamily="34" charset="-122"/>
                <a:cs typeface="맑은 고딕" pitchFamily="34" charset="-120"/>
              </a:rPr>
              <a:t>총 4일 · 주제 선정부터 학습 모델 통합과 웹 인터페이스 완성까지 진행</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F2A63B"/>
          </a:solidFill>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marL="0" indent="0" algn="ctr">
              <a:buNone/>
            </a:pPr>
            <a:r>
              <a:rPr lang="en-US" sz="1800" b="1" dirty="0">
                <a:solidFill>
                  <a:srgbClr val="14213D"/>
                </a:solidFill>
                <a:latin typeface="맑은 고딕" pitchFamily="34" charset="0"/>
                <a:ea typeface="맑은 고딕" pitchFamily="34" charset="-122"/>
              </a:rPr>
              <a:t>4</a:t>
            </a:r>
            <a:endParaRPr lang="en-US" sz="1800" dirty="0"/>
          </a:p>
        </p:txBody>
      </p:sp>
      <p:sp>
        <p:nvSpPr>
          <p:cNvPr id="4" name="Text 2"/>
          <p:cNvSpPr txBox="1"/>
          <p:nvPr/>
        </p:nvSpPr>
        <p:spPr>
          <a:xfrm>
            <a:off x="1170432" y="347472"/>
            <a:ext cx="7680960" cy="548640"/>
          </a:xfrm>
          <a:prstGeom prst="rect">
            <a:avLst/>
          </a:prstGeom>
          <a:noFill/>
          <a:ln/>
        </p:spPr>
        <p:txBody>
          <a:bodyPr wrap="square" lIns="0" tIns="0" rIns="0" bIns="0" rtlCol="0" anchor="ctr"/>
          <a:lstStyle/>
          <a:p>
            <a:pPr marL="0" indent="0" algn="l">
              <a:buNone/>
            </a:pPr>
            <a:r>
              <a:rPr lang="en-US" sz="3000" b="1" dirty="0">
                <a:solidFill>
                  <a:srgbClr val="14213D"/>
                </a:solidFill>
                <a:latin typeface="맑은 고딕" pitchFamily="34" charset="0"/>
                <a:ea typeface="맑은 고딕" pitchFamily="34" charset="-122"/>
                <a:cs typeface="맑은 고딕" pitchFamily="34" charset="-120"/>
              </a:rPr>
              <a:t>프로젝트 소개</a:t>
            </a:r>
            <a:endParaRPr lang="en-US" sz="3000" dirty="0"/>
          </a:p>
        </p:txBody>
      </p:sp>
      <p:sp>
        <p:nvSpPr>
          <p:cNvPr id="5" name="Text 3"/>
          <p:cNvSpPr txBox="1"/>
          <p:nvPr/>
        </p:nvSpPr>
        <p:spPr>
          <a:xfrm>
            <a:off x="1170432" y="896112"/>
            <a:ext cx="10424160" cy="310896"/>
          </a:xfrm>
          <a:prstGeom prst="rect">
            <a:avLst/>
          </a:prstGeom>
          <a:noFill/>
          <a:ln/>
        </p:spPr>
        <p:txBody>
          <a:bodyPr wrap="square" lIns="0" tIns="0" rIns="0" bIns="0" rtlCol="0" anchor="ctr"/>
          <a:lstStyle/>
          <a:p>
            <a:pPr marL="0" indent="0" algn="l">
              <a:buNone/>
            </a:pPr>
            <a:r>
              <a:rPr lang="en-US" sz="1300" dirty="0">
                <a:solidFill>
                  <a:srgbClr val="6B7280"/>
                </a:solidFill>
                <a:latin typeface="맑은 고딕" pitchFamily="34" charset="0"/>
                <a:ea typeface="맑은 고딕" pitchFamily="34" charset="-122"/>
                <a:cs typeface="맑은 고딕" pitchFamily="34" charset="-120"/>
              </a:rPr>
              <a:t>CCTV 영상 한 편을 넣으면, 위반 후보 목록이 나온다</a:t>
            </a:r>
            <a:endParaRPr lang="en-US" sz="1300" dirty="0"/>
          </a:p>
        </p:txBody>
      </p:sp>
      <p:sp>
        <p:nvSpPr>
          <p:cNvPr id="6" name="Shape 4"/>
          <p:cNvSpPr/>
          <p:nvPr/>
        </p:nvSpPr>
        <p:spPr>
          <a:xfrm>
            <a:off x="548640" y="1600200"/>
            <a:ext cx="2606040" cy="2651760"/>
          </a:xfrm>
          <a:prstGeom prst="roundRect">
            <a:avLst>
              <a:gd name="adj" fmla="val 2807"/>
            </a:avLst>
          </a:prstGeom>
          <a:solidFill>
            <a:srgbClr val="FFFFFF"/>
          </a:solidFill>
          <a:ln w="12700">
            <a:solidFill>
              <a:srgbClr val="DDE1E7"/>
            </a:solidFill>
            <a:prstDash val="solid"/>
          </a:ln>
        </p:spPr>
      </p:sp>
      <p:sp>
        <p:nvSpPr>
          <p:cNvPr id="7" name="Shape 5"/>
          <p:cNvSpPr/>
          <p:nvPr/>
        </p:nvSpPr>
        <p:spPr>
          <a:xfrm>
            <a:off x="786384" y="1847088"/>
            <a:ext cx="420624" cy="420624"/>
          </a:xfrm>
          <a:prstGeom prst="ellipse">
            <a:avLst/>
          </a:prstGeom>
          <a:solidFill>
            <a:srgbClr val="F2A63B"/>
          </a:solidFill>
          <a:ln/>
        </p:spPr>
      </p:sp>
      <p:sp>
        <p:nvSpPr>
          <p:cNvPr id="8" name="Text 6"/>
          <p:cNvSpPr txBox="1"/>
          <p:nvPr/>
        </p:nvSpPr>
        <p:spPr>
          <a:xfrm>
            <a:off x="786384" y="1847088"/>
            <a:ext cx="420624" cy="420624"/>
          </a:xfrm>
          <a:prstGeom prst="rect">
            <a:avLst/>
          </a:prstGeom>
          <a:noFill/>
          <a:ln/>
        </p:spPr>
        <p:txBody>
          <a:bodyPr wrap="square" lIns="0" tIns="0" rIns="0" bIns="0" rtlCol="0" anchor="ctr"/>
          <a:lstStyle/>
          <a:p>
            <a:pPr marL="0" indent="0" algn="ctr">
              <a:buNone/>
            </a:pPr>
            <a:r>
              <a:rPr lang="en-US" sz="1500" b="1" dirty="0">
                <a:solidFill>
                  <a:srgbClr val="14213D"/>
                </a:solidFill>
                <a:latin typeface="맑은 고딕" pitchFamily="34" charset="0"/>
                <a:ea typeface="맑은 고딕" pitchFamily="34" charset="-122"/>
                <a:cs typeface="맑은 고딕" pitchFamily="34" charset="-120"/>
              </a:rPr>
              <a:t>1</a:t>
            </a:r>
            <a:endParaRPr lang="en-US" sz="1500" dirty="0"/>
          </a:p>
        </p:txBody>
      </p:sp>
      <p:sp>
        <p:nvSpPr>
          <p:cNvPr id="9" name="Text 7"/>
          <p:cNvSpPr txBox="1"/>
          <p:nvPr/>
        </p:nvSpPr>
        <p:spPr>
          <a:xfrm>
            <a:off x="786384" y="2395728"/>
            <a:ext cx="2148840" cy="329184"/>
          </a:xfrm>
          <a:prstGeom prst="rect">
            <a:avLst/>
          </a:prstGeom>
          <a:noFill/>
          <a:ln/>
        </p:spPr>
        <p:txBody>
          <a:bodyPr wrap="square" lIns="0" tIns="0" rIns="0" bIns="0" rtlCol="0" anchor="ctr"/>
          <a:lstStyle/>
          <a:p>
            <a:pPr marL="0" indent="0">
              <a:buNone/>
            </a:pPr>
            <a:r>
              <a:rPr lang="en-US" sz="1500" b="1" dirty="0">
                <a:solidFill>
                  <a:srgbClr val="14213D"/>
                </a:solidFill>
                <a:latin typeface="맑은 고딕" pitchFamily="34" charset="0"/>
                <a:ea typeface="맑은 고딕" pitchFamily="34" charset="-122"/>
                <a:cs typeface="맑은 고딕" pitchFamily="34" charset="-120"/>
              </a:rPr>
              <a:t>영상 업로드</a:t>
            </a:r>
            <a:endParaRPr lang="en-US" sz="1500" dirty="0"/>
          </a:p>
        </p:txBody>
      </p:sp>
      <p:sp>
        <p:nvSpPr>
          <p:cNvPr id="10" name="Text 8"/>
          <p:cNvSpPr txBox="1"/>
          <p:nvPr/>
        </p:nvSpPr>
        <p:spPr>
          <a:xfrm>
            <a:off x="786384" y="2816352"/>
            <a:ext cx="2148840" cy="1188720"/>
          </a:xfrm>
          <a:prstGeom prst="rect">
            <a:avLst/>
          </a:prstGeom>
          <a:noFill/>
          <a:ln/>
        </p:spPr>
        <p:txBody>
          <a:bodyPr wrap="square" lIns="0" tIns="0" rIns="0" bIns="0" rtlCol="0" anchor="t"/>
          <a:lstStyle/>
          <a:p>
            <a:pPr marL="0" indent="0">
              <a:lnSpc>
                <a:spcPts val="1800"/>
              </a:lnSpc>
              <a:buNone/>
            </a:pPr>
            <a:r>
              <a:rPr lang="en-US" sz="1200" dirty="0">
                <a:solidFill>
                  <a:srgbClr val="6B7280"/>
                </a:solidFill>
                <a:latin typeface="맑은 고딕" pitchFamily="34" charset="0"/>
                <a:ea typeface="맑은 고딕" pitchFamily="34" charset="-122"/>
                <a:cs typeface="맑은 고딕" pitchFamily="34" charset="-120"/>
              </a:rPr>
              <a:t>분석할 CCTV 영상을</a:t>
            </a:r>
            <a:endParaRPr lang="en-US" sz="1200" dirty="0"/>
          </a:p>
          <a:p>
            <a:pPr marL="0" indent="0">
              <a:lnSpc>
                <a:spcPts val="1800"/>
              </a:lnSpc>
              <a:buNone/>
            </a:pPr>
            <a:r>
              <a:rPr lang="en-US" sz="1200" dirty="0">
                <a:solidFill>
                  <a:srgbClr val="6B7280"/>
                </a:solidFill>
                <a:latin typeface="맑은 고딕" pitchFamily="34" charset="0"/>
                <a:ea typeface="맑은 고딕" pitchFamily="34" charset="-122"/>
                <a:cs typeface="맑은 고딕" pitchFamily="34" charset="-120"/>
              </a:rPr>
              <a:t>웹에서 업로드</a:t>
            </a:r>
            <a:endParaRPr lang="en-US" sz="1200" dirty="0"/>
          </a:p>
        </p:txBody>
      </p:sp>
      <p:sp>
        <p:nvSpPr>
          <p:cNvPr id="11" name="Text 9"/>
          <p:cNvSpPr txBox="1"/>
          <p:nvPr/>
        </p:nvSpPr>
        <p:spPr>
          <a:xfrm>
            <a:off x="3182112" y="2377440"/>
            <a:ext cx="237744" cy="457200"/>
          </a:xfrm>
          <a:prstGeom prst="rect">
            <a:avLst/>
          </a:prstGeom>
          <a:noFill/>
          <a:ln/>
        </p:spPr>
        <p:txBody>
          <a:bodyPr wrap="square" lIns="0" tIns="0" rIns="0" bIns="0" rtlCol="0" anchor="ctr"/>
          <a:lstStyle/>
          <a:p>
            <a:pPr marL="0" indent="0" algn="ctr">
              <a:buNone/>
            </a:pPr>
            <a:r>
              <a:rPr lang="en-US" sz="2600" b="1" dirty="0">
                <a:solidFill>
                  <a:srgbClr val="F2A63B"/>
                </a:solidFill>
                <a:latin typeface="Arial" pitchFamily="34" charset="0"/>
                <a:ea typeface="Arial" pitchFamily="34" charset="-122"/>
                <a:cs typeface="Arial" pitchFamily="34" charset="-120"/>
              </a:rPr>
              <a:t>›</a:t>
            </a:r>
            <a:endParaRPr lang="en-US" sz="2600" dirty="0"/>
          </a:p>
        </p:txBody>
      </p:sp>
      <p:sp>
        <p:nvSpPr>
          <p:cNvPr id="12" name="Shape 10"/>
          <p:cNvSpPr/>
          <p:nvPr/>
        </p:nvSpPr>
        <p:spPr>
          <a:xfrm>
            <a:off x="3419856" y="1600200"/>
            <a:ext cx="2606040" cy="2651760"/>
          </a:xfrm>
          <a:prstGeom prst="roundRect">
            <a:avLst>
              <a:gd name="adj" fmla="val 2807"/>
            </a:avLst>
          </a:prstGeom>
          <a:solidFill>
            <a:srgbClr val="FFFFFF"/>
          </a:solidFill>
          <a:ln w="12700">
            <a:solidFill>
              <a:srgbClr val="DDE1E7"/>
            </a:solidFill>
            <a:prstDash val="solid"/>
          </a:ln>
        </p:spPr>
      </p:sp>
      <p:sp>
        <p:nvSpPr>
          <p:cNvPr id="13" name="Shape 11"/>
          <p:cNvSpPr/>
          <p:nvPr/>
        </p:nvSpPr>
        <p:spPr>
          <a:xfrm>
            <a:off x="3657600" y="1847088"/>
            <a:ext cx="420624" cy="420624"/>
          </a:xfrm>
          <a:prstGeom prst="ellipse">
            <a:avLst/>
          </a:prstGeom>
          <a:solidFill>
            <a:srgbClr val="F2A63B"/>
          </a:solidFill>
          <a:ln/>
        </p:spPr>
      </p:sp>
      <p:sp>
        <p:nvSpPr>
          <p:cNvPr id="14" name="Text 12"/>
          <p:cNvSpPr txBox="1"/>
          <p:nvPr/>
        </p:nvSpPr>
        <p:spPr>
          <a:xfrm>
            <a:off x="3657600" y="1847088"/>
            <a:ext cx="420624" cy="420624"/>
          </a:xfrm>
          <a:prstGeom prst="rect">
            <a:avLst/>
          </a:prstGeom>
          <a:noFill/>
          <a:ln/>
        </p:spPr>
        <p:txBody>
          <a:bodyPr wrap="square" lIns="0" tIns="0" rIns="0" bIns="0" rtlCol="0" anchor="ctr"/>
          <a:lstStyle/>
          <a:p>
            <a:pPr marL="0" indent="0" algn="ctr">
              <a:buNone/>
            </a:pPr>
            <a:r>
              <a:rPr lang="en-US" sz="1500" b="1" dirty="0">
                <a:solidFill>
                  <a:srgbClr val="14213D"/>
                </a:solidFill>
                <a:latin typeface="맑은 고딕" pitchFamily="34" charset="0"/>
                <a:ea typeface="맑은 고딕" pitchFamily="34" charset="-122"/>
                <a:cs typeface="맑은 고딕" pitchFamily="34" charset="-120"/>
              </a:rPr>
              <a:t>2</a:t>
            </a:r>
            <a:endParaRPr lang="en-US" sz="1500" dirty="0"/>
          </a:p>
        </p:txBody>
      </p:sp>
      <p:sp>
        <p:nvSpPr>
          <p:cNvPr id="15" name="Text 13"/>
          <p:cNvSpPr txBox="1"/>
          <p:nvPr/>
        </p:nvSpPr>
        <p:spPr>
          <a:xfrm>
            <a:off x="3657600" y="2395728"/>
            <a:ext cx="2148840" cy="329184"/>
          </a:xfrm>
          <a:prstGeom prst="rect">
            <a:avLst/>
          </a:prstGeom>
          <a:noFill/>
          <a:ln/>
        </p:spPr>
        <p:txBody>
          <a:bodyPr wrap="square" lIns="0" tIns="0" rIns="0" bIns="0" rtlCol="0" anchor="ctr"/>
          <a:lstStyle/>
          <a:p>
            <a:pPr marL="0" indent="0">
              <a:buNone/>
            </a:pPr>
            <a:r>
              <a:rPr lang="en-US" sz="1500" b="1" dirty="0">
                <a:solidFill>
                  <a:srgbClr val="14213D"/>
                </a:solidFill>
                <a:latin typeface="맑은 고딕" pitchFamily="34" charset="0"/>
                <a:ea typeface="맑은 고딕" pitchFamily="34" charset="-122"/>
                <a:cs typeface="맑은 고딕" pitchFamily="34" charset="-120"/>
              </a:rPr>
              <a:t>횡단보도 지정</a:t>
            </a:r>
            <a:endParaRPr lang="en-US" sz="1500" dirty="0"/>
          </a:p>
        </p:txBody>
      </p:sp>
      <p:sp>
        <p:nvSpPr>
          <p:cNvPr id="16" name="Text 14"/>
          <p:cNvSpPr txBox="1"/>
          <p:nvPr/>
        </p:nvSpPr>
        <p:spPr>
          <a:xfrm>
            <a:off x="3657600" y="2816352"/>
            <a:ext cx="2148840" cy="1188720"/>
          </a:xfrm>
          <a:prstGeom prst="rect">
            <a:avLst/>
          </a:prstGeom>
          <a:noFill/>
          <a:ln/>
        </p:spPr>
        <p:txBody>
          <a:bodyPr wrap="square" lIns="0" tIns="0" rIns="0" bIns="0" rtlCol="0" anchor="t"/>
          <a:lstStyle/>
          <a:p>
            <a:pPr marL="0" indent="0">
              <a:lnSpc>
                <a:spcPts val="1800"/>
              </a:lnSpc>
              <a:buNone/>
            </a:pPr>
            <a:r>
              <a:rPr lang="en-US" sz="1200" dirty="0">
                <a:solidFill>
                  <a:srgbClr val="6B7280"/>
                </a:solidFill>
                <a:latin typeface="맑은 고딕" pitchFamily="34" charset="0"/>
                <a:ea typeface="맑은 고딕" pitchFamily="34" charset="-122"/>
                <a:cs typeface="맑은 고딕" pitchFamily="34" charset="-120"/>
              </a:rPr>
              <a:t>판정할 횡단보도의</a:t>
            </a:r>
            <a:endParaRPr lang="en-US" sz="1200" dirty="0"/>
          </a:p>
          <a:p>
            <a:pPr marL="0" indent="0">
              <a:lnSpc>
                <a:spcPts val="1800"/>
              </a:lnSpc>
              <a:buNone/>
            </a:pPr>
            <a:r>
              <a:rPr lang="en-US" sz="1200" dirty="0">
                <a:solidFill>
                  <a:srgbClr val="6B7280"/>
                </a:solidFill>
                <a:latin typeface="맑은 고딕" pitchFamily="34" charset="0"/>
                <a:ea typeface="맑은 고딕" pitchFamily="34" charset="-122"/>
                <a:cs typeface="맑은 고딕" pitchFamily="34" charset="-120"/>
              </a:rPr>
              <a:t>네 모서리를 클릭</a:t>
            </a:r>
            <a:endParaRPr lang="en-US" sz="1200" dirty="0"/>
          </a:p>
        </p:txBody>
      </p:sp>
      <p:sp>
        <p:nvSpPr>
          <p:cNvPr id="17" name="Text 15"/>
          <p:cNvSpPr txBox="1"/>
          <p:nvPr/>
        </p:nvSpPr>
        <p:spPr>
          <a:xfrm>
            <a:off x="6053328" y="2377440"/>
            <a:ext cx="237744" cy="457200"/>
          </a:xfrm>
          <a:prstGeom prst="rect">
            <a:avLst/>
          </a:prstGeom>
          <a:noFill/>
          <a:ln/>
        </p:spPr>
        <p:txBody>
          <a:bodyPr wrap="square" lIns="0" tIns="0" rIns="0" bIns="0" rtlCol="0" anchor="ctr"/>
          <a:lstStyle/>
          <a:p>
            <a:pPr marL="0" indent="0" algn="ctr">
              <a:buNone/>
            </a:pPr>
            <a:r>
              <a:rPr lang="en-US" sz="2600" b="1" dirty="0">
                <a:solidFill>
                  <a:srgbClr val="F2A63B"/>
                </a:solidFill>
                <a:latin typeface="Arial" pitchFamily="34" charset="0"/>
                <a:ea typeface="Arial" pitchFamily="34" charset="-122"/>
                <a:cs typeface="Arial" pitchFamily="34" charset="-120"/>
              </a:rPr>
              <a:t>›</a:t>
            </a:r>
            <a:endParaRPr lang="en-US" sz="2600" dirty="0"/>
          </a:p>
        </p:txBody>
      </p:sp>
      <p:sp>
        <p:nvSpPr>
          <p:cNvPr id="18" name="Shape 16"/>
          <p:cNvSpPr/>
          <p:nvPr/>
        </p:nvSpPr>
        <p:spPr>
          <a:xfrm>
            <a:off x="6291072" y="1600200"/>
            <a:ext cx="2606040" cy="2651760"/>
          </a:xfrm>
          <a:prstGeom prst="roundRect">
            <a:avLst>
              <a:gd name="adj" fmla="val 2807"/>
            </a:avLst>
          </a:prstGeom>
          <a:solidFill>
            <a:srgbClr val="FFFFFF"/>
          </a:solidFill>
          <a:ln w="12700">
            <a:solidFill>
              <a:srgbClr val="DDE1E7"/>
            </a:solidFill>
            <a:prstDash val="solid"/>
          </a:ln>
        </p:spPr>
      </p:sp>
      <p:sp>
        <p:nvSpPr>
          <p:cNvPr id="19" name="Shape 17"/>
          <p:cNvSpPr/>
          <p:nvPr/>
        </p:nvSpPr>
        <p:spPr>
          <a:xfrm>
            <a:off x="6528816" y="1847088"/>
            <a:ext cx="420624" cy="420624"/>
          </a:xfrm>
          <a:prstGeom prst="ellipse">
            <a:avLst/>
          </a:prstGeom>
          <a:solidFill>
            <a:srgbClr val="F2A63B"/>
          </a:solidFill>
          <a:ln/>
        </p:spPr>
      </p:sp>
      <p:sp>
        <p:nvSpPr>
          <p:cNvPr id="20" name="Text 18"/>
          <p:cNvSpPr txBox="1"/>
          <p:nvPr/>
        </p:nvSpPr>
        <p:spPr>
          <a:xfrm>
            <a:off x="6528816" y="1847088"/>
            <a:ext cx="420624" cy="420624"/>
          </a:xfrm>
          <a:prstGeom prst="rect">
            <a:avLst/>
          </a:prstGeom>
          <a:noFill/>
          <a:ln/>
        </p:spPr>
        <p:txBody>
          <a:bodyPr wrap="square" lIns="0" tIns="0" rIns="0" bIns="0" rtlCol="0" anchor="ctr"/>
          <a:lstStyle/>
          <a:p>
            <a:pPr marL="0" indent="0" algn="ctr">
              <a:buNone/>
            </a:pPr>
            <a:r>
              <a:rPr lang="en-US" sz="1500" b="1" dirty="0">
                <a:solidFill>
                  <a:srgbClr val="14213D"/>
                </a:solidFill>
                <a:latin typeface="맑은 고딕" pitchFamily="34" charset="0"/>
                <a:ea typeface="맑은 고딕" pitchFamily="34" charset="-122"/>
                <a:cs typeface="맑은 고딕" pitchFamily="34" charset="-120"/>
              </a:rPr>
              <a:t>3</a:t>
            </a:r>
            <a:endParaRPr lang="en-US" sz="1500" dirty="0"/>
          </a:p>
        </p:txBody>
      </p:sp>
      <p:sp>
        <p:nvSpPr>
          <p:cNvPr id="21" name="Text 19"/>
          <p:cNvSpPr txBox="1"/>
          <p:nvPr/>
        </p:nvSpPr>
        <p:spPr>
          <a:xfrm>
            <a:off x="6528816" y="2395728"/>
            <a:ext cx="2148840" cy="329184"/>
          </a:xfrm>
          <a:prstGeom prst="rect">
            <a:avLst/>
          </a:prstGeom>
          <a:noFill/>
          <a:ln/>
        </p:spPr>
        <p:txBody>
          <a:bodyPr wrap="square" lIns="0" tIns="0" rIns="0" bIns="0" rtlCol="0" anchor="ctr"/>
          <a:lstStyle/>
          <a:p>
            <a:pPr marL="0" indent="0">
              <a:buNone/>
            </a:pPr>
            <a:r>
              <a:rPr lang="en-US" sz="1500" b="1" dirty="0">
                <a:solidFill>
                  <a:srgbClr val="14213D"/>
                </a:solidFill>
                <a:latin typeface="맑은 고딕" pitchFamily="34" charset="0"/>
                <a:ea typeface="맑은 고딕" pitchFamily="34" charset="-122"/>
                <a:cs typeface="맑은 고딕" pitchFamily="34" charset="-120"/>
              </a:rPr>
              <a:t>자동 분석</a:t>
            </a:r>
            <a:endParaRPr lang="en-US" sz="1500" dirty="0"/>
          </a:p>
        </p:txBody>
      </p:sp>
      <p:sp>
        <p:nvSpPr>
          <p:cNvPr id="22" name="Text 20"/>
          <p:cNvSpPr txBox="1"/>
          <p:nvPr/>
        </p:nvSpPr>
        <p:spPr>
          <a:xfrm>
            <a:off x="6528816" y="2816352"/>
            <a:ext cx="2148840" cy="1188720"/>
          </a:xfrm>
          <a:prstGeom prst="rect">
            <a:avLst/>
          </a:prstGeom>
          <a:noFill/>
          <a:ln/>
        </p:spPr>
        <p:txBody>
          <a:bodyPr wrap="square" lIns="0" tIns="0" rIns="0" bIns="0" rtlCol="0" anchor="t"/>
          <a:lstStyle/>
          <a:p>
            <a:pPr marL="0" indent="0">
              <a:lnSpc>
                <a:spcPts val="1800"/>
              </a:lnSpc>
              <a:buNone/>
            </a:pPr>
            <a:r>
              <a:rPr lang="en-US" sz="1200" dirty="0">
                <a:solidFill>
                  <a:srgbClr val="6B7280"/>
                </a:solidFill>
                <a:latin typeface="맑은 고딕" pitchFamily="34" charset="0"/>
                <a:ea typeface="맑은 고딕" pitchFamily="34" charset="-122"/>
                <a:cs typeface="맑은 고딕" pitchFamily="34" charset="-120"/>
              </a:rPr>
              <a:t>보행자·차량을 추적하고</a:t>
            </a:r>
            <a:endParaRPr lang="en-US" sz="1200" dirty="0"/>
          </a:p>
          <a:p>
            <a:pPr marL="0" indent="0">
              <a:lnSpc>
                <a:spcPts val="1800"/>
              </a:lnSpc>
              <a:buNone/>
            </a:pPr>
            <a:r>
              <a:rPr lang="en-US" sz="1200" dirty="0">
                <a:solidFill>
                  <a:srgbClr val="6B7280"/>
                </a:solidFill>
                <a:latin typeface="맑은 고딕" pitchFamily="34" charset="0"/>
                <a:ea typeface="맑은 고딕" pitchFamily="34" charset="-122"/>
                <a:cs typeface="맑은 고딕" pitchFamily="34" charset="-120"/>
              </a:rPr>
              <a:t>프레임마다 상태 판정</a:t>
            </a:r>
            <a:endParaRPr lang="en-US" sz="1200" dirty="0"/>
          </a:p>
        </p:txBody>
      </p:sp>
      <p:sp>
        <p:nvSpPr>
          <p:cNvPr id="23" name="Text 21"/>
          <p:cNvSpPr txBox="1"/>
          <p:nvPr/>
        </p:nvSpPr>
        <p:spPr>
          <a:xfrm>
            <a:off x="8924544" y="2377440"/>
            <a:ext cx="237744" cy="457200"/>
          </a:xfrm>
          <a:prstGeom prst="rect">
            <a:avLst/>
          </a:prstGeom>
          <a:noFill/>
          <a:ln/>
        </p:spPr>
        <p:txBody>
          <a:bodyPr wrap="square" lIns="0" tIns="0" rIns="0" bIns="0" rtlCol="0" anchor="ctr"/>
          <a:lstStyle/>
          <a:p>
            <a:pPr marL="0" indent="0" algn="ctr">
              <a:buNone/>
            </a:pPr>
            <a:r>
              <a:rPr lang="en-US" sz="2600" b="1" dirty="0">
                <a:solidFill>
                  <a:srgbClr val="F2A63B"/>
                </a:solidFill>
                <a:latin typeface="Arial" pitchFamily="34" charset="0"/>
                <a:ea typeface="Arial" pitchFamily="34" charset="-122"/>
                <a:cs typeface="Arial" pitchFamily="34" charset="-120"/>
              </a:rPr>
              <a:t>›</a:t>
            </a:r>
            <a:endParaRPr lang="en-US" sz="2600" dirty="0"/>
          </a:p>
        </p:txBody>
      </p:sp>
      <p:sp>
        <p:nvSpPr>
          <p:cNvPr id="24" name="Shape 22"/>
          <p:cNvSpPr/>
          <p:nvPr/>
        </p:nvSpPr>
        <p:spPr>
          <a:xfrm>
            <a:off x="9162288" y="1600200"/>
            <a:ext cx="2606040" cy="2651760"/>
          </a:xfrm>
          <a:prstGeom prst="roundRect">
            <a:avLst>
              <a:gd name="adj" fmla="val 2807"/>
            </a:avLst>
          </a:prstGeom>
          <a:solidFill>
            <a:srgbClr val="FFFFFF"/>
          </a:solidFill>
          <a:ln w="12700">
            <a:solidFill>
              <a:srgbClr val="DDE1E7"/>
            </a:solidFill>
            <a:prstDash val="solid"/>
          </a:ln>
        </p:spPr>
      </p:sp>
      <p:sp>
        <p:nvSpPr>
          <p:cNvPr id="25" name="Shape 23"/>
          <p:cNvSpPr/>
          <p:nvPr/>
        </p:nvSpPr>
        <p:spPr>
          <a:xfrm>
            <a:off x="9400032" y="1847088"/>
            <a:ext cx="420624" cy="420624"/>
          </a:xfrm>
          <a:prstGeom prst="ellipse">
            <a:avLst/>
          </a:prstGeom>
          <a:solidFill>
            <a:srgbClr val="F2A63B"/>
          </a:solidFill>
          <a:ln/>
        </p:spPr>
      </p:sp>
      <p:sp>
        <p:nvSpPr>
          <p:cNvPr id="26" name="Text 24"/>
          <p:cNvSpPr txBox="1"/>
          <p:nvPr/>
        </p:nvSpPr>
        <p:spPr>
          <a:xfrm>
            <a:off x="9400032" y="1847088"/>
            <a:ext cx="420624" cy="420624"/>
          </a:xfrm>
          <a:prstGeom prst="rect">
            <a:avLst/>
          </a:prstGeom>
          <a:noFill/>
          <a:ln/>
        </p:spPr>
        <p:txBody>
          <a:bodyPr wrap="square" lIns="0" tIns="0" rIns="0" bIns="0" rtlCol="0" anchor="ctr"/>
          <a:lstStyle/>
          <a:p>
            <a:pPr marL="0" indent="0" algn="ctr">
              <a:buNone/>
            </a:pPr>
            <a:r>
              <a:rPr lang="en-US" sz="1500" b="1" dirty="0">
                <a:solidFill>
                  <a:srgbClr val="14213D"/>
                </a:solidFill>
                <a:latin typeface="맑은 고딕" pitchFamily="34" charset="0"/>
                <a:ea typeface="맑은 고딕" pitchFamily="34" charset="-122"/>
                <a:cs typeface="맑은 고딕" pitchFamily="34" charset="-120"/>
              </a:rPr>
              <a:t>4</a:t>
            </a:r>
            <a:endParaRPr lang="en-US" sz="1500" dirty="0"/>
          </a:p>
        </p:txBody>
      </p:sp>
      <p:sp>
        <p:nvSpPr>
          <p:cNvPr id="27" name="Text 25"/>
          <p:cNvSpPr txBox="1"/>
          <p:nvPr/>
        </p:nvSpPr>
        <p:spPr>
          <a:xfrm>
            <a:off x="9400032" y="2395728"/>
            <a:ext cx="2148840" cy="329184"/>
          </a:xfrm>
          <a:prstGeom prst="rect">
            <a:avLst/>
          </a:prstGeom>
          <a:noFill/>
          <a:ln/>
        </p:spPr>
        <p:txBody>
          <a:bodyPr wrap="square" lIns="0" tIns="0" rIns="0" bIns="0" rtlCol="0" anchor="ctr"/>
          <a:lstStyle/>
          <a:p>
            <a:pPr marL="0" indent="0">
              <a:buNone/>
            </a:pPr>
            <a:r>
              <a:rPr lang="en-US" sz="1500" b="1" dirty="0">
                <a:solidFill>
                  <a:srgbClr val="14213D"/>
                </a:solidFill>
                <a:latin typeface="맑은 고딕" pitchFamily="34" charset="0"/>
                <a:ea typeface="맑은 고딕" pitchFamily="34" charset="-122"/>
                <a:cs typeface="맑은 고딕" pitchFamily="34" charset="-120"/>
              </a:rPr>
              <a:t>결과 확인</a:t>
            </a:r>
            <a:endParaRPr lang="en-US" sz="1500" dirty="0"/>
          </a:p>
        </p:txBody>
      </p:sp>
      <p:sp>
        <p:nvSpPr>
          <p:cNvPr id="28" name="Text 26"/>
          <p:cNvSpPr txBox="1"/>
          <p:nvPr/>
        </p:nvSpPr>
        <p:spPr>
          <a:xfrm>
            <a:off x="9400032" y="2816352"/>
            <a:ext cx="2148840" cy="1188720"/>
          </a:xfrm>
          <a:prstGeom prst="rect">
            <a:avLst/>
          </a:prstGeom>
          <a:noFill/>
          <a:ln/>
        </p:spPr>
        <p:txBody>
          <a:bodyPr wrap="square" lIns="0" tIns="0" rIns="0" bIns="0" rtlCol="0" anchor="t"/>
          <a:lstStyle/>
          <a:p>
            <a:pPr marL="0" indent="0">
              <a:lnSpc>
                <a:spcPts val="1800"/>
              </a:lnSpc>
              <a:buNone/>
            </a:pPr>
            <a:r>
              <a:rPr lang="en-US" sz="1200" dirty="0">
                <a:solidFill>
                  <a:srgbClr val="6B7280"/>
                </a:solidFill>
                <a:latin typeface="맑은 고딕" pitchFamily="34" charset="0"/>
                <a:ea typeface="맑은 고딕" pitchFamily="34" charset="-122"/>
                <a:cs typeface="맑은 고딕" pitchFamily="34" charset="-120"/>
              </a:rPr>
              <a:t>위반 후보 목록 · 증거 스냅샷</a:t>
            </a:r>
            <a:endParaRPr lang="en-US" sz="1200" dirty="0"/>
          </a:p>
          <a:p>
            <a:pPr marL="0" indent="0">
              <a:lnSpc>
                <a:spcPts val="1800"/>
              </a:lnSpc>
              <a:buNone/>
            </a:pPr>
            <a:r>
              <a:rPr lang="en-US" sz="1200" dirty="0">
                <a:solidFill>
                  <a:srgbClr val="6B7280"/>
                </a:solidFill>
                <a:latin typeface="맑은 고딕" pitchFamily="34" charset="0"/>
                <a:ea typeface="맑은 고딕" pitchFamily="34" charset="-122"/>
                <a:cs typeface="맑은 고딕" pitchFamily="34" charset="-120"/>
              </a:rPr>
              <a:t>· CSV 내보내기</a:t>
            </a:r>
            <a:endParaRPr lang="en-US" sz="1200" dirty="0"/>
          </a:p>
        </p:txBody>
      </p:sp>
      <p:sp>
        <p:nvSpPr>
          <p:cNvPr id="29" name="Shape 27"/>
          <p:cNvSpPr/>
          <p:nvPr/>
        </p:nvSpPr>
        <p:spPr>
          <a:xfrm>
            <a:off x="548640" y="4553712"/>
            <a:ext cx="11091672" cy="1600200"/>
          </a:xfrm>
          <a:prstGeom prst="roundRect">
            <a:avLst>
              <a:gd name="adj" fmla="val 4571"/>
            </a:avLst>
          </a:prstGeom>
          <a:solidFill>
            <a:srgbClr val="14213D"/>
          </a:solidFill>
          <a:ln w="12700">
            <a:solidFill>
              <a:srgbClr val="14213D"/>
            </a:solidFill>
            <a:prstDash val="solid"/>
          </a:ln>
        </p:spPr>
      </p:sp>
      <p:sp>
        <p:nvSpPr>
          <p:cNvPr id="30" name="Text 28"/>
          <p:cNvSpPr txBox="1"/>
          <p:nvPr/>
        </p:nvSpPr>
        <p:spPr>
          <a:xfrm>
            <a:off x="868680" y="4754880"/>
            <a:ext cx="3657600" cy="320040"/>
          </a:xfrm>
          <a:prstGeom prst="rect">
            <a:avLst/>
          </a:prstGeom>
          <a:noFill/>
          <a:ln/>
        </p:spPr>
        <p:txBody>
          <a:bodyPr wrap="square" lIns="0" tIns="0" rIns="0" bIns="0" rtlCol="0" anchor="ctr"/>
          <a:lstStyle/>
          <a:p>
            <a:pPr marL="0" indent="0">
              <a:buNone/>
            </a:pPr>
            <a:r>
              <a:rPr lang="en-US" sz="1500" b="1" dirty="0">
                <a:solidFill>
                  <a:srgbClr val="F2A63B"/>
                </a:solidFill>
                <a:latin typeface="맑은 고딕" pitchFamily="34" charset="0"/>
                <a:ea typeface="맑은 고딕" pitchFamily="34" charset="-122"/>
                <a:cs typeface="맑은 고딕" pitchFamily="34" charset="-120"/>
              </a:rPr>
              <a:t>핵심 설계 원칙</a:t>
            </a:r>
            <a:endParaRPr lang="en-US" sz="1500" dirty="0"/>
          </a:p>
        </p:txBody>
      </p:sp>
      <p:sp>
        <p:nvSpPr>
          <p:cNvPr id="31" name="Text 29"/>
          <p:cNvSpPr txBox="1"/>
          <p:nvPr/>
        </p:nvSpPr>
        <p:spPr>
          <a:xfrm>
            <a:off x="868680" y="5138928"/>
            <a:ext cx="10424160" cy="896112"/>
          </a:xfrm>
          <a:prstGeom prst="rect">
            <a:avLst/>
          </a:prstGeom>
          <a:noFill/>
          <a:ln/>
        </p:spPr>
        <p:txBody>
          <a:bodyPr wrap="square" lIns="0" tIns="0" rIns="0" bIns="0" rtlCol="0" anchor="t"/>
          <a:lstStyle/>
          <a:p>
            <a:pPr marL="0" indent="0">
              <a:lnSpc>
                <a:spcPts val="2100"/>
              </a:lnSpc>
              <a:buNone/>
            </a:pPr>
            <a:r>
              <a:rPr lang="en-US" sz="1300" dirty="0">
                <a:solidFill>
                  <a:srgbClr val="D5DCE7"/>
                </a:solidFill>
                <a:latin typeface="맑은 고딕" pitchFamily="34" charset="0"/>
                <a:ea typeface="맑은 고딕" pitchFamily="34" charset="-122"/>
                <a:cs typeface="맑은 고딕" pitchFamily="34" charset="-120"/>
              </a:rPr>
              <a:t>보행자가 실제로 '건넜는지'는 위반의 조건이 아니다</a:t>
            </a:r>
            <a:r>
              <a:rPr lang="en-US" sz="1300">
                <a:solidFill>
                  <a:srgbClr val="D5DCE7"/>
                </a:solidFill>
                <a:latin typeface="맑은 고딕" pitchFamily="34" charset="0"/>
                <a:ea typeface="맑은 고딕" pitchFamily="34" charset="-122"/>
                <a:cs typeface="맑은 고딕" pitchFamily="34" charset="-120"/>
              </a:rPr>
              <a:t>. </a:t>
            </a:r>
          </a:p>
          <a:p>
            <a:pPr marL="0" indent="0">
              <a:lnSpc>
                <a:spcPts val="2100"/>
              </a:lnSpc>
              <a:buNone/>
            </a:pPr>
            <a:r>
              <a:rPr lang="en-US" sz="1300">
                <a:solidFill>
                  <a:srgbClr val="D5DCE7"/>
                </a:solidFill>
                <a:latin typeface="맑은 고딕" pitchFamily="34" charset="0"/>
                <a:ea typeface="맑은 고딕" pitchFamily="34" charset="-122"/>
                <a:cs typeface="맑은 고딕" pitchFamily="34" charset="-120"/>
              </a:rPr>
              <a:t>차량이 </a:t>
            </a:r>
            <a:r>
              <a:rPr lang="en-US" sz="1300" dirty="0">
                <a:solidFill>
                  <a:srgbClr val="D5DCE7"/>
                </a:solidFill>
                <a:latin typeface="맑은 고딕" pitchFamily="34" charset="0"/>
                <a:ea typeface="맑은 고딕" pitchFamily="34" charset="-122"/>
                <a:cs typeface="맑은 고딕" pitchFamily="34" charset="-120"/>
              </a:rPr>
              <a:t>멈추지 않으면 보행자는 애초에 건널 수 없기 때문에, 횡단 성공을 전제로 삼으면 가장 심각한 위반을 놓치게 된다</a:t>
            </a:r>
            <a:r>
              <a:rPr lang="en-US" sz="1300">
                <a:solidFill>
                  <a:srgbClr val="D5DCE7"/>
                </a:solidFill>
                <a:latin typeface="맑은 고딕" pitchFamily="34" charset="0"/>
                <a:ea typeface="맑은 고딕" pitchFamily="34" charset="-122"/>
                <a:cs typeface="맑은 고딕" pitchFamily="34" charset="-120"/>
              </a:rPr>
              <a:t>. </a:t>
            </a:r>
          </a:p>
          <a:p>
            <a:pPr marL="0" indent="0">
              <a:lnSpc>
                <a:spcPts val="2100"/>
              </a:lnSpc>
              <a:buNone/>
            </a:pPr>
            <a:r>
              <a:rPr lang="en-US" sz="1300">
                <a:solidFill>
                  <a:srgbClr val="D5DCE7"/>
                </a:solidFill>
                <a:latin typeface="맑은 고딕" pitchFamily="34" charset="0"/>
                <a:ea typeface="맑은 고딕" pitchFamily="34" charset="-122"/>
                <a:cs typeface="맑은 고딕" pitchFamily="34" charset="-120"/>
              </a:rPr>
              <a:t>제</a:t>
            </a:r>
            <a:r>
              <a:rPr lang="en-US" sz="1300" dirty="0">
                <a:solidFill>
                  <a:srgbClr val="D5DCE7"/>
                </a:solidFill>
                <a:latin typeface="맑은 고딕" pitchFamily="34" charset="0"/>
                <a:ea typeface="맑은 고딕" pitchFamily="34" charset="-122"/>
                <a:cs typeface="맑은 고딕" pitchFamily="34" charset="-120"/>
              </a:rPr>
              <a:t>27조가 요구하는 것은 '보행자가 있었는가'와 '차량이 일시정지했는가' 두 가지뿐이다.</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F2A63B"/>
          </a:solidFill>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marL="0" indent="0" algn="ctr">
              <a:buNone/>
            </a:pPr>
            <a:r>
              <a:rPr lang="en-US" sz="1800" b="1" dirty="0">
                <a:solidFill>
                  <a:srgbClr val="14213D"/>
                </a:solidFill>
                <a:latin typeface="맑은 고딕" pitchFamily="34" charset="0"/>
                <a:ea typeface="맑은 고딕" pitchFamily="34" charset="-122"/>
              </a:rPr>
              <a:t>5</a:t>
            </a:r>
            <a:endParaRPr lang="en-US" sz="1800" dirty="0"/>
          </a:p>
        </p:txBody>
      </p:sp>
      <p:sp>
        <p:nvSpPr>
          <p:cNvPr id="4" name="Text 2"/>
          <p:cNvSpPr txBox="1"/>
          <p:nvPr/>
        </p:nvSpPr>
        <p:spPr>
          <a:xfrm>
            <a:off x="1170432" y="347472"/>
            <a:ext cx="7680960" cy="548640"/>
          </a:xfrm>
          <a:prstGeom prst="rect">
            <a:avLst/>
          </a:prstGeom>
          <a:noFill/>
          <a:ln/>
        </p:spPr>
        <p:txBody>
          <a:bodyPr wrap="square" lIns="0" tIns="0" rIns="0" bIns="0" rtlCol="0" anchor="ctr"/>
          <a:lstStyle/>
          <a:p>
            <a:pPr marL="0" indent="0" algn="l">
              <a:buNone/>
            </a:pPr>
            <a:r>
              <a:rPr lang="en-US" sz="3000" b="1" dirty="0">
                <a:solidFill>
                  <a:srgbClr val="14213D"/>
                </a:solidFill>
                <a:latin typeface="맑은 고딕" pitchFamily="34" charset="0"/>
                <a:ea typeface="맑은 고딕" pitchFamily="34" charset="-122"/>
                <a:cs typeface="맑은 고딕" pitchFamily="34" charset="-120"/>
              </a:rPr>
              <a:t>시스템 아키텍처</a:t>
            </a:r>
            <a:endParaRPr lang="en-US" sz="3000" dirty="0"/>
          </a:p>
        </p:txBody>
      </p:sp>
      <p:sp>
        <p:nvSpPr>
          <p:cNvPr id="5" name="Text 3"/>
          <p:cNvSpPr txBox="1"/>
          <p:nvPr/>
        </p:nvSpPr>
        <p:spPr>
          <a:xfrm>
            <a:off x="1170432" y="896112"/>
            <a:ext cx="10424160" cy="310896"/>
          </a:xfrm>
          <a:prstGeom prst="rect">
            <a:avLst/>
          </a:prstGeom>
          <a:noFill/>
          <a:ln/>
        </p:spPr>
        <p:txBody>
          <a:bodyPr wrap="square" lIns="0" tIns="0" rIns="0" bIns="0" rtlCol="0" anchor="ctr"/>
          <a:lstStyle/>
          <a:p>
            <a:pPr marL="0" indent="0" algn="l">
              <a:buNone/>
            </a:pPr>
            <a:r>
              <a:rPr lang="en-US" sz="1300" dirty="0">
                <a:solidFill>
                  <a:srgbClr val="6B7280"/>
                </a:solidFill>
                <a:latin typeface="맑은 고딕" pitchFamily="34" charset="0"/>
                <a:ea typeface="맑은 고딕" pitchFamily="34" charset="-122"/>
                <a:cs typeface="맑은 고딕" pitchFamily="34" charset="-120"/>
              </a:rPr>
              <a:t>검출 → 추적 → 상태 분석 → 규칙 기반 판정 → 증거 산출</a:t>
            </a:r>
            <a:endParaRPr lang="en-US" sz="1300" dirty="0"/>
          </a:p>
        </p:txBody>
      </p:sp>
      <p:sp>
        <p:nvSpPr>
          <p:cNvPr id="6" name="Shape 4"/>
          <p:cNvSpPr/>
          <p:nvPr/>
        </p:nvSpPr>
        <p:spPr>
          <a:xfrm>
            <a:off x="548640" y="1572768"/>
            <a:ext cx="2048256" cy="2542032"/>
          </a:xfrm>
          <a:prstGeom prst="roundRect">
            <a:avLst>
              <a:gd name="adj" fmla="val 3571"/>
            </a:avLst>
          </a:prstGeom>
          <a:solidFill>
            <a:srgbClr val="ECEFF3"/>
          </a:solidFill>
          <a:ln w="12700">
            <a:solidFill>
              <a:srgbClr val="DDE1E7"/>
            </a:solidFill>
            <a:prstDash val="solid"/>
          </a:ln>
        </p:spPr>
      </p:sp>
      <p:sp>
        <p:nvSpPr>
          <p:cNvPr id="7" name="Shape 5"/>
          <p:cNvSpPr/>
          <p:nvPr/>
        </p:nvSpPr>
        <p:spPr>
          <a:xfrm>
            <a:off x="548640" y="1572768"/>
            <a:ext cx="2048256" cy="420624"/>
          </a:xfrm>
          <a:prstGeom prst="rect">
            <a:avLst/>
          </a:prstGeom>
          <a:solidFill>
            <a:srgbClr val="D8DDE4"/>
          </a:solidFill>
          <a:ln/>
        </p:spPr>
      </p:sp>
      <p:sp>
        <p:nvSpPr>
          <p:cNvPr id="8" name="Text 6"/>
          <p:cNvSpPr txBox="1"/>
          <p:nvPr/>
        </p:nvSpPr>
        <p:spPr>
          <a:xfrm>
            <a:off x="548640" y="1572768"/>
            <a:ext cx="2048256" cy="420624"/>
          </a:xfrm>
          <a:prstGeom prst="rect">
            <a:avLst/>
          </a:prstGeom>
          <a:noFill/>
          <a:ln/>
        </p:spPr>
        <p:txBody>
          <a:bodyPr wrap="square" lIns="0" tIns="0" rIns="0" bIns="0" rtlCol="0" anchor="ctr"/>
          <a:lstStyle/>
          <a:p>
            <a:pPr marL="0" indent="0" algn="ctr">
              <a:buNone/>
            </a:pPr>
            <a:r>
              <a:rPr lang="en-US" sz="1300" b="1" dirty="0">
                <a:solidFill>
                  <a:srgbClr val="14213D"/>
                </a:solidFill>
                <a:latin typeface="맑은 고딕" pitchFamily="34" charset="0"/>
                <a:ea typeface="맑은 고딕" pitchFamily="34" charset="-122"/>
                <a:cs typeface="맑은 고딕" pitchFamily="34" charset="-120"/>
              </a:rPr>
              <a:t>입력</a:t>
            </a:r>
            <a:endParaRPr lang="en-US" sz="1300" dirty="0"/>
          </a:p>
        </p:txBody>
      </p:sp>
      <p:sp>
        <p:nvSpPr>
          <p:cNvPr id="9" name="Text 7"/>
          <p:cNvSpPr txBox="1"/>
          <p:nvPr/>
        </p:nvSpPr>
        <p:spPr>
          <a:xfrm>
            <a:off x="731520" y="2157984"/>
            <a:ext cx="1700784" cy="1874520"/>
          </a:xfrm>
          <a:prstGeom prst="rect">
            <a:avLst/>
          </a:prstGeom>
          <a:noFill/>
          <a:ln/>
        </p:spPr>
        <p:txBody>
          <a:bodyPr wrap="square" lIns="0" tIns="0" rIns="0" bIns="0" rtlCol="0" anchor="t"/>
          <a:lstStyle/>
          <a:p>
            <a:pPr marL="342900" indent="-342900">
              <a:lnSpc>
                <a:spcPts val="1500"/>
              </a:lnSpc>
              <a:spcAft>
                <a:spcPts val="800"/>
              </a:spcAft>
              <a:buSzPct val="100000"/>
              <a:buChar char="•"/>
            </a:pPr>
            <a:r>
              <a:rPr lang="en-US" sz="1100" dirty="0">
                <a:solidFill>
                  <a:srgbClr val="1F2937"/>
                </a:solidFill>
                <a:latin typeface="맑은 고딕" pitchFamily="34" charset="0"/>
                <a:ea typeface="맑은 고딕" pitchFamily="34" charset="-122"/>
                <a:cs typeface="맑은 고딕" pitchFamily="34" charset="-120"/>
              </a:rPr>
              <a:t>CCTV 영상 (mp4)</a:t>
            </a:r>
            <a:endParaRPr lang="en-US" sz="1100" dirty="0"/>
          </a:p>
          <a:p>
            <a:pPr marL="342900" indent="-342900">
              <a:lnSpc>
                <a:spcPts val="1500"/>
              </a:lnSpc>
              <a:spcAft>
                <a:spcPts val="800"/>
              </a:spcAft>
              <a:buSzPct val="100000"/>
              <a:buChar char="•"/>
            </a:pPr>
            <a:r>
              <a:rPr lang="en-US" sz="1100" dirty="0">
                <a:solidFill>
                  <a:srgbClr val="1F2937"/>
                </a:solidFill>
                <a:latin typeface="맑은 고딕" pitchFamily="34" charset="0"/>
                <a:ea typeface="맑은 고딕" pitchFamily="34" charset="-122"/>
                <a:cs typeface="맑은 고딕" pitchFamily="34" charset="-120"/>
              </a:rPr>
              <a:t>횡단보도 4점 좌표</a:t>
            </a:r>
            <a:endParaRPr lang="en-US" sz="1100" dirty="0"/>
          </a:p>
        </p:txBody>
      </p:sp>
      <p:sp>
        <p:nvSpPr>
          <p:cNvPr id="10" name="Text 8"/>
          <p:cNvSpPr txBox="1"/>
          <p:nvPr/>
        </p:nvSpPr>
        <p:spPr>
          <a:xfrm>
            <a:off x="2615184" y="2615184"/>
            <a:ext cx="192024" cy="457200"/>
          </a:xfrm>
          <a:prstGeom prst="rect">
            <a:avLst/>
          </a:prstGeom>
          <a:noFill/>
          <a:ln/>
        </p:spPr>
        <p:txBody>
          <a:bodyPr wrap="square" lIns="0" tIns="0" rIns="0" bIns="0" rtlCol="0" anchor="ctr"/>
          <a:lstStyle/>
          <a:p>
            <a:pPr marL="0" indent="0" algn="ctr">
              <a:buNone/>
            </a:pPr>
            <a:r>
              <a:rPr lang="en-US" sz="2200" b="1" dirty="0">
                <a:solidFill>
                  <a:srgbClr val="6B7280"/>
                </a:solidFill>
                <a:latin typeface="Arial" pitchFamily="34" charset="0"/>
                <a:ea typeface="Arial" pitchFamily="34" charset="-122"/>
                <a:cs typeface="Arial" pitchFamily="34" charset="-120"/>
              </a:rPr>
              <a:t>›</a:t>
            </a:r>
            <a:endParaRPr lang="en-US" sz="2200" dirty="0"/>
          </a:p>
        </p:txBody>
      </p:sp>
      <p:sp>
        <p:nvSpPr>
          <p:cNvPr id="11" name="Shape 9"/>
          <p:cNvSpPr/>
          <p:nvPr/>
        </p:nvSpPr>
        <p:spPr>
          <a:xfrm>
            <a:off x="2807208" y="1572768"/>
            <a:ext cx="2048256" cy="2542032"/>
          </a:xfrm>
          <a:prstGeom prst="roundRect">
            <a:avLst>
              <a:gd name="adj" fmla="val 3571"/>
            </a:avLst>
          </a:prstGeom>
          <a:solidFill>
            <a:srgbClr val="FFFFFF"/>
          </a:solidFill>
          <a:ln w="12700">
            <a:solidFill>
              <a:srgbClr val="F2A63B"/>
            </a:solidFill>
            <a:prstDash val="solid"/>
          </a:ln>
        </p:spPr>
      </p:sp>
      <p:sp>
        <p:nvSpPr>
          <p:cNvPr id="12" name="Shape 10"/>
          <p:cNvSpPr/>
          <p:nvPr/>
        </p:nvSpPr>
        <p:spPr>
          <a:xfrm>
            <a:off x="2807208" y="1572768"/>
            <a:ext cx="2048256" cy="420624"/>
          </a:xfrm>
          <a:prstGeom prst="rect">
            <a:avLst/>
          </a:prstGeom>
          <a:solidFill>
            <a:srgbClr val="14213D"/>
          </a:solidFill>
          <a:ln/>
        </p:spPr>
      </p:sp>
      <p:sp>
        <p:nvSpPr>
          <p:cNvPr id="13" name="Text 11"/>
          <p:cNvSpPr txBox="1"/>
          <p:nvPr/>
        </p:nvSpPr>
        <p:spPr>
          <a:xfrm>
            <a:off x="2807208" y="1572768"/>
            <a:ext cx="2048256"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검출 · 추적</a:t>
            </a:r>
            <a:endParaRPr lang="en-US" sz="1300" dirty="0"/>
          </a:p>
        </p:txBody>
      </p:sp>
      <p:sp>
        <p:nvSpPr>
          <p:cNvPr id="14" name="Text 12"/>
          <p:cNvSpPr txBox="1"/>
          <p:nvPr/>
        </p:nvSpPr>
        <p:spPr>
          <a:xfrm>
            <a:off x="2807208" y="2157984"/>
            <a:ext cx="2075688" cy="1874520"/>
          </a:xfrm>
          <a:prstGeom prst="rect">
            <a:avLst/>
          </a:prstGeom>
          <a:noFill/>
          <a:ln/>
        </p:spPr>
        <p:txBody>
          <a:bodyPr wrap="square" lIns="0" tIns="0" rIns="0" bIns="0" rtlCol="0" anchor="t"/>
          <a:lstStyle/>
          <a:p>
            <a:pPr marL="342900" indent="-342900">
              <a:lnSpc>
                <a:spcPts val="1500"/>
              </a:lnSpc>
              <a:spcAft>
                <a:spcPts val="800"/>
              </a:spcAft>
              <a:buSzPct val="100000"/>
              <a:buChar char="•"/>
            </a:pPr>
            <a:r>
              <a:rPr lang="en-US" sz="1100">
                <a:solidFill>
                  <a:srgbClr val="1F2937"/>
                </a:solidFill>
                <a:latin typeface="맑은 고딕" pitchFamily="34" charset="0"/>
                <a:ea typeface="맑은 고딕" pitchFamily="34" charset="-122"/>
                <a:cs typeface="맑은 고딕" pitchFamily="34" charset="-120"/>
              </a:rPr>
              <a:t>YOLO11m (</a:t>
            </a:r>
            <a:r>
              <a:rPr lang="en-US" sz="1100" dirty="0">
                <a:solidFill>
                  <a:srgbClr val="1F2937"/>
                </a:solidFill>
                <a:latin typeface="맑은 고딕" pitchFamily="34" charset="0"/>
                <a:ea typeface="맑은 고딕" pitchFamily="34" charset="-122"/>
                <a:cs typeface="맑은 고딕" pitchFamily="34" charset="-120"/>
              </a:rPr>
              <a:t>차량·보행자)</a:t>
            </a:r>
            <a:endParaRPr lang="en-US" sz="1100" dirty="0"/>
          </a:p>
          <a:p>
            <a:pPr marL="342900" indent="-342900">
              <a:lnSpc>
                <a:spcPts val="1500"/>
              </a:lnSpc>
              <a:spcAft>
                <a:spcPts val="800"/>
              </a:spcAft>
              <a:buSzPct val="100000"/>
              <a:buChar char="•"/>
            </a:pPr>
            <a:r>
              <a:rPr lang="en-US" sz="1100" dirty="0">
                <a:solidFill>
                  <a:srgbClr val="1F2937"/>
                </a:solidFill>
                <a:latin typeface="맑은 고딕" pitchFamily="34" charset="0"/>
                <a:ea typeface="맑은 고딕" pitchFamily="34" charset="-122"/>
                <a:cs typeface="맑은 고딕" pitchFamily="34" charset="-120"/>
              </a:rPr>
              <a:t>YOLO11-pose (자세)</a:t>
            </a:r>
            <a:endParaRPr lang="en-US" sz="1100" dirty="0"/>
          </a:p>
          <a:p>
            <a:pPr marL="342900" indent="-342900">
              <a:lnSpc>
                <a:spcPts val="1500"/>
              </a:lnSpc>
              <a:spcAft>
                <a:spcPts val="800"/>
              </a:spcAft>
              <a:buSzPct val="100000"/>
              <a:buChar char="•"/>
            </a:pPr>
            <a:r>
              <a:rPr lang="en-US" sz="1100" dirty="0">
                <a:solidFill>
                  <a:srgbClr val="1F2937"/>
                </a:solidFill>
                <a:latin typeface="맑은 고딕" pitchFamily="34" charset="0"/>
                <a:ea typeface="맑은 고딕" pitchFamily="34" charset="-122"/>
                <a:cs typeface="맑은 고딕" pitchFamily="34" charset="-120"/>
              </a:rPr>
              <a:t>best_moto.pt (오토바이)</a:t>
            </a:r>
            <a:endParaRPr lang="en-US" sz="1100" dirty="0"/>
          </a:p>
          <a:p>
            <a:pPr marL="342900" indent="-342900">
              <a:lnSpc>
                <a:spcPts val="1500"/>
              </a:lnSpc>
              <a:spcAft>
                <a:spcPts val="800"/>
              </a:spcAft>
              <a:buSzPct val="100000"/>
              <a:buChar char="•"/>
            </a:pPr>
            <a:r>
              <a:rPr lang="en-US" sz="1100" dirty="0">
                <a:solidFill>
                  <a:srgbClr val="1F2937"/>
                </a:solidFill>
                <a:latin typeface="맑은 고딕" pitchFamily="34" charset="0"/>
                <a:ea typeface="맑은 고딕" pitchFamily="34" charset="-122"/>
                <a:cs typeface="맑은 고딕" pitchFamily="34" charset="-120"/>
              </a:rPr>
              <a:t>ByteTrack (ID 추적)</a:t>
            </a:r>
            <a:endParaRPr lang="en-US" sz="1100" dirty="0"/>
          </a:p>
        </p:txBody>
      </p:sp>
      <p:sp>
        <p:nvSpPr>
          <p:cNvPr id="15" name="Text 13"/>
          <p:cNvSpPr txBox="1"/>
          <p:nvPr/>
        </p:nvSpPr>
        <p:spPr>
          <a:xfrm>
            <a:off x="4873752" y="2615184"/>
            <a:ext cx="192024" cy="457200"/>
          </a:xfrm>
          <a:prstGeom prst="rect">
            <a:avLst/>
          </a:prstGeom>
          <a:noFill/>
          <a:ln/>
        </p:spPr>
        <p:txBody>
          <a:bodyPr wrap="square" lIns="0" tIns="0" rIns="0" bIns="0" rtlCol="0" anchor="ctr"/>
          <a:lstStyle/>
          <a:p>
            <a:pPr marL="0" indent="0" algn="ctr">
              <a:buNone/>
            </a:pPr>
            <a:r>
              <a:rPr lang="en-US" sz="2200" b="1" dirty="0">
                <a:solidFill>
                  <a:srgbClr val="6B7280"/>
                </a:solidFill>
                <a:latin typeface="Arial" pitchFamily="34" charset="0"/>
                <a:ea typeface="Arial" pitchFamily="34" charset="-122"/>
                <a:cs typeface="Arial" pitchFamily="34" charset="-120"/>
              </a:rPr>
              <a:t>›</a:t>
            </a:r>
            <a:endParaRPr lang="en-US" sz="2200" dirty="0"/>
          </a:p>
        </p:txBody>
      </p:sp>
      <p:sp>
        <p:nvSpPr>
          <p:cNvPr id="16" name="Shape 14"/>
          <p:cNvSpPr/>
          <p:nvPr/>
        </p:nvSpPr>
        <p:spPr>
          <a:xfrm>
            <a:off x="5065776" y="1572768"/>
            <a:ext cx="2048256" cy="2542032"/>
          </a:xfrm>
          <a:prstGeom prst="roundRect">
            <a:avLst>
              <a:gd name="adj" fmla="val 3571"/>
            </a:avLst>
          </a:prstGeom>
          <a:solidFill>
            <a:srgbClr val="FFFFFF"/>
          </a:solidFill>
          <a:ln w="12700">
            <a:solidFill>
              <a:srgbClr val="F2A63B"/>
            </a:solidFill>
            <a:prstDash val="solid"/>
          </a:ln>
        </p:spPr>
      </p:sp>
      <p:sp>
        <p:nvSpPr>
          <p:cNvPr id="17" name="Shape 15"/>
          <p:cNvSpPr/>
          <p:nvPr/>
        </p:nvSpPr>
        <p:spPr>
          <a:xfrm>
            <a:off x="5065776" y="1572768"/>
            <a:ext cx="2048256" cy="420624"/>
          </a:xfrm>
          <a:prstGeom prst="rect">
            <a:avLst/>
          </a:prstGeom>
          <a:solidFill>
            <a:srgbClr val="14213D"/>
          </a:solidFill>
          <a:ln/>
        </p:spPr>
      </p:sp>
      <p:sp>
        <p:nvSpPr>
          <p:cNvPr id="18" name="Text 16"/>
          <p:cNvSpPr txBox="1"/>
          <p:nvPr/>
        </p:nvSpPr>
        <p:spPr>
          <a:xfrm>
            <a:off x="5065776" y="1572768"/>
            <a:ext cx="2048256"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상태 분석</a:t>
            </a:r>
            <a:endParaRPr lang="en-US" sz="1300" dirty="0"/>
          </a:p>
        </p:txBody>
      </p:sp>
      <p:sp>
        <p:nvSpPr>
          <p:cNvPr id="19" name="Text 17"/>
          <p:cNvSpPr txBox="1"/>
          <p:nvPr/>
        </p:nvSpPr>
        <p:spPr>
          <a:xfrm>
            <a:off x="5084064" y="2157984"/>
            <a:ext cx="2048256" cy="1874520"/>
          </a:xfrm>
          <a:prstGeom prst="rect">
            <a:avLst/>
          </a:prstGeom>
          <a:noFill/>
          <a:ln/>
        </p:spPr>
        <p:txBody>
          <a:bodyPr wrap="square" lIns="0" tIns="0" rIns="0" bIns="0" rtlCol="0" anchor="t"/>
          <a:lstStyle/>
          <a:p>
            <a:pPr marL="342900" indent="-342900">
              <a:lnSpc>
                <a:spcPts val="1500"/>
              </a:lnSpc>
              <a:spcAft>
                <a:spcPts val="800"/>
              </a:spcAft>
              <a:buSzPct val="100000"/>
              <a:buChar char="•"/>
            </a:pPr>
            <a:r>
              <a:rPr lang="en-US" sz="1100" dirty="0">
                <a:solidFill>
                  <a:srgbClr val="1F2937"/>
                </a:solidFill>
                <a:latin typeface="맑은 고딕" pitchFamily="34" charset="0"/>
                <a:ea typeface="맑은 고딕" pitchFamily="34" charset="-122"/>
                <a:cs typeface="맑은 고딕" pitchFamily="34" charset="-120"/>
              </a:rPr>
              <a:t>보행자: 정규화 </a:t>
            </a:r>
            <a:r>
              <a:rPr lang="en-US" sz="1100">
                <a:solidFill>
                  <a:srgbClr val="1F2937"/>
                </a:solidFill>
                <a:latin typeface="맑은 고딕" pitchFamily="34" charset="0"/>
                <a:ea typeface="맑은 고딕" pitchFamily="34" charset="-122"/>
                <a:cs typeface="맑은 고딕" pitchFamily="34" charset="-120"/>
              </a:rPr>
              <a:t>거리 기반  </a:t>
            </a:r>
            <a:r>
              <a:rPr lang="en-US" sz="1100" dirty="0">
                <a:solidFill>
                  <a:srgbClr val="1F2937"/>
                </a:solidFill>
                <a:latin typeface="맑은 고딕" pitchFamily="34" charset="0"/>
                <a:ea typeface="맑은 고딕" pitchFamily="34" charset="-122"/>
                <a:cs typeface="맑은 고딕" pitchFamily="34" charset="-120"/>
              </a:rPr>
              <a:t>7단계 상태 분류</a:t>
            </a:r>
            <a:endParaRPr lang="en-US" sz="1100" dirty="0"/>
          </a:p>
          <a:p>
            <a:pPr marL="342900" indent="-342900">
              <a:lnSpc>
                <a:spcPts val="1500"/>
              </a:lnSpc>
              <a:spcAft>
                <a:spcPts val="800"/>
              </a:spcAft>
              <a:buSzPct val="100000"/>
              <a:buChar char="•"/>
            </a:pPr>
            <a:r>
              <a:rPr lang="en-US" sz="1100" dirty="0">
                <a:solidFill>
                  <a:srgbClr val="1F2937"/>
                </a:solidFill>
                <a:latin typeface="맑은 고딕" pitchFamily="34" charset="0"/>
                <a:ea typeface="맑은 고딕" pitchFamily="34" charset="-122"/>
                <a:cs typeface="맑은 고딕" pitchFamily="34" charset="-120"/>
              </a:rPr>
              <a:t>차량: 3단계 운동 </a:t>
            </a:r>
            <a:r>
              <a:rPr lang="en-US" sz="1100">
                <a:solidFill>
                  <a:srgbClr val="1F2937"/>
                </a:solidFill>
                <a:latin typeface="맑은 고딕" pitchFamily="34" charset="0"/>
                <a:ea typeface="맑은 고딕" pitchFamily="34" charset="-122"/>
                <a:cs typeface="맑은 고딕" pitchFamily="34" charset="-120"/>
              </a:rPr>
              <a:t>상태      (</a:t>
            </a:r>
            <a:r>
              <a:rPr lang="en-US" sz="1100" dirty="0">
                <a:solidFill>
                  <a:srgbClr val="1F2937"/>
                </a:solidFill>
                <a:latin typeface="맑은 고딕" pitchFamily="34" charset="0"/>
                <a:ea typeface="맑은 고딕" pitchFamily="34" charset="-122"/>
                <a:cs typeface="맑은 고딕" pitchFamily="34" charset="-120"/>
              </a:rPr>
              <a:t>정지 / 서행 / 통과)</a:t>
            </a:r>
            <a:endParaRPr lang="en-US" sz="1100" dirty="0"/>
          </a:p>
          <a:p>
            <a:pPr marL="342900" indent="-342900">
              <a:lnSpc>
                <a:spcPts val="1500"/>
              </a:lnSpc>
              <a:spcAft>
                <a:spcPts val="800"/>
              </a:spcAft>
              <a:buSzPct val="100000"/>
              <a:buChar char="•"/>
            </a:pPr>
            <a:r>
              <a:rPr lang="en-US" sz="1100" dirty="0">
                <a:solidFill>
                  <a:srgbClr val="1F2937"/>
                </a:solidFill>
                <a:latin typeface="맑은 고딕" pitchFamily="34" charset="0"/>
                <a:ea typeface="맑은 고딕" pitchFamily="34" charset="-122"/>
                <a:cs typeface="맑은 고딕" pitchFamily="34" charset="-120"/>
              </a:rPr>
              <a:t>원근 왜곡 보정 적용</a:t>
            </a:r>
            <a:endParaRPr lang="en-US" sz="1100" dirty="0"/>
          </a:p>
        </p:txBody>
      </p:sp>
      <p:sp>
        <p:nvSpPr>
          <p:cNvPr id="20" name="Text 18"/>
          <p:cNvSpPr txBox="1"/>
          <p:nvPr/>
        </p:nvSpPr>
        <p:spPr>
          <a:xfrm>
            <a:off x="7132320" y="2615184"/>
            <a:ext cx="192024" cy="457200"/>
          </a:xfrm>
          <a:prstGeom prst="rect">
            <a:avLst/>
          </a:prstGeom>
          <a:noFill/>
          <a:ln/>
        </p:spPr>
        <p:txBody>
          <a:bodyPr wrap="square" lIns="0" tIns="0" rIns="0" bIns="0" rtlCol="0" anchor="ctr"/>
          <a:lstStyle/>
          <a:p>
            <a:pPr marL="0" indent="0" algn="ctr">
              <a:buNone/>
            </a:pPr>
            <a:r>
              <a:rPr lang="en-US" sz="2200" b="1" dirty="0">
                <a:solidFill>
                  <a:srgbClr val="6B7280"/>
                </a:solidFill>
                <a:latin typeface="Arial" pitchFamily="34" charset="0"/>
                <a:ea typeface="Arial" pitchFamily="34" charset="-122"/>
                <a:cs typeface="Arial" pitchFamily="34" charset="-120"/>
              </a:rPr>
              <a:t>›</a:t>
            </a:r>
            <a:endParaRPr lang="en-US" sz="2200" dirty="0"/>
          </a:p>
        </p:txBody>
      </p:sp>
      <p:sp>
        <p:nvSpPr>
          <p:cNvPr id="21" name="Shape 19"/>
          <p:cNvSpPr/>
          <p:nvPr/>
        </p:nvSpPr>
        <p:spPr>
          <a:xfrm>
            <a:off x="7324344" y="1572768"/>
            <a:ext cx="2048256" cy="2542032"/>
          </a:xfrm>
          <a:prstGeom prst="roundRect">
            <a:avLst>
              <a:gd name="adj" fmla="val 3571"/>
            </a:avLst>
          </a:prstGeom>
          <a:solidFill>
            <a:srgbClr val="FFFFFF"/>
          </a:solidFill>
          <a:ln w="12700">
            <a:solidFill>
              <a:srgbClr val="D64545"/>
            </a:solidFill>
            <a:prstDash val="solid"/>
          </a:ln>
        </p:spPr>
      </p:sp>
      <p:sp>
        <p:nvSpPr>
          <p:cNvPr id="22" name="Shape 20"/>
          <p:cNvSpPr/>
          <p:nvPr/>
        </p:nvSpPr>
        <p:spPr>
          <a:xfrm>
            <a:off x="7324344" y="1572768"/>
            <a:ext cx="2048256" cy="420624"/>
          </a:xfrm>
          <a:prstGeom prst="rect">
            <a:avLst/>
          </a:prstGeom>
          <a:solidFill>
            <a:srgbClr val="14213D"/>
          </a:solidFill>
          <a:ln/>
        </p:spPr>
      </p:sp>
      <p:sp>
        <p:nvSpPr>
          <p:cNvPr id="23" name="Text 21"/>
          <p:cNvSpPr txBox="1"/>
          <p:nvPr/>
        </p:nvSpPr>
        <p:spPr>
          <a:xfrm>
            <a:off x="7324344" y="1572768"/>
            <a:ext cx="2048256" cy="420624"/>
          </a:xfrm>
          <a:prstGeom prst="rect">
            <a:avLst/>
          </a:prstGeom>
          <a:noFill/>
          <a:ln/>
        </p:spPr>
        <p:txBody>
          <a:bodyPr wrap="square" lIns="0" tIns="0" rIns="0" bIns="0" rtlCol="0" anchor="ctr"/>
          <a:lstStyle/>
          <a:p>
            <a:pPr marL="0" indent="0" algn="ctr">
              <a:buNone/>
            </a:pPr>
            <a:r>
              <a:rPr lang="en-US" sz="1300" b="1" dirty="0">
                <a:solidFill>
                  <a:srgbClr val="FFFFFF"/>
                </a:solidFill>
                <a:latin typeface="맑은 고딕" pitchFamily="34" charset="0"/>
                <a:ea typeface="맑은 고딕" pitchFamily="34" charset="-122"/>
                <a:cs typeface="맑은 고딕" pitchFamily="34" charset="-120"/>
              </a:rPr>
              <a:t>위반 판정</a:t>
            </a:r>
            <a:endParaRPr lang="en-US" sz="1300" dirty="0"/>
          </a:p>
        </p:txBody>
      </p:sp>
      <p:sp>
        <p:nvSpPr>
          <p:cNvPr id="24" name="Text 22"/>
          <p:cNvSpPr txBox="1"/>
          <p:nvPr/>
        </p:nvSpPr>
        <p:spPr>
          <a:xfrm>
            <a:off x="7507224" y="2157984"/>
            <a:ext cx="1700784" cy="1874520"/>
          </a:xfrm>
          <a:prstGeom prst="rect">
            <a:avLst/>
          </a:prstGeom>
          <a:noFill/>
          <a:ln/>
        </p:spPr>
        <p:txBody>
          <a:bodyPr wrap="square" lIns="0" tIns="0" rIns="0" bIns="0" rtlCol="0" anchor="t"/>
          <a:lstStyle/>
          <a:p>
            <a:pPr marL="342900" indent="-342900">
              <a:lnSpc>
                <a:spcPts val="1500"/>
              </a:lnSpc>
              <a:spcAft>
                <a:spcPts val="800"/>
              </a:spcAft>
              <a:buSzPct val="100000"/>
              <a:buChar char="•"/>
            </a:pPr>
            <a:r>
              <a:rPr lang="en-US" sz="1100" dirty="0">
                <a:solidFill>
                  <a:srgbClr val="1F2937"/>
                </a:solidFill>
                <a:latin typeface="맑은 고딕" pitchFamily="34" charset="0"/>
                <a:ea typeface="맑은 고딕" pitchFamily="34" charset="-122"/>
                <a:cs typeface="맑은 고딕" pitchFamily="34" charset="-120"/>
              </a:rPr>
              <a:t>프레임 단위 교집합 판정</a:t>
            </a:r>
            <a:endParaRPr lang="en-US" sz="1100" dirty="0"/>
          </a:p>
          <a:p>
            <a:pPr marL="342900" indent="-342900">
              <a:lnSpc>
                <a:spcPts val="1500"/>
              </a:lnSpc>
              <a:spcAft>
                <a:spcPts val="800"/>
              </a:spcAft>
              <a:buSzPct val="100000"/>
              <a:buChar char="•"/>
            </a:pPr>
            <a:r>
              <a:rPr lang="en-US" sz="1100" dirty="0">
                <a:solidFill>
                  <a:srgbClr val="1F2937"/>
                </a:solidFill>
                <a:latin typeface="맑은 고딕" pitchFamily="34" charset="0"/>
                <a:ea typeface="맑은 고딕" pitchFamily="34" charset="-122"/>
                <a:cs typeface="맑은 고딕" pitchFamily="34" charset="-120"/>
              </a:rPr>
              <a:t>이벤트 병합 후처리</a:t>
            </a:r>
            <a:endParaRPr lang="en-US" sz="1100" dirty="0"/>
          </a:p>
          <a:p>
            <a:pPr marL="342900" indent="-342900">
              <a:lnSpc>
                <a:spcPts val="1500"/>
              </a:lnSpc>
              <a:spcAft>
                <a:spcPts val="800"/>
              </a:spcAft>
              <a:buSzPct val="100000"/>
              <a:buChar char="•"/>
            </a:pPr>
            <a:r>
              <a:rPr lang="en-US" sz="1100" dirty="0">
                <a:solidFill>
                  <a:srgbClr val="1F2937"/>
                </a:solidFill>
                <a:latin typeface="맑은 고딕" pitchFamily="34" charset="0"/>
                <a:ea typeface="맑은 고딕" pitchFamily="34" charset="-122"/>
                <a:cs typeface="맑은 고딕" pitchFamily="34" charset="-120"/>
              </a:rPr>
              <a:t>심각도 3단계 분류</a:t>
            </a:r>
            <a:endParaRPr lang="en-US" sz="1100" dirty="0"/>
          </a:p>
        </p:txBody>
      </p:sp>
      <p:sp>
        <p:nvSpPr>
          <p:cNvPr id="25" name="Text 23"/>
          <p:cNvSpPr txBox="1"/>
          <p:nvPr/>
        </p:nvSpPr>
        <p:spPr>
          <a:xfrm>
            <a:off x="9390888" y="2615184"/>
            <a:ext cx="192024" cy="457200"/>
          </a:xfrm>
          <a:prstGeom prst="rect">
            <a:avLst/>
          </a:prstGeom>
          <a:noFill/>
          <a:ln/>
        </p:spPr>
        <p:txBody>
          <a:bodyPr wrap="square" lIns="0" tIns="0" rIns="0" bIns="0" rtlCol="0" anchor="ctr"/>
          <a:lstStyle/>
          <a:p>
            <a:pPr marL="0" indent="0" algn="ctr">
              <a:buNone/>
            </a:pPr>
            <a:r>
              <a:rPr lang="en-US" sz="2200" b="1" dirty="0">
                <a:solidFill>
                  <a:srgbClr val="6B7280"/>
                </a:solidFill>
                <a:latin typeface="Arial" pitchFamily="34" charset="0"/>
                <a:ea typeface="Arial" pitchFamily="34" charset="-122"/>
                <a:cs typeface="Arial" pitchFamily="34" charset="-120"/>
              </a:rPr>
              <a:t>›</a:t>
            </a:r>
            <a:endParaRPr lang="en-US" sz="2200" dirty="0"/>
          </a:p>
        </p:txBody>
      </p:sp>
      <p:sp>
        <p:nvSpPr>
          <p:cNvPr id="26" name="Shape 24"/>
          <p:cNvSpPr/>
          <p:nvPr/>
        </p:nvSpPr>
        <p:spPr>
          <a:xfrm>
            <a:off x="9582912" y="1572768"/>
            <a:ext cx="2048256" cy="2542032"/>
          </a:xfrm>
          <a:prstGeom prst="roundRect">
            <a:avLst>
              <a:gd name="adj" fmla="val 3571"/>
            </a:avLst>
          </a:prstGeom>
          <a:solidFill>
            <a:srgbClr val="ECEFF3"/>
          </a:solidFill>
          <a:ln w="12700">
            <a:solidFill>
              <a:srgbClr val="DDE1E7"/>
            </a:solidFill>
            <a:prstDash val="solid"/>
          </a:ln>
        </p:spPr>
      </p:sp>
      <p:sp>
        <p:nvSpPr>
          <p:cNvPr id="27" name="Shape 25"/>
          <p:cNvSpPr/>
          <p:nvPr/>
        </p:nvSpPr>
        <p:spPr>
          <a:xfrm>
            <a:off x="9582912" y="1572768"/>
            <a:ext cx="2048256" cy="420624"/>
          </a:xfrm>
          <a:prstGeom prst="rect">
            <a:avLst/>
          </a:prstGeom>
          <a:solidFill>
            <a:srgbClr val="D8DDE4"/>
          </a:solidFill>
          <a:ln/>
        </p:spPr>
      </p:sp>
      <p:sp>
        <p:nvSpPr>
          <p:cNvPr id="28" name="Text 26"/>
          <p:cNvSpPr txBox="1"/>
          <p:nvPr/>
        </p:nvSpPr>
        <p:spPr>
          <a:xfrm>
            <a:off x="9582912" y="1572768"/>
            <a:ext cx="2048256" cy="420624"/>
          </a:xfrm>
          <a:prstGeom prst="rect">
            <a:avLst/>
          </a:prstGeom>
          <a:noFill/>
          <a:ln/>
        </p:spPr>
        <p:txBody>
          <a:bodyPr wrap="square" lIns="0" tIns="0" rIns="0" bIns="0" rtlCol="0" anchor="ctr"/>
          <a:lstStyle/>
          <a:p>
            <a:pPr marL="0" indent="0" algn="ctr">
              <a:buNone/>
            </a:pPr>
            <a:r>
              <a:rPr lang="en-US" sz="1300" b="1" dirty="0">
                <a:solidFill>
                  <a:srgbClr val="14213D"/>
                </a:solidFill>
                <a:latin typeface="맑은 고딕" pitchFamily="34" charset="0"/>
                <a:ea typeface="맑은 고딕" pitchFamily="34" charset="-122"/>
                <a:cs typeface="맑은 고딕" pitchFamily="34" charset="-120"/>
              </a:rPr>
              <a:t>산출물</a:t>
            </a:r>
            <a:endParaRPr lang="en-US" sz="1300" dirty="0"/>
          </a:p>
        </p:txBody>
      </p:sp>
      <p:sp>
        <p:nvSpPr>
          <p:cNvPr id="29" name="Text 27"/>
          <p:cNvSpPr txBox="1"/>
          <p:nvPr/>
        </p:nvSpPr>
        <p:spPr>
          <a:xfrm>
            <a:off x="9765792" y="2157984"/>
            <a:ext cx="1700784" cy="1874520"/>
          </a:xfrm>
          <a:prstGeom prst="rect">
            <a:avLst/>
          </a:prstGeom>
          <a:noFill/>
          <a:ln/>
        </p:spPr>
        <p:txBody>
          <a:bodyPr wrap="square" lIns="0" tIns="0" rIns="0" bIns="0" rtlCol="0" anchor="t"/>
          <a:lstStyle/>
          <a:p>
            <a:pPr marL="342900" indent="-342900">
              <a:lnSpc>
                <a:spcPts val="1500"/>
              </a:lnSpc>
              <a:spcAft>
                <a:spcPts val="800"/>
              </a:spcAft>
              <a:buSzPct val="100000"/>
              <a:buChar char="•"/>
            </a:pPr>
            <a:r>
              <a:rPr lang="en-US" sz="1100" dirty="0">
                <a:solidFill>
                  <a:srgbClr val="1F2937"/>
                </a:solidFill>
                <a:latin typeface="맑은 고딕" pitchFamily="34" charset="0"/>
                <a:ea typeface="맑은 고딕" pitchFamily="34" charset="-122"/>
                <a:cs typeface="맑은 고딕" pitchFamily="34" charset="-120"/>
              </a:rPr>
              <a:t>위반 후보 목록</a:t>
            </a:r>
            <a:endParaRPr lang="en-US" sz="1100" dirty="0"/>
          </a:p>
          <a:p>
            <a:pPr marL="342900" indent="-342900">
              <a:lnSpc>
                <a:spcPts val="1500"/>
              </a:lnSpc>
              <a:spcAft>
                <a:spcPts val="800"/>
              </a:spcAft>
              <a:buSzPct val="100000"/>
              <a:buChar char="•"/>
            </a:pPr>
            <a:r>
              <a:rPr lang="en-US" sz="1100" dirty="0">
                <a:solidFill>
                  <a:srgbClr val="1F2937"/>
                </a:solidFill>
                <a:latin typeface="맑은 고딕" pitchFamily="34" charset="0"/>
                <a:ea typeface="맑은 고딕" pitchFamily="34" charset="-122"/>
                <a:cs typeface="맑은 고딕" pitchFamily="34" charset="-120"/>
              </a:rPr>
              <a:t>진입·통과 스냅샷</a:t>
            </a:r>
            <a:endParaRPr lang="en-US" sz="1100" dirty="0"/>
          </a:p>
          <a:p>
            <a:pPr marL="342900" indent="-342900">
              <a:lnSpc>
                <a:spcPts val="1500"/>
              </a:lnSpc>
              <a:spcAft>
                <a:spcPts val="800"/>
              </a:spcAft>
              <a:buSzPct val="100000"/>
              <a:buChar char="•"/>
            </a:pPr>
            <a:r>
              <a:rPr lang="en-US" sz="1100" dirty="0">
                <a:solidFill>
                  <a:srgbClr val="1F2937"/>
                </a:solidFill>
                <a:latin typeface="맑은 고딕" pitchFamily="34" charset="0"/>
                <a:ea typeface="맑은 고딕" pitchFamily="34" charset="-122"/>
                <a:cs typeface="맑은 고딕" pitchFamily="34" charset="-120"/>
              </a:rPr>
              <a:t>CSV · 주석 영상</a:t>
            </a:r>
            <a:endParaRPr lang="en-US" sz="1100" dirty="0"/>
          </a:p>
        </p:txBody>
      </p:sp>
      <p:sp>
        <p:nvSpPr>
          <p:cNvPr id="30" name="Shape 28"/>
          <p:cNvSpPr/>
          <p:nvPr/>
        </p:nvSpPr>
        <p:spPr>
          <a:xfrm>
            <a:off x="548640" y="4498848"/>
            <a:ext cx="11091672" cy="1691640"/>
          </a:xfrm>
          <a:prstGeom prst="roundRect">
            <a:avLst>
              <a:gd name="adj" fmla="val 4324"/>
            </a:avLst>
          </a:prstGeom>
          <a:solidFill>
            <a:srgbClr val="14213D"/>
          </a:solidFill>
          <a:ln w="12700">
            <a:solidFill>
              <a:srgbClr val="14213D"/>
            </a:solidFill>
            <a:prstDash val="solid"/>
          </a:ln>
        </p:spPr>
      </p:sp>
      <p:sp>
        <p:nvSpPr>
          <p:cNvPr id="31" name="Text 29"/>
          <p:cNvSpPr txBox="1"/>
          <p:nvPr/>
        </p:nvSpPr>
        <p:spPr>
          <a:xfrm>
            <a:off x="868680" y="4681728"/>
            <a:ext cx="10424160" cy="1325880"/>
          </a:xfrm>
          <a:prstGeom prst="rect">
            <a:avLst/>
          </a:prstGeom>
          <a:noFill/>
          <a:ln/>
        </p:spPr>
        <p:txBody>
          <a:bodyPr wrap="square" lIns="0" tIns="0" rIns="0" bIns="0" rtlCol="0" anchor="ctr"/>
          <a:lstStyle/>
          <a:p>
            <a:pPr marL="0" indent="0">
              <a:lnSpc>
                <a:spcPts val="2400"/>
              </a:lnSpc>
              <a:buNone/>
            </a:pPr>
            <a:r>
              <a:rPr lang="en-US" sz="1400" dirty="0">
                <a:solidFill>
                  <a:srgbClr val="D5DCE7"/>
                </a:solidFill>
                <a:latin typeface="맑은 고딕" pitchFamily="34" charset="0"/>
                <a:ea typeface="맑은 고딕" pitchFamily="34" charset="-122"/>
                <a:cs typeface="맑은 고딕" pitchFamily="34" charset="-120"/>
              </a:rPr>
              <a:t>추적 ID가 끊겨도 판정이 무너지지 않도록 설계했다.</a:t>
            </a:r>
            <a:endParaRPr lang="en-US" sz="1400" dirty="0"/>
          </a:p>
          <a:p>
            <a:pPr marL="0" indent="0">
              <a:lnSpc>
                <a:spcPts val="2400"/>
              </a:lnSpc>
              <a:buNone/>
            </a:pPr>
            <a:r>
              <a:rPr lang="en-US" sz="1400" dirty="0">
                <a:solidFill>
                  <a:srgbClr val="D5DCE7"/>
                </a:solidFill>
                <a:latin typeface="맑은 고딕" pitchFamily="34" charset="0"/>
                <a:ea typeface="맑은 고딕" pitchFamily="34" charset="-122"/>
                <a:cs typeface="맑은 고딕" pitchFamily="34" charset="-120"/>
              </a:rPr>
              <a:t>특정 보행자와 특정 차량을 짝짓지 않고, '그 프레임에 대기 중인 보행자가 있었는가'를 기준으로 판정한다. 야간 CCTV에서는 검출 신뢰도가 흔들려 추적 ID가 자주 바뀌는데, 이 방식이면 ID가 끊겨도 판정이 유지된다.</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F2A63B"/>
          </a:solidFill>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marL="0" indent="0" algn="ctr">
              <a:buNone/>
            </a:pPr>
            <a:r>
              <a:rPr lang="en-US" sz="1800" b="1" dirty="0">
                <a:solidFill>
                  <a:srgbClr val="14213D"/>
                </a:solidFill>
                <a:latin typeface="맑은 고딕" pitchFamily="34" charset="0"/>
                <a:ea typeface="맑은 고딕" pitchFamily="34" charset="-122"/>
              </a:rPr>
              <a:t>6</a:t>
            </a:r>
            <a:endParaRPr lang="en-US" sz="1800" dirty="0"/>
          </a:p>
        </p:txBody>
      </p:sp>
      <p:sp>
        <p:nvSpPr>
          <p:cNvPr id="4" name="Text 2"/>
          <p:cNvSpPr txBox="1"/>
          <p:nvPr/>
        </p:nvSpPr>
        <p:spPr>
          <a:xfrm>
            <a:off x="1170432" y="347472"/>
            <a:ext cx="7680960" cy="548640"/>
          </a:xfrm>
          <a:prstGeom prst="rect">
            <a:avLst/>
          </a:prstGeom>
          <a:noFill/>
          <a:ln/>
        </p:spPr>
        <p:txBody>
          <a:bodyPr wrap="square" lIns="0" tIns="0" rIns="0" bIns="0" rtlCol="0" anchor="ctr"/>
          <a:lstStyle/>
          <a:p>
            <a:pPr marL="0" indent="0" algn="l">
              <a:buNone/>
            </a:pPr>
            <a:r>
              <a:rPr lang="en-US" sz="3000" b="1" dirty="0">
                <a:solidFill>
                  <a:srgbClr val="14213D"/>
                </a:solidFill>
                <a:latin typeface="맑은 고딕" pitchFamily="34" charset="0"/>
                <a:ea typeface="맑은 고딕" pitchFamily="34" charset="-122"/>
                <a:cs typeface="맑은 고딕" pitchFamily="34" charset="-120"/>
              </a:rPr>
              <a:t>핵심 판정 로직</a:t>
            </a:r>
            <a:endParaRPr lang="en-US" sz="3000" dirty="0"/>
          </a:p>
        </p:txBody>
      </p:sp>
      <p:sp>
        <p:nvSpPr>
          <p:cNvPr id="5" name="Text 3"/>
          <p:cNvSpPr txBox="1"/>
          <p:nvPr/>
        </p:nvSpPr>
        <p:spPr>
          <a:xfrm>
            <a:off x="1170432" y="896112"/>
            <a:ext cx="10424160" cy="310896"/>
          </a:xfrm>
          <a:prstGeom prst="rect">
            <a:avLst/>
          </a:prstGeom>
          <a:noFill/>
          <a:ln/>
        </p:spPr>
        <p:txBody>
          <a:bodyPr wrap="square" lIns="0" tIns="0" rIns="0" bIns="0" rtlCol="0" anchor="ctr"/>
          <a:lstStyle/>
          <a:p>
            <a:pPr marL="0" indent="0" algn="l">
              <a:buNone/>
            </a:pPr>
            <a:r>
              <a:rPr lang="en-US" sz="1300" dirty="0">
                <a:solidFill>
                  <a:srgbClr val="6B7280"/>
                </a:solidFill>
                <a:latin typeface="맑은 고딕" pitchFamily="34" charset="0"/>
                <a:ea typeface="맑은 고딕" pitchFamily="34" charset="-122"/>
                <a:cs typeface="맑은 고딕" pitchFamily="34" charset="-120"/>
              </a:rPr>
              <a:t>제27조의 두 요건을 각각 어떻게 측정했는가</a:t>
            </a:r>
            <a:endParaRPr lang="en-US" sz="1300" dirty="0"/>
          </a:p>
        </p:txBody>
      </p:sp>
      <p:sp>
        <p:nvSpPr>
          <p:cNvPr id="6" name="Shape 4"/>
          <p:cNvSpPr/>
          <p:nvPr/>
        </p:nvSpPr>
        <p:spPr>
          <a:xfrm>
            <a:off x="548640" y="1572768"/>
            <a:ext cx="5440680" cy="4041648"/>
          </a:xfrm>
          <a:prstGeom prst="roundRect">
            <a:avLst>
              <a:gd name="adj" fmla="val 1810"/>
            </a:avLst>
          </a:prstGeom>
          <a:solidFill>
            <a:srgbClr val="FFFFFF"/>
          </a:solidFill>
          <a:ln w="12700">
            <a:solidFill>
              <a:srgbClr val="DDE1E7"/>
            </a:solidFill>
            <a:prstDash val="solid"/>
          </a:ln>
        </p:spPr>
      </p:sp>
      <p:sp>
        <p:nvSpPr>
          <p:cNvPr id="7" name="Shape 5"/>
          <p:cNvSpPr/>
          <p:nvPr/>
        </p:nvSpPr>
        <p:spPr>
          <a:xfrm>
            <a:off x="548640" y="1572768"/>
            <a:ext cx="5440680" cy="475488"/>
          </a:xfrm>
          <a:prstGeom prst="rect">
            <a:avLst/>
          </a:prstGeom>
          <a:solidFill>
            <a:srgbClr val="14213D"/>
          </a:solidFill>
          <a:ln/>
        </p:spPr>
      </p:sp>
      <p:sp>
        <p:nvSpPr>
          <p:cNvPr id="8" name="Text 6"/>
          <p:cNvSpPr txBox="1"/>
          <p:nvPr/>
        </p:nvSpPr>
        <p:spPr>
          <a:xfrm>
            <a:off x="822960" y="1572768"/>
            <a:ext cx="4937760" cy="475488"/>
          </a:xfrm>
          <a:prstGeom prst="rect">
            <a:avLst/>
          </a:prstGeom>
          <a:noFill/>
          <a:ln/>
        </p:spPr>
        <p:txBody>
          <a:bodyPr wrap="square" lIns="0" tIns="0" rIns="0" bIns="0" rtlCol="0" anchor="ctr"/>
          <a:lstStyle/>
          <a:p>
            <a:pPr marL="0" indent="0">
              <a:buNone/>
            </a:pPr>
            <a:r>
              <a:rPr lang="en-US" sz="1400" b="1" dirty="0">
                <a:solidFill>
                  <a:srgbClr val="FFFFFF"/>
                </a:solidFill>
                <a:latin typeface="맑은 고딕" pitchFamily="34" charset="0"/>
                <a:ea typeface="맑은 고딕" pitchFamily="34" charset="-122"/>
                <a:cs typeface="맑은 고딕" pitchFamily="34" charset="-120"/>
              </a:rPr>
              <a:t>요건 ①  보행자가 있었는가</a:t>
            </a:r>
            <a:endParaRPr lang="en-US" sz="1400" dirty="0"/>
          </a:p>
        </p:txBody>
      </p:sp>
      <p:sp>
        <p:nvSpPr>
          <p:cNvPr id="9" name="Text 7"/>
          <p:cNvSpPr txBox="1"/>
          <p:nvPr/>
        </p:nvSpPr>
        <p:spPr>
          <a:xfrm>
            <a:off x="822960" y="2212848"/>
            <a:ext cx="4846320" cy="292608"/>
          </a:xfrm>
          <a:prstGeom prst="rect">
            <a:avLst/>
          </a:prstGeom>
          <a:noFill/>
          <a:ln/>
        </p:spPr>
        <p:txBody>
          <a:bodyPr wrap="square" lIns="0" tIns="0" rIns="0" bIns="0" rtlCol="0" anchor="ctr"/>
          <a:lstStyle/>
          <a:p>
            <a:pPr marL="0" indent="0">
              <a:buNone/>
            </a:pPr>
            <a:r>
              <a:rPr lang="en-US" sz="1400" b="1" dirty="0">
                <a:solidFill>
                  <a:srgbClr val="F2A63B"/>
                </a:solidFill>
                <a:latin typeface="맑은 고딕" pitchFamily="34" charset="0"/>
                <a:ea typeface="맑은 고딕" pitchFamily="34" charset="-122"/>
                <a:cs typeface="맑은 고딕" pitchFamily="34" charset="-120"/>
              </a:rPr>
              <a:t>정규화 거리</a:t>
            </a:r>
            <a:endParaRPr lang="en-US" sz="1400" dirty="0"/>
          </a:p>
        </p:txBody>
      </p:sp>
      <p:sp>
        <p:nvSpPr>
          <p:cNvPr id="10" name="Text 8"/>
          <p:cNvSpPr txBox="1"/>
          <p:nvPr/>
        </p:nvSpPr>
        <p:spPr>
          <a:xfrm>
            <a:off x="822960" y="2523744"/>
            <a:ext cx="4846320" cy="292608"/>
          </a:xfrm>
          <a:prstGeom prst="rect">
            <a:avLst/>
          </a:prstGeom>
          <a:noFill/>
          <a:ln/>
        </p:spPr>
        <p:txBody>
          <a:bodyPr wrap="square" lIns="0" tIns="0" rIns="0" bIns="0" rtlCol="0" anchor="ctr"/>
          <a:lstStyle/>
          <a:p>
            <a:pPr marL="0" indent="0">
              <a:buNone/>
            </a:pPr>
            <a:r>
              <a:rPr lang="en-US" sz="1250" dirty="0">
                <a:solidFill>
                  <a:srgbClr val="1F2937"/>
                </a:solidFill>
                <a:latin typeface="맑은 고딕" pitchFamily="34" charset="0"/>
                <a:ea typeface="맑은 고딕" pitchFamily="34" charset="-122"/>
                <a:cs typeface="맑은 고딕" pitchFamily="34" charset="-120"/>
              </a:rPr>
              <a:t>픽셀 거리 ÷ 바운딩박스 높이</a:t>
            </a:r>
            <a:endParaRPr lang="en-US" sz="1250" dirty="0"/>
          </a:p>
        </p:txBody>
      </p:sp>
      <p:sp>
        <p:nvSpPr>
          <p:cNvPr id="11" name="Text 9"/>
          <p:cNvSpPr txBox="1"/>
          <p:nvPr/>
        </p:nvSpPr>
        <p:spPr>
          <a:xfrm>
            <a:off x="822960" y="2852928"/>
            <a:ext cx="4846320" cy="658368"/>
          </a:xfrm>
          <a:prstGeom prst="rect">
            <a:avLst/>
          </a:prstGeom>
          <a:noFill/>
          <a:ln/>
        </p:spPr>
        <p:txBody>
          <a:bodyPr wrap="square" lIns="0" tIns="0" rIns="0" bIns="0" rtlCol="0" anchor="ctr"/>
          <a:lstStyle/>
          <a:p>
            <a:pPr marL="0" indent="0">
              <a:lnSpc>
                <a:spcPts val="1700"/>
              </a:lnSpc>
              <a:buNone/>
            </a:pPr>
            <a:r>
              <a:rPr lang="en-US" sz="1150" dirty="0">
                <a:solidFill>
                  <a:srgbClr val="6B7280"/>
                </a:solidFill>
                <a:latin typeface="맑은 고딕" pitchFamily="34" charset="0"/>
                <a:ea typeface="맑은 고딕" pitchFamily="34" charset="-122"/>
                <a:cs typeface="맑은 고딕" pitchFamily="34" charset="-120"/>
              </a:rPr>
              <a:t>CCTV는 원근 때문에 화면 위쪽 1m와 아래쪽 1m의 픽셀 거리가 전혀 다르다. 사람 키(박스 높이)로 나눠 실제 거리에 </a:t>
            </a:r>
            <a:r>
              <a:rPr lang="en-US" sz="1150">
                <a:solidFill>
                  <a:srgbClr val="6B7280"/>
                </a:solidFill>
                <a:latin typeface="맑은 고딕" pitchFamily="34" charset="0"/>
                <a:ea typeface="맑은 고딕" pitchFamily="34" charset="-122"/>
                <a:cs typeface="맑은 고딕" pitchFamily="34" charset="-120"/>
              </a:rPr>
              <a:t>가깝게 보정.</a:t>
            </a:r>
            <a:endParaRPr lang="en-US" sz="1150" dirty="0"/>
          </a:p>
        </p:txBody>
      </p:sp>
      <p:sp>
        <p:nvSpPr>
          <p:cNvPr id="12" name="Text 10"/>
          <p:cNvSpPr txBox="1"/>
          <p:nvPr/>
        </p:nvSpPr>
        <p:spPr>
          <a:xfrm>
            <a:off x="822960" y="3611880"/>
            <a:ext cx="4846320" cy="274320"/>
          </a:xfrm>
          <a:prstGeom prst="rect">
            <a:avLst/>
          </a:prstGeom>
          <a:noFill/>
          <a:ln/>
        </p:spPr>
        <p:txBody>
          <a:bodyPr wrap="square" lIns="0" tIns="0" rIns="0" bIns="0" rtlCol="0" anchor="ctr"/>
          <a:lstStyle/>
          <a:p>
            <a:pPr marL="0" indent="0">
              <a:buNone/>
            </a:pPr>
            <a:r>
              <a:rPr lang="en-US" sz="1250" b="1" dirty="0">
                <a:solidFill>
                  <a:srgbClr val="14213D"/>
                </a:solidFill>
                <a:latin typeface="맑은 고딕" pitchFamily="34" charset="0"/>
                <a:ea typeface="맑은 고딕" pitchFamily="34" charset="-122"/>
                <a:cs typeface="맑은 고딕" pitchFamily="34" charset="-120"/>
              </a:rPr>
              <a:t>판정에 반영되는 보행자 상태</a:t>
            </a:r>
            <a:endParaRPr lang="en-US" sz="1250" dirty="0"/>
          </a:p>
        </p:txBody>
      </p:sp>
      <p:sp>
        <p:nvSpPr>
          <p:cNvPr id="13" name="Shape 11"/>
          <p:cNvSpPr/>
          <p:nvPr/>
        </p:nvSpPr>
        <p:spPr>
          <a:xfrm>
            <a:off x="822960" y="3913632"/>
            <a:ext cx="4846320" cy="347472"/>
          </a:xfrm>
          <a:prstGeom prst="roundRect">
            <a:avLst>
              <a:gd name="adj" fmla="val 13158"/>
            </a:avLst>
          </a:prstGeom>
          <a:solidFill>
            <a:srgbClr val="FDF0DC"/>
          </a:solidFill>
          <a:ln w="12700">
            <a:solidFill>
              <a:srgbClr val="F2A63B"/>
            </a:solidFill>
            <a:prstDash val="solid"/>
          </a:ln>
        </p:spPr>
      </p:sp>
      <p:sp>
        <p:nvSpPr>
          <p:cNvPr id="14" name="Text 12"/>
          <p:cNvSpPr txBox="1"/>
          <p:nvPr/>
        </p:nvSpPr>
        <p:spPr>
          <a:xfrm>
            <a:off x="1005840" y="3913632"/>
            <a:ext cx="4572000" cy="347472"/>
          </a:xfrm>
          <a:prstGeom prst="rect">
            <a:avLst/>
          </a:prstGeom>
          <a:noFill/>
          <a:ln/>
        </p:spPr>
        <p:txBody>
          <a:bodyPr wrap="square" lIns="0" tIns="0" rIns="0" bIns="0" rtlCol="0" anchor="ctr"/>
          <a:lstStyle/>
          <a:p>
            <a:pPr marL="0" indent="0">
              <a:buNone/>
            </a:pPr>
            <a:r>
              <a:rPr lang="en-US" sz="1150" dirty="0">
                <a:solidFill>
                  <a:srgbClr val="1F2937"/>
                </a:solidFill>
                <a:latin typeface="맑은 고딕" pitchFamily="34" charset="0"/>
                <a:ea typeface="맑은 고딕" pitchFamily="34" charset="-122"/>
                <a:cs typeface="맑은 고딕" pitchFamily="34" charset="-120"/>
              </a:rPr>
              <a:t>횡단 중 (crossing)</a:t>
            </a:r>
            <a:endParaRPr lang="en-US" sz="1150" dirty="0"/>
          </a:p>
        </p:txBody>
      </p:sp>
      <p:sp>
        <p:nvSpPr>
          <p:cNvPr id="15" name="Shape 13"/>
          <p:cNvSpPr/>
          <p:nvPr/>
        </p:nvSpPr>
        <p:spPr>
          <a:xfrm>
            <a:off x="822960" y="4334256"/>
            <a:ext cx="4846320" cy="347472"/>
          </a:xfrm>
          <a:prstGeom prst="roundRect">
            <a:avLst>
              <a:gd name="adj" fmla="val 13158"/>
            </a:avLst>
          </a:prstGeom>
          <a:solidFill>
            <a:srgbClr val="FDF0DC"/>
          </a:solidFill>
          <a:ln w="12700">
            <a:solidFill>
              <a:srgbClr val="F2A63B"/>
            </a:solidFill>
            <a:prstDash val="solid"/>
          </a:ln>
        </p:spPr>
      </p:sp>
      <p:sp>
        <p:nvSpPr>
          <p:cNvPr id="16" name="Text 14"/>
          <p:cNvSpPr txBox="1"/>
          <p:nvPr/>
        </p:nvSpPr>
        <p:spPr>
          <a:xfrm>
            <a:off x="1005840" y="4334256"/>
            <a:ext cx="4572000" cy="347472"/>
          </a:xfrm>
          <a:prstGeom prst="rect">
            <a:avLst/>
          </a:prstGeom>
          <a:noFill/>
          <a:ln/>
        </p:spPr>
        <p:txBody>
          <a:bodyPr wrap="square" lIns="0" tIns="0" rIns="0" bIns="0" rtlCol="0" anchor="ctr"/>
          <a:lstStyle/>
          <a:p>
            <a:pPr marL="0" indent="0">
              <a:buNone/>
            </a:pPr>
            <a:r>
              <a:rPr lang="en-US" sz="1150" dirty="0">
                <a:solidFill>
                  <a:srgbClr val="1F2937"/>
                </a:solidFill>
                <a:latin typeface="맑은 고딕" pitchFamily="34" charset="0"/>
                <a:ea typeface="맑은 고딕" pitchFamily="34" charset="-122"/>
                <a:cs typeface="맑은 고딕" pitchFamily="34" charset="-120"/>
              </a:rPr>
              <a:t>대기 · 도로 방향 (waiting_facing)</a:t>
            </a:r>
            <a:endParaRPr lang="en-US" sz="1150" dirty="0"/>
          </a:p>
        </p:txBody>
      </p:sp>
      <p:sp>
        <p:nvSpPr>
          <p:cNvPr id="17" name="Shape 15"/>
          <p:cNvSpPr/>
          <p:nvPr/>
        </p:nvSpPr>
        <p:spPr>
          <a:xfrm>
            <a:off x="822960" y="4754880"/>
            <a:ext cx="4846320" cy="347472"/>
          </a:xfrm>
          <a:prstGeom prst="roundRect">
            <a:avLst>
              <a:gd name="adj" fmla="val 13158"/>
            </a:avLst>
          </a:prstGeom>
          <a:solidFill>
            <a:srgbClr val="F1F3F6"/>
          </a:solidFill>
          <a:ln w="12700">
            <a:solidFill>
              <a:srgbClr val="DDE1E7"/>
            </a:solidFill>
            <a:prstDash val="solid"/>
          </a:ln>
        </p:spPr>
      </p:sp>
      <p:sp>
        <p:nvSpPr>
          <p:cNvPr id="18" name="Text 16"/>
          <p:cNvSpPr txBox="1"/>
          <p:nvPr/>
        </p:nvSpPr>
        <p:spPr>
          <a:xfrm>
            <a:off x="1005840" y="4754880"/>
            <a:ext cx="4572000" cy="347472"/>
          </a:xfrm>
          <a:prstGeom prst="rect">
            <a:avLst/>
          </a:prstGeom>
          <a:noFill/>
          <a:ln/>
        </p:spPr>
        <p:txBody>
          <a:bodyPr wrap="square" lIns="0" tIns="0" rIns="0" bIns="0" rtlCol="0" anchor="ctr"/>
          <a:lstStyle/>
          <a:p>
            <a:pPr marL="0" indent="0">
              <a:buNone/>
            </a:pPr>
            <a:r>
              <a:rPr lang="en-US" sz="1150" dirty="0">
                <a:solidFill>
                  <a:srgbClr val="1F2937"/>
                </a:solidFill>
                <a:latin typeface="맑은 고딕" pitchFamily="34" charset="0"/>
                <a:ea typeface="맑은 고딕" pitchFamily="34" charset="-122"/>
                <a:cs typeface="맑은 고딕" pitchFamily="34" charset="-120"/>
              </a:rPr>
              <a:t>대기 · 기타 (waiting_idle)</a:t>
            </a:r>
            <a:endParaRPr lang="en-US" sz="1150" dirty="0"/>
          </a:p>
        </p:txBody>
      </p:sp>
      <p:sp>
        <p:nvSpPr>
          <p:cNvPr id="19" name="Shape 17"/>
          <p:cNvSpPr/>
          <p:nvPr/>
        </p:nvSpPr>
        <p:spPr>
          <a:xfrm>
            <a:off x="822960" y="5175504"/>
            <a:ext cx="4846320" cy="347472"/>
          </a:xfrm>
          <a:prstGeom prst="roundRect">
            <a:avLst>
              <a:gd name="adj" fmla="val 13158"/>
            </a:avLst>
          </a:prstGeom>
          <a:solidFill>
            <a:srgbClr val="F1F3F6"/>
          </a:solidFill>
          <a:ln w="12700">
            <a:solidFill>
              <a:srgbClr val="DDE1E7"/>
            </a:solidFill>
            <a:prstDash val="solid"/>
          </a:ln>
        </p:spPr>
      </p:sp>
      <p:sp>
        <p:nvSpPr>
          <p:cNvPr id="20" name="Text 18"/>
          <p:cNvSpPr txBox="1"/>
          <p:nvPr/>
        </p:nvSpPr>
        <p:spPr>
          <a:xfrm>
            <a:off x="1005840" y="5175504"/>
            <a:ext cx="4572000" cy="347472"/>
          </a:xfrm>
          <a:prstGeom prst="rect">
            <a:avLst/>
          </a:prstGeom>
          <a:noFill/>
          <a:ln/>
        </p:spPr>
        <p:txBody>
          <a:bodyPr wrap="square" lIns="0" tIns="0" rIns="0" bIns="0" rtlCol="0" anchor="ctr"/>
          <a:lstStyle/>
          <a:p>
            <a:pPr marL="0" indent="0">
              <a:buNone/>
            </a:pPr>
            <a:r>
              <a:rPr lang="en-US" sz="1150" dirty="0">
                <a:solidFill>
                  <a:srgbClr val="1F2937"/>
                </a:solidFill>
                <a:latin typeface="맑은 고딕" pitchFamily="34" charset="0"/>
                <a:ea typeface="맑은 고딕" pitchFamily="34" charset="-122"/>
                <a:cs typeface="맑은 고딕" pitchFamily="34" charset="-120"/>
              </a:rPr>
              <a:t>횡단보도로 접근 중 (approaching)</a:t>
            </a:r>
            <a:endParaRPr lang="en-US" sz="1150" dirty="0"/>
          </a:p>
        </p:txBody>
      </p:sp>
      <p:sp>
        <p:nvSpPr>
          <p:cNvPr id="21" name="Shape 19"/>
          <p:cNvSpPr/>
          <p:nvPr/>
        </p:nvSpPr>
        <p:spPr>
          <a:xfrm>
            <a:off x="6199632" y="1572768"/>
            <a:ext cx="5440680" cy="4041648"/>
          </a:xfrm>
          <a:prstGeom prst="roundRect">
            <a:avLst>
              <a:gd name="adj" fmla="val 1810"/>
            </a:avLst>
          </a:prstGeom>
          <a:solidFill>
            <a:srgbClr val="FFFFFF"/>
          </a:solidFill>
          <a:ln w="12700">
            <a:solidFill>
              <a:srgbClr val="DDE1E7"/>
            </a:solidFill>
            <a:prstDash val="solid"/>
          </a:ln>
        </p:spPr>
      </p:sp>
      <p:sp>
        <p:nvSpPr>
          <p:cNvPr id="22" name="Shape 20"/>
          <p:cNvSpPr/>
          <p:nvPr/>
        </p:nvSpPr>
        <p:spPr>
          <a:xfrm>
            <a:off x="6199632" y="1572768"/>
            <a:ext cx="5440680" cy="475488"/>
          </a:xfrm>
          <a:prstGeom prst="rect">
            <a:avLst/>
          </a:prstGeom>
          <a:solidFill>
            <a:srgbClr val="14213D"/>
          </a:solidFill>
          <a:ln/>
        </p:spPr>
      </p:sp>
      <p:sp>
        <p:nvSpPr>
          <p:cNvPr id="23" name="Text 21"/>
          <p:cNvSpPr txBox="1"/>
          <p:nvPr/>
        </p:nvSpPr>
        <p:spPr>
          <a:xfrm>
            <a:off x="6473952" y="1572768"/>
            <a:ext cx="4937760" cy="475488"/>
          </a:xfrm>
          <a:prstGeom prst="rect">
            <a:avLst/>
          </a:prstGeom>
          <a:noFill/>
          <a:ln/>
        </p:spPr>
        <p:txBody>
          <a:bodyPr wrap="square" lIns="0" tIns="0" rIns="0" bIns="0" rtlCol="0" anchor="ctr"/>
          <a:lstStyle/>
          <a:p>
            <a:pPr marL="0" indent="0">
              <a:buNone/>
            </a:pPr>
            <a:r>
              <a:rPr lang="en-US" sz="1400" b="1" dirty="0">
                <a:solidFill>
                  <a:srgbClr val="FFFFFF"/>
                </a:solidFill>
                <a:latin typeface="맑은 고딕" pitchFamily="34" charset="0"/>
                <a:ea typeface="맑은 고딕" pitchFamily="34" charset="-122"/>
                <a:cs typeface="맑은 고딕" pitchFamily="34" charset="-120"/>
              </a:rPr>
              <a:t>요건 ②  차량이 일시정지했는가</a:t>
            </a:r>
            <a:endParaRPr lang="en-US" sz="1400" dirty="0"/>
          </a:p>
        </p:txBody>
      </p:sp>
      <p:sp>
        <p:nvSpPr>
          <p:cNvPr id="24" name="Text 22"/>
          <p:cNvSpPr txBox="1"/>
          <p:nvPr/>
        </p:nvSpPr>
        <p:spPr>
          <a:xfrm>
            <a:off x="6473952" y="2212848"/>
            <a:ext cx="4846320" cy="292608"/>
          </a:xfrm>
          <a:prstGeom prst="rect">
            <a:avLst/>
          </a:prstGeom>
          <a:noFill/>
          <a:ln/>
        </p:spPr>
        <p:txBody>
          <a:bodyPr wrap="square" lIns="0" tIns="0" rIns="0" bIns="0" rtlCol="0" anchor="ctr"/>
          <a:lstStyle/>
          <a:p>
            <a:pPr marL="0" indent="0">
              <a:buNone/>
            </a:pPr>
            <a:r>
              <a:rPr lang="en-US" sz="1400" b="1" dirty="0">
                <a:solidFill>
                  <a:srgbClr val="F2A63B"/>
                </a:solidFill>
                <a:latin typeface="맑은 고딕" pitchFamily="34" charset="0"/>
                <a:ea typeface="맑은 고딕" pitchFamily="34" charset="-122"/>
                <a:cs typeface="맑은 고딕" pitchFamily="34" charset="-120"/>
              </a:rPr>
              <a:t>3단계 운동 상태 판정</a:t>
            </a:r>
            <a:endParaRPr lang="en-US" sz="1400" dirty="0"/>
          </a:p>
        </p:txBody>
      </p:sp>
      <p:sp>
        <p:nvSpPr>
          <p:cNvPr id="25" name="Text 23"/>
          <p:cNvSpPr txBox="1"/>
          <p:nvPr/>
        </p:nvSpPr>
        <p:spPr>
          <a:xfrm>
            <a:off x="6473952" y="2523744"/>
            <a:ext cx="4846320" cy="777240"/>
          </a:xfrm>
          <a:prstGeom prst="rect">
            <a:avLst/>
          </a:prstGeom>
          <a:noFill/>
          <a:ln/>
        </p:spPr>
        <p:txBody>
          <a:bodyPr wrap="square" lIns="0" tIns="0" rIns="0" bIns="0" rtlCol="0" anchor="ctr"/>
          <a:lstStyle/>
          <a:p>
            <a:pPr marL="0" indent="0">
              <a:lnSpc>
                <a:spcPts val="1700"/>
              </a:lnSpc>
              <a:buNone/>
            </a:pPr>
            <a:r>
              <a:rPr lang="en-US" sz="1150" dirty="0">
                <a:solidFill>
                  <a:srgbClr val="6B7280"/>
                </a:solidFill>
                <a:latin typeface="맑은 고딕" pitchFamily="34" charset="0"/>
                <a:ea typeface="맑은 고딕" pitchFamily="34" charset="-122"/>
                <a:cs typeface="맑은 고딕" pitchFamily="34" charset="-120"/>
              </a:rPr>
              <a:t>제27조의 '일시정지'는 완전 정지를 의미하므로, 서행과 정지를 반드시 구분해야 한다</a:t>
            </a:r>
            <a:r>
              <a:rPr lang="en-US" sz="1150">
                <a:solidFill>
                  <a:srgbClr val="6B7280"/>
                </a:solidFill>
                <a:latin typeface="맑은 고딕" pitchFamily="34" charset="0"/>
                <a:ea typeface="맑은 고딕" pitchFamily="34" charset="-122"/>
                <a:cs typeface="맑은 고딕" pitchFamily="34" charset="-120"/>
              </a:rPr>
              <a:t>. 한 </a:t>
            </a:r>
            <a:r>
              <a:rPr lang="en-US" sz="1150" dirty="0">
                <a:solidFill>
                  <a:srgbClr val="6B7280"/>
                </a:solidFill>
                <a:latin typeface="맑은 고딕" pitchFamily="34" charset="0"/>
                <a:ea typeface="맑은 고딕" pitchFamily="34" charset="-122"/>
                <a:cs typeface="맑은 고딕" pitchFamily="34" charset="-120"/>
              </a:rPr>
              <a:t>프레임의 최저 </a:t>
            </a:r>
            <a:r>
              <a:rPr lang="en-US" sz="1150">
                <a:solidFill>
                  <a:srgbClr val="6B7280"/>
                </a:solidFill>
                <a:latin typeface="맑은 고딕" pitchFamily="34" charset="0"/>
                <a:ea typeface="맑은 고딕" pitchFamily="34" charset="-122"/>
                <a:cs typeface="맑은 고딕" pitchFamily="34" charset="-120"/>
              </a:rPr>
              <a:t>속도가 </a:t>
            </a:r>
            <a:r>
              <a:rPr lang="ko-KR" altLang="en-US" sz="1150">
                <a:solidFill>
                  <a:srgbClr val="6B7280"/>
                </a:solidFill>
                <a:latin typeface="맑은 고딕" pitchFamily="34" charset="0"/>
                <a:ea typeface="맑은 고딕" pitchFamily="34" charset="-122"/>
                <a:cs typeface="맑은 고딕" pitchFamily="34" charset="-120"/>
              </a:rPr>
              <a:t>아닌</a:t>
            </a:r>
            <a:r>
              <a:rPr lang="en-US" sz="1150">
                <a:solidFill>
                  <a:srgbClr val="6B7280"/>
                </a:solidFill>
                <a:latin typeface="맑은 고딕" pitchFamily="34" charset="0"/>
                <a:ea typeface="맑은 고딕" pitchFamily="34" charset="-122"/>
                <a:cs typeface="맑은 고딕" pitchFamily="34" charset="-120"/>
              </a:rPr>
              <a:t> </a:t>
            </a:r>
            <a:r>
              <a:rPr lang="en-US" sz="1150" dirty="0">
                <a:solidFill>
                  <a:srgbClr val="6B7280"/>
                </a:solidFill>
                <a:latin typeface="맑은 고딕" pitchFamily="34" charset="0"/>
                <a:ea typeface="맑은 고딕" pitchFamily="34" charset="-122"/>
                <a:cs typeface="맑은 고딕" pitchFamily="34" charset="-120"/>
              </a:rPr>
              <a:t>정지 지속 시간(0.35초 이상)</a:t>
            </a:r>
            <a:r>
              <a:rPr lang="en-US" sz="1150">
                <a:solidFill>
                  <a:srgbClr val="6B7280"/>
                </a:solidFill>
                <a:latin typeface="맑은 고딕" pitchFamily="34" charset="0"/>
                <a:ea typeface="맑은 고딕" pitchFamily="34" charset="-122"/>
                <a:cs typeface="맑은 고딕" pitchFamily="34" charset="-120"/>
              </a:rPr>
              <a:t>으로 판정.</a:t>
            </a:r>
            <a:endParaRPr lang="en-US" sz="1150" dirty="0"/>
          </a:p>
        </p:txBody>
      </p:sp>
      <p:sp>
        <p:nvSpPr>
          <p:cNvPr id="26" name="Shape 24"/>
          <p:cNvSpPr/>
          <p:nvPr/>
        </p:nvSpPr>
        <p:spPr>
          <a:xfrm>
            <a:off x="6473952" y="3520440"/>
            <a:ext cx="4846320" cy="594360"/>
          </a:xfrm>
          <a:prstGeom prst="roundRect">
            <a:avLst>
              <a:gd name="adj" fmla="val 9231"/>
            </a:avLst>
          </a:prstGeom>
          <a:solidFill>
            <a:srgbClr val="FFFFFF"/>
          </a:solidFill>
          <a:ln w="19050">
            <a:solidFill>
              <a:srgbClr val="3D9970"/>
            </a:solidFill>
            <a:prstDash val="solid"/>
          </a:ln>
        </p:spPr>
      </p:sp>
      <p:sp>
        <p:nvSpPr>
          <p:cNvPr id="27" name="Shape 25"/>
          <p:cNvSpPr/>
          <p:nvPr/>
        </p:nvSpPr>
        <p:spPr>
          <a:xfrm>
            <a:off x="6693408" y="3712464"/>
            <a:ext cx="210312" cy="210312"/>
          </a:xfrm>
          <a:prstGeom prst="ellipse">
            <a:avLst/>
          </a:prstGeom>
          <a:solidFill>
            <a:srgbClr val="3D9970"/>
          </a:solidFill>
          <a:ln/>
        </p:spPr>
      </p:sp>
      <p:sp>
        <p:nvSpPr>
          <p:cNvPr id="28" name="Text 26"/>
          <p:cNvSpPr txBox="1"/>
          <p:nvPr/>
        </p:nvSpPr>
        <p:spPr>
          <a:xfrm>
            <a:off x="7040880" y="3520440"/>
            <a:ext cx="777240" cy="594360"/>
          </a:xfrm>
          <a:prstGeom prst="rect">
            <a:avLst/>
          </a:prstGeom>
          <a:noFill/>
          <a:ln/>
        </p:spPr>
        <p:txBody>
          <a:bodyPr wrap="square" lIns="0" tIns="0" rIns="0" bIns="0" rtlCol="0" anchor="ctr"/>
          <a:lstStyle/>
          <a:p>
            <a:pPr marL="0" indent="0">
              <a:buNone/>
            </a:pPr>
            <a:r>
              <a:rPr lang="en-US" sz="1350" b="1" dirty="0">
                <a:solidFill>
                  <a:srgbClr val="14213D"/>
                </a:solidFill>
                <a:latin typeface="맑은 고딕" pitchFamily="34" charset="0"/>
                <a:ea typeface="맑은 고딕" pitchFamily="34" charset="-122"/>
                <a:cs typeface="맑은 고딕" pitchFamily="34" charset="-120"/>
              </a:rPr>
              <a:t>정지</a:t>
            </a:r>
            <a:endParaRPr lang="en-US" sz="1350" dirty="0"/>
          </a:p>
        </p:txBody>
      </p:sp>
      <p:sp>
        <p:nvSpPr>
          <p:cNvPr id="29" name="Text 27"/>
          <p:cNvSpPr txBox="1"/>
          <p:nvPr/>
        </p:nvSpPr>
        <p:spPr>
          <a:xfrm>
            <a:off x="7818120" y="3520440"/>
            <a:ext cx="3383280" cy="594360"/>
          </a:xfrm>
          <a:prstGeom prst="rect">
            <a:avLst/>
          </a:prstGeom>
          <a:noFill/>
          <a:ln/>
        </p:spPr>
        <p:txBody>
          <a:bodyPr wrap="square" lIns="0" tIns="0" rIns="0" bIns="0" rtlCol="0" anchor="ctr"/>
          <a:lstStyle/>
          <a:p>
            <a:pPr marL="0" indent="0">
              <a:buNone/>
            </a:pPr>
            <a:r>
              <a:rPr lang="en-US" sz="1150" dirty="0">
                <a:solidFill>
                  <a:srgbClr val="6B7280"/>
                </a:solidFill>
                <a:latin typeface="맑은 고딕" pitchFamily="34" charset="0"/>
                <a:ea typeface="맑은 고딕" pitchFamily="34" charset="-122"/>
                <a:cs typeface="맑은 고딕" pitchFamily="34" charset="-120"/>
              </a:rPr>
              <a:t>의무 이행 — 판정 대상 제외</a:t>
            </a:r>
            <a:endParaRPr lang="en-US" sz="1150" dirty="0"/>
          </a:p>
        </p:txBody>
      </p:sp>
      <p:sp>
        <p:nvSpPr>
          <p:cNvPr id="30" name="Shape 28"/>
          <p:cNvSpPr/>
          <p:nvPr/>
        </p:nvSpPr>
        <p:spPr>
          <a:xfrm>
            <a:off x="6473952" y="4233672"/>
            <a:ext cx="4846320" cy="594360"/>
          </a:xfrm>
          <a:prstGeom prst="roundRect">
            <a:avLst>
              <a:gd name="adj" fmla="val 9231"/>
            </a:avLst>
          </a:prstGeom>
          <a:solidFill>
            <a:srgbClr val="FFFFFF"/>
          </a:solidFill>
          <a:ln w="19050">
            <a:solidFill>
              <a:srgbClr val="F2A63B"/>
            </a:solidFill>
            <a:prstDash val="solid"/>
          </a:ln>
        </p:spPr>
      </p:sp>
      <p:sp>
        <p:nvSpPr>
          <p:cNvPr id="31" name="Shape 29"/>
          <p:cNvSpPr/>
          <p:nvPr/>
        </p:nvSpPr>
        <p:spPr>
          <a:xfrm>
            <a:off x="6693408" y="4425696"/>
            <a:ext cx="210312" cy="210312"/>
          </a:xfrm>
          <a:prstGeom prst="ellipse">
            <a:avLst/>
          </a:prstGeom>
          <a:solidFill>
            <a:srgbClr val="F2A63B"/>
          </a:solidFill>
          <a:ln/>
        </p:spPr>
      </p:sp>
      <p:sp>
        <p:nvSpPr>
          <p:cNvPr id="32" name="Text 30"/>
          <p:cNvSpPr txBox="1"/>
          <p:nvPr/>
        </p:nvSpPr>
        <p:spPr>
          <a:xfrm>
            <a:off x="7040880" y="4233672"/>
            <a:ext cx="777240" cy="594360"/>
          </a:xfrm>
          <a:prstGeom prst="rect">
            <a:avLst/>
          </a:prstGeom>
          <a:noFill/>
          <a:ln/>
        </p:spPr>
        <p:txBody>
          <a:bodyPr wrap="square" lIns="0" tIns="0" rIns="0" bIns="0" rtlCol="0" anchor="ctr"/>
          <a:lstStyle/>
          <a:p>
            <a:pPr marL="0" indent="0">
              <a:buNone/>
            </a:pPr>
            <a:r>
              <a:rPr lang="en-US" sz="1350" b="1" dirty="0">
                <a:solidFill>
                  <a:srgbClr val="14213D"/>
                </a:solidFill>
                <a:latin typeface="맑은 고딕" pitchFamily="34" charset="0"/>
                <a:ea typeface="맑은 고딕" pitchFamily="34" charset="-122"/>
                <a:cs typeface="맑은 고딕" pitchFamily="34" charset="-120"/>
              </a:rPr>
              <a:t>서행</a:t>
            </a:r>
            <a:endParaRPr lang="en-US" sz="1350" dirty="0"/>
          </a:p>
        </p:txBody>
      </p:sp>
      <p:sp>
        <p:nvSpPr>
          <p:cNvPr id="33" name="Text 31"/>
          <p:cNvSpPr txBox="1"/>
          <p:nvPr/>
        </p:nvSpPr>
        <p:spPr>
          <a:xfrm>
            <a:off x="7818120" y="4233672"/>
            <a:ext cx="3383280" cy="594360"/>
          </a:xfrm>
          <a:prstGeom prst="rect">
            <a:avLst/>
          </a:prstGeom>
          <a:noFill/>
          <a:ln/>
        </p:spPr>
        <p:txBody>
          <a:bodyPr wrap="square" lIns="0" tIns="0" rIns="0" bIns="0" rtlCol="0" anchor="ctr"/>
          <a:lstStyle/>
          <a:p>
            <a:pPr marL="0" indent="0">
              <a:buNone/>
            </a:pPr>
            <a:r>
              <a:rPr lang="en-US" sz="1150" dirty="0">
                <a:solidFill>
                  <a:srgbClr val="6B7280"/>
                </a:solidFill>
                <a:latin typeface="맑은 고딕" pitchFamily="34" charset="0"/>
                <a:ea typeface="맑은 고딕" pitchFamily="34" charset="-122"/>
                <a:cs typeface="맑은 고딕" pitchFamily="34" charset="-120"/>
              </a:rPr>
              <a:t>정지 아님 — 위반 후보</a:t>
            </a:r>
            <a:endParaRPr lang="en-US" sz="1150" dirty="0"/>
          </a:p>
        </p:txBody>
      </p:sp>
      <p:sp>
        <p:nvSpPr>
          <p:cNvPr id="34" name="Shape 32"/>
          <p:cNvSpPr/>
          <p:nvPr/>
        </p:nvSpPr>
        <p:spPr>
          <a:xfrm>
            <a:off x="6473952" y="4946904"/>
            <a:ext cx="4846320" cy="594360"/>
          </a:xfrm>
          <a:prstGeom prst="roundRect">
            <a:avLst>
              <a:gd name="adj" fmla="val 9231"/>
            </a:avLst>
          </a:prstGeom>
          <a:solidFill>
            <a:srgbClr val="FFFFFF"/>
          </a:solidFill>
          <a:ln w="19050">
            <a:solidFill>
              <a:srgbClr val="D64545"/>
            </a:solidFill>
            <a:prstDash val="solid"/>
          </a:ln>
        </p:spPr>
      </p:sp>
      <p:sp>
        <p:nvSpPr>
          <p:cNvPr id="35" name="Shape 33"/>
          <p:cNvSpPr/>
          <p:nvPr/>
        </p:nvSpPr>
        <p:spPr>
          <a:xfrm>
            <a:off x="6693408" y="5138928"/>
            <a:ext cx="210312" cy="210312"/>
          </a:xfrm>
          <a:prstGeom prst="ellipse">
            <a:avLst/>
          </a:prstGeom>
          <a:solidFill>
            <a:srgbClr val="D64545"/>
          </a:solidFill>
          <a:ln/>
        </p:spPr>
      </p:sp>
      <p:sp>
        <p:nvSpPr>
          <p:cNvPr id="36" name="Text 34"/>
          <p:cNvSpPr txBox="1"/>
          <p:nvPr/>
        </p:nvSpPr>
        <p:spPr>
          <a:xfrm>
            <a:off x="7040880" y="4946904"/>
            <a:ext cx="777240" cy="594360"/>
          </a:xfrm>
          <a:prstGeom prst="rect">
            <a:avLst/>
          </a:prstGeom>
          <a:noFill/>
          <a:ln/>
        </p:spPr>
        <p:txBody>
          <a:bodyPr wrap="square" lIns="0" tIns="0" rIns="0" bIns="0" rtlCol="0" anchor="ctr"/>
          <a:lstStyle/>
          <a:p>
            <a:pPr marL="0" indent="0">
              <a:buNone/>
            </a:pPr>
            <a:r>
              <a:rPr lang="en-US" sz="1350" b="1" dirty="0">
                <a:solidFill>
                  <a:srgbClr val="14213D"/>
                </a:solidFill>
                <a:latin typeface="맑은 고딕" pitchFamily="34" charset="0"/>
                <a:ea typeface="맑은 고딕" pitchFamily="34" charset="-122"/>
                <a:cs typeface="맑은 고딕" pitchFamily="34" charset="-120"/>
              </a:rPr>
              <a:t>통과</a:t>
            </a:r>
            <a:endParaRPr lang="en-US" sz="1350" dirty="0"/>
          </a:p>
        </p:txBody>
      </p:sp>
      <p:sp>
        <p:nvSpPr>
          <p:cNvPr id="37" name="Text 35"/>
          <p:cNvSpPr txBox="1"/>
          <p:nvPr/>
        </p:nvSpPr>
        <p:spPr>
          <a:xfrm>
            <a:off x="7818120" y="4946904"/>
            <a:ext cx="3383280" cy="594360"/>
          </a:xfrm>
          <a:prstGeom prst="rect">
            <a:avLst/>
          </a:prstGeom>
          <a:noFill/>
          <a:ln/>
        </p:spPr>
        <p:txBody>
          <a:bodyPr wrap="square" lIns="0" tIns="0" rIns="0" bIns="0" rtlCol="0" anchor="ctr"/>
          <a:lstStyle/>
          <a:p>
            <a:pPr marL="0" indent="0">
              <a:buNone/>
            </a:pPr>
            <a:r>
              <a:rPr lang="en-US" sz="1150" dirty="0">
                <a:solidFill>
                  <a:srgbClr val="6B7280"/>
                </a:solidFill>
                <a:latin typeface="맑은 고딕" pitchFamily="34" charset="0"/>
                <a:ea typeface="맑은 고딕" pitchFamily="34" charset="-122"/>
                <a:cs typeface="맑은 고딕" pitchFamily="34" charset="-120"/>
              </a:rPr>
              <a:t>정지하지 않고 통과 — 위반 후보</a:t>
            </a:r>
            <a:endParaRPr lang="en-US" sz="1150" dirty="0"/>
          </a:p>
        </p:txBody>
      </p:sp>
      <p:sp>
        <p:nvSpPr>
          <p:cNvPr id="38" name="Shape 36"/>
          <p:cNvSpPr/>
          <p:nvPr/>
        </p:nvSpPr>
        <p:spPr>
          <a:xfrm>
            <a:off x="548640" y="5779008"/>
            <a:ext cx="11091672" cy="777240"/>
          </a:xfrm>
          <a:prstGeom prst="roundRect">
            <a:avLst>
              <a:gd name="adj" fmla="val 9412"/>
            </a:avLst>
          </a:prstGeom>
          <a:solidFill>
            <a:srgbClr val="14213D"/>
          </a:solidFill>
          <a:ln w="12700">
            <a:solidFill>
              <a:srgbClr val="14213D"/>
            </a:solidFill>
            <a:prstDash val="solid"/>
          </a:ln>
        </p:spPr>
      </p:sp>
      <p:sp>
        <p:nvSpPr>
          <p:cNvPr id="39" name="Text 37"/>
          <p:cNvSpPr txBox="1"/>
          <p:nvPr/>
        </p:nvSpPr>
        <p:spPr>
          <a:xfrm>
            <a:off x="868680" y="5779008"/>
            <a:ext cx="1051560" cy="777240"/>
          </a:xfrm>
          <a:prstGeom prst="rect">
            <a:avLst/>
          </a:prstGeom>
          <a:noFill/>
          <a:ln/>
        </p:spPr>
        <p:txBody>
          <a:bodyPr wrap="square" lIns="0" tIns="0" rIns="0" bIns="0" rtlCol="0" anchor="ctr"/>
          <a:lstStyle/>
          <a:p>
            <a:pPr marL="0" indent="0">
              <a:buNone/>
            </a:pPr>
            <a:r>
              <a:rPr lang="en-US" sz="1200" b="1" dirty="0">
                <a:solidFill>
                  <a:srgbClr val="F2A63B"/>
                </a:solidFill>
                <a:latin typeface="맑은 고딕" pitchFamily="34" charset="0"/>
                <a:ea typeface="맑은 고딕" pitchFamily="34" charset="-122"/>
                <a:cs typeface="맑은 고딕" pitchFamily="34" charset="-120"/>
              </a:rPr>
              <a:t>설계 판단</a:t>
            </a:r>
            <a:endParaRPr lang="en-US" sz="1200" dirty="0"/>
          </a:p>
        </p:txBody>
      </p:sp>
      <p:sp>
        <p:nvSpPr>
          <p:cNvPr id="40" name="Text 38"/>
          <p:cNvSpPr txBox="1"/>
          <p:nvPr/>
        </p:nvSpPr>
        <p:spPr>
          <a:xfrm>
            <a:off x="2011680" y="5779008"/>
            <a:ext cx="9326880" cy="777240"/>
          </a:xfrm>
          <a:prstGeom prst="rect">
            <a:avLst/>
          </a:prstGeom>
          <a:noFill/>
          <a:ln/>
        </p:spPr>
        <p:txBody>
          <a:bodyPr wrap="square" lIns="0" tIns="0" rIns="0" bIns="0" rtlCol="0" anchor="ctr"/>
          <a:lstStyle/>
          <a:p>
            <a:pPr marL="0" indent="0">
              <a:lnSpc>
                <a:spcPts val="1900"/>
              </a:lnSpc>
              <a:buNone/>
            </a:pPr>
            <a:r>
              <a:rPr lang="en-US" sz="1200" dirty="0">
                <a:solidFill>
                  <a:srgbClr val="D5DCE7"/>
                </a:solidFill>
                <a:latin typeface="맑은 고딕" pitchFamily="34" charset="0"/>
                <a:ea typeface="맑은 고딕" pitchFamily="34" charset="-122"/>
                <a:cs typeface="맑은 고딕" pitchFamily="34" charset="-120"/>
              </a:rPr>
              <a:t>계획 단계의 딥러닝 횡단의도 예측 모델(PCPA)은 차량 탑재 카메라 데이터로 학습되어 고정 CCTV와 도메인이 맞지 않았다</a:t>
            </a:r>
            <a:r>
              <a:rPr lang="en-US" sz="1200">
                <a:solidFill>
                  <a:srgbClr val="D5DCE7"/>
                </a:solidFill>
                <a:latin typeface="맑은 고딕" pitchFamily="34" charset="0"/>
                <a:ea typeface="맑은 고딕" pitchFamily="34" charset="-122"/>
                <a:cs typeface="맑은 고딕" pitchFamily="34" charset="-120"/>
              </a:rPr>
              <a:t>. </a:t>
            </a:r>
          </a:p>
          <a:p>
            <a:pPr marL="0" indent="0">
              <a:lnSpc>
                <a:spcPts val="1900"/>
              </a:lnSpc>
              <a:buNone/>
            </a:pPr>
            <a:r>
              <a:rPr lang="en-US" sz="1200">
                <a:solidFill>
                  <a:srgbClr val="D5DCE7"/>
                </a:solidFill>
                <a:latin typeface="맑은 고딕" pitchFamily="34" charset="0"/>
                <a:ea typeface="맑은 고딕" pitchFamily="34" charset="-122"/>
                <a:cs typeface="맑은 고딕" pitchFamily="34" charset="-120"/>
              </a:rPr>
              <a:t>검증 </a:t>
            </a:r>
            <a:r>
              <a:rPr lang="en-US" sz="1200" dirty="0">
                <a:solidFill>
                  <a:srgbClr val="D5DCE7"/>
                </a:solidFill>
                <a:latin typeface="맑은 고딕" pitchFamily="34" charset="0"/>
                <a:ea typeface="맑은 고딕" pitchFamily="34" charset="-122"/>
                <a:cs typeface="맑은 고딕" pitchFamily="34" charset="-120"/>
              </a:rPr>
              <a:t>후 제거하고, 조문 요건을 직접 구현한 규칙 기반 판정으로 전환했다.</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F2A63B"/>
          </a:solidFill>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marL="0" indent="0" algn="ctr">
              <a:buNone/>
            </a:pPr>
            <a:r>
              <a:rPr lang="en-US" sz="1800" b="1">
                <a:solidFill>
                  <a:srgbClr val="14213D"/>
                </a:solidFill>
                <a:latin typeface="맑은 고딕" pitchFamily="34" charset="0"/>
                <a:ea typeface="맑은 고딕" pitchFamily="34" charset="-122"/>
              </a:rPr>
              <a:t>7.1</a:t>
            </a:r>
            <a:endParaRPr lang="en-US" sz="1800" dirty="0"/>
          </a:p>
        </p:txBody>
      </p:sp>
      <p:sp>
        <p:nvSpPr>
          <p:cNvPr id="4" name="Text 2"/>
          <p:cNvSpPr txBox="1"/>
          <p:nvPr/>
        </p:nvSpPr>
        <p:spPr>
          <a:xfrm>
            <a:off x="1170432" y="347472"/>
            <a:ext cx="7680960" cy="548640"/>
          </a:xfrm>
          <a:prstGeom prst="rect">
            <a:avLst/>
          </a:prstGeom>
          <a:noFill/>
          <a:ln/>
        </p:spPr>
        <p:txBody>
          <a:bodyPr wrap="square" lIns="0" tIns="0" rIns="0" bIns="0" rtlCol="0" anchor="ctr"/>
          <a:lstStyle/>
          <a:p>
            <a:pPr marL="0" indent="0" algn="l">
              <a:buNone/>
            </a:pPr>
            <a:r>
              <a:rPr lang="en-US" sz="3000" b="1" dirty="0">
                <a:solidFill>
                  <a:srgbClr val="14213D"/>
                </a:solidFill>
                <a:latin typeface="맑은 고딕" pitchFamily="34" charset="0"/>
                <a:ea typeface="맑은 고딕" pitchFamily="34" charset="-122"/>
                <a:cs typeface="맑은 고딕" pitchFamily="34" charset="-120"/>
              </a:rPr>
              <a:t>핵심 기능</a:t>
            </a:r>
            <a:endParaRPr lang="en-US" sz="3000" dirty="0"/>
          </a:p>
        </p:txBody>
      </p:sp>
      <p:sp>
        <p:nvSpPr>
          <p:cNvPr id="5" name="Text 3"/>
          <p:cNvSpPr txBox="1"/>
          <p:nvPr/>
        </p:nvSpPr>
        <p:spPr>
          <a:xfrm>
            <a:off x="1170432" y="896112"/>
            <a:ext cx="10424160" cy="310896"/>
          </a:xfrm>
          <a:prstGeom prst="rect">
            <a:avLst/>
          </a:prstGeom>
          <a:noFill/>
          <a:ln/>
        </p:spPr>
        <p:txBody>
          <a:bodyPr wrap="square" lIns="0" tIns="0" rIns="0" bIns="0" rtlCol="0" anchor="ctr"/>
          <a:lstStyle/>
          <a:p>
            <a:pPr marL="0" indent="0" algn="l">
              <a:buNone/>
            </a:pPr>
            <a:r>
              <a:rPr lang="en-US" sz="1300" dirty="0">
                <a:solidFill>
                  <a:srgbClr val="6B7280"/>
                </a:solidFill>
                <a:latin typeface="맑은 고딕" pitchFamily="34" charset="0"/>
                <a:ea typeface="맑은 고딕" pitchFamily="34" charset="-122"/>
                <a:cs typeface="맑은 고딕" pitchFamily="34" charset="-120"/>
              </a:rPr>
              <a:t>실제 야간 CCTV에서 검출된 위반 장면</a:t>
            </a:r>
            <a:endParaRPr lang="en-US" sz="1300" dirty="0"/>
          </a:p>
        </p:txBody>
      </p:sp>
      <p:sp>
        <p:nvSpPr>
          <p:cNvPr id="7" name="Text 4"/>
          <p:cNvSpPr txBox="1"/>
          <p:nvPr/>
        </p:nvSpPr>
        <p:spPr>
          <a:xfrm>
            <a:off x="548640" y="6144768"/>
            <a:ext cx="6446520" cy="292608"/>
          </a:xfrm>
          <a:prstGeom prst="rect">
            <a:avLst/>
          </a:prstGeom>
          <a:noFill/>
          <a:ln/>
        </p:spPr>
        <p:txBody>
          <a:bodyPr wrap="square" lIns="0" tIns="0" rIns="0" bIns="0" rtlCol="0" anchor="ctr"/>
          <a:lstStyle/>
          <a:p>
            <a:pPr marL="0" indent="0">
              <a:buNone/>
            </a:pPr>
            <a:r>
              <a:rPr lang="en-US" sz="1100" dirty="0">
                <a:solidFill>
                  <a:srgbClr val="6B7280"/>
                </a:solidFill>
                <a:latin typeface="맑은 고딕" pitchFamily="34" charset="0"/>
                <a:ea typeface="맑은 고딕" pitchFamily="34" charset="-122"/>
                <a:cs typeface="맑은 고딕" pitchFamily="34" charset="-120"/>
              </a:rPr>
              <a:t>자동차 1대와 오토바이 1대가 보행자 대기 중 정지 없이 횡단보도를 통과 (4.2초 시점)</a:t>
            </a:r>
            <a:endParaRPr lang="en-US" sz="1100" dirty="0"/>
          </a:p>
        </p:txBody>
      </p:sp>
      <p:sp>
        <p:nvSpPr>
          <p:cNvPr id="8" name="Shape 5"/>
          <p:cNvSpPr/>
          <p:nvPr/>
        </p:nvSpPr>
        <p:spPr>
          <a:xfrm>
            <a:off x="7178040" y="1572768"/>
            <a:ext cx="4462272" cy="1033272"/>
          </a:xfrm>
          <a:prstGeom prst="roundRect">
            <a:avLst>
              <a:gd name="adj" fmla="val 7080"/>
            </a:avLst>
          </a:prstGeom>
          <a:solidFill>
            <a:srgbClr val="FFFFFF"/>
          </a:solidFill>
          <a:ln w="12700">
            <a:solidFill>
              <a:srgbClr val="DDE1E7"/>
            </a:solidFill>
            <a:prstDash val="solid"/>
          </a:ln>
        </p:spPr>
      </p:sp>
      <p:sp>
        <p:nvSpPr>
          <p:cNvPr id="9" name="Shape 6"/>
          <p:cNvSpPr/>
          <p:nvPr/>
        </p:nvSpPr>
        <p:spPr>
          <a:xfrm>
            <a:off x="7424928" y="1773936"/>
            <a:ext cx="292608" cy="292608"/>
          </a:xfrm>
          <a:prstGeom prst="ellipse">
            <a:avLst/>
          </a:prstGeom>
          <a:solidFill>
            <a:srgbClr val="F2A63B"/>
          </a:solidFill>
          <a:ln/>
        </p:spPr>
      </p:sp>
      <p:sp>
        <p:nvSpPr>
          <p:cNvPr id="10" name="Text 7"/>
          <p:cNvSpPr txBox="1"/>
          <p:nvPr/>
        </p:nvSpPr>
        <p:spPr>
          <a:xfrm>
            <a:off x="7863840" y="1719072"/>
            <a:ext cx="3611880" cy="365760"/>
          </a:xfrm>
          <a:prstGeom prst="rect">
            <a:avLst/>
          </a:prstGeom>
          <a:noFill/>
          <a:ln/>
        </p:spPr>
        <p:txBody>
          <a:bodyPr wrap="square" lIns="0" tIns="0" rIns="0" bIns="0" rtlCol="0" anchor="ctr"/>
          <a:lstStyle/>
          <a:p>
            <a:pPr marL="0" indent="0">
              <a:buNone/>
            </a:pPr>
            <a:r>
              <a:rPr lang="en-US" sz="1400" b="1" dirty="0">
                <a:solidFill>
                  <a:srgbClr val="14213D"/>
                </a:solidFill>
                <a:latin typeface="맑은 고딕" pitchFamily="34" charset="0"/>
                <a:ea typeface="맑은 고딕" pitchFamily="34" charset="-122"/>
                <a:cs typeface="맑은 고딕" pitchFamily="34" charset="-120"/>
              </a:rPr>
              <a:t>위반 후보 자동 추출</a:t>
            </a:r>
            <a:endParaRPr lang="en-US" sz="1400" dirty="0"/>
          </a:p>
        </p:txBody>
      </p:sp>
      <p:sp>
        <p:nvSpPr>
          <p:cNvPr id="11" name="Text 8"/>
          <p:cNvSpPr txBox="1"/>
          <p:nvPr/>
        </p:nvSpPr>
        <p:spPr>
          <a:xfrm>
            <a:off x="7863840" y="2103120"/>
            <a:ext cx="3611880" cy="457200"/>
          </a:xfrm>
          <a:prstGeom prst="rect">
            <a:avLst/>
          </a:prstGeom>
          <a:noFill/>
          <a:ln/>
        </p:spPr>
        <p:txBody>
          <a:bodyPr wrap="square" lIns="0" tIns="0" rIns="0" bIns="0" rtlCol="0" anchor="t"/>
          <a:lstStyle/>
          <a:p>
            <a:pPr marL="0" indent="0">
              <a:lnSpc>
                <a:spcPts val="1500"/>
              </a:lnSpc>
              <a:buNone/>
            </a:pPr>
            <a:r>
              <a:rPr lang="en-US" sz="1100" dirty="0">
                <a:solidFill>
                  <a:srgbClr val="6B7280"/>
                </a:solidFill>
                <a:latin typeface="맑은 고딕" pitchFamily="34" charset="0"/>
                <a:ea typeface="맑은 고딕" pitchFamily="34" charset="-122"/>
                <a:cs typeface="맑은 고딕" pitchFamily="34" charset="-120"/>
              </a:rPr>
              <a:t>영상 전체에서 제27조 위반 가능성이 있는 </a:t>
            </a:r>
            <a:r>
              <a:rPr lang="en-US" sz="1100">
                <a:solidFill>
                  <a:srgbClr val="6B7280"/>
                </a:solidFill>
                <a:latin typeface="맑은 고딕" pitchFamily="34" charset="0"/>
                <a:ea typeface="맑은 고딕" pitchFamily="34" charset="-122"/>
                <a:cs typeface="맑은 고딕" pitchFamily="34" charset="-120"/>
              </a:rPr>
              <a:t>구간만 </a:t>
            </a:r>
          </a:p>
          <a:p>
            <a:pPr marL="0" indent="0">
              <a:lnSpc>
                <a:spcPts val="1500"/>
              </a:lnSpc>
              <a:buNone/>
            </a:pPr>
            <a:r>
              <a:rPr lang="en-US" sz="1100">
                <a:solidFill>
                  <a:srgbClr val="6B7280"/>
                </a:solidFill>
                <a:latin typeface="맑은 고딕" pitchFamily="34" charset="0"/>
                <a:ea typeface="맑은 고딕" pitchFamily="34" charset="-122"/>
                <a:cs typeface="맑은 고딕" pitchFamily="34" charset="-120"/>
              </a:rPr>
              <a:t>목록으로 </a:t>
            </a:r>
            <a:r>
              <a:rPr lang="en-US" sz="1100" dirty="0">
                <a:solidFill>
                  <a:srgbClr val="6B7280"/>
                </a:solidFill>
                <a:latin typeface="맑은 고딕" pitchFamily="34" charset="0"/>
                <a:ea typeface="맑은 고딕" pitchFamily="34" charset="-122"/>
                <a:cs typeface="맑은 고딕" pitchFamily="34" charset="-120"/>
              </a:rPr>
              <a:t>제시</a:t>
            </a:r>
            <a:endParaRPr lang="en-US" sz="1100" dirty="0"/>
          </a:p>
        </p:txBody>
      </p:sp>
      <p:sp>
        <p:nvSpPr>
          <p:cNvPr id="12" name="Shape 9"/>
          <p:cNvSpPr/>
          <p:nvPr/>
        </p:nvSpPr>
        <p:spPr>
          <a:xfrm>
            <a:off x="7178040" y="2743200"/>
            <a:ext cx="4462272" cy="1033272"/>
          </a:xfrm>
          <a:prstGeom prst="roundRect">
            <a:avLst>
              <a:gd name="adj" fmla="val 7080"/>
            </a:avLst>
          </a:prstGeom>
          <a:solidFill>
            <a:srgbClr val="FFFFFF"/>
          </a:solidFill>
          <a:ln w="12700">
            <a:solidFill>
              <a:srgbClr val="DDE1E7"/>
            </a:solidFill>
            <a:prstDash val="solid"/>
          </a:ln>
        </p:spPr>
      </p:sp>
      <p:sp>
        <p:nvSpPr>
          <p:cNvPr id="13" name="Shape 10"/>
          <p:cNvSpPr/>
          <p:nvPr/>
        </p:nvSpPr>
        <p:spPr>
          <a:xfrm>
            <a:off x="7424928" y="2944368"/>
            <a:ext cx="292608" cy="292608"/>
          </a:xfrm>
          <a:prstGeom prst="ellipse">
            <a:avLst/>
          </a:prstGeom>
          <a:solidFill>
            <a:srgbClr val="F2A63B"/>
          </a:solidFill>
          <a:ln/>
        </p:spPr>
      </p:sp>
      <p:sp>
        <p:nvSpPr>
          <p:cNvPr id="14" name="Text 11"/>
          <p:cNvSpPr txBox="1"/>
          <p:nvPr/>
        </p:nvSpPr>
        <p:spPr>
          <a:xfrm>
            <a:off x="7863840" y="2889504"/>
            <a:ext cx="3611880" cy="365760"/>
          </a:xfrm>
          <a:prstGeom prst="rect">
            <a:avLst/>
          </a:prstGeom>
          <a:noFill/>
          <a:ln/>
        </p:spPr>
        <p:txBody>
          <a:bodyPr wrap="square" lIns="0" tIns="0" rIns="0" bIns="0" rtlCol="0" anchor="ctr"/>
          <a:lstStyle/>
          <a:p>
            <a:pPr marL="0" indent="0">
              <a:buNone/>
            </a:pPr>
            <a:r>
              <a:rPr lang="en-US" sz="1400" b="1" dirty="0">
                <a:solidFill>
                  <a:srgbClr val="14213D"/>
                </a:solidFill>
                <a:latin typeface="맑은 고딕" pitchFamily="34" charset="0"/>
                <a:ea typeface="맑은 고딕" pitchFamily="34" charset="-122"/>
                <a:cs typeface="맑은 고딕" pitchFamily="34" charset="-120"/>
              </a:rPr>
              <a:t>증거 스냅샷 2시점</a:t>
            </a:r>
            <a:endParaRPr lang="en-US" sz="1400" dirty="0"/>
          </a:p>
        </p:txBody>
      </p:sp>
      <p:sp>
        <p:nvSpPr>
          <p:cNvPr id="15" name="Text 12"/>
          <p:cNvSpPr txBox="1"/>
          <p:nvPr/>
        </p:nvSpPr>
        <p:spPr>
          <a:xfrm>
            <a:off x="7863840" y="3273552"/>
            <a:ext cx="3611880" cy="457200"/>
          </a:xfrm>
          <a:prstGeom prst="rect">
            <a:avLst/>
          </a:prstGeom>
          <a:noFill/>
          <a:ln/>
        </p:spPr>
        <p:txBody>
          <a:bodyPr wrap="square" lIns="0" tIns="0" rIns="0" bIns="0" rtlCol="0" anchor="t"/>
          <a:lstStyle/>
          <a:p>
            <a:pPr marL="0" indent="0">
              <a:lnSpc>
                <a:spcPts val="1500"/>
              </a:lnSpc>
              <a:buNone/>
            </a:pPr>
            <a:r>
              <a:rPr lang="en-US" sz="1100" dirty="0">
                <a:solidFill>
                  <a:srgbClr val="6B7280"/>
                </a:solidFill>
                <a:latin typeface="맑은 고딕" pitchFamily="34" charset="0"/>
                <a:ea typeface="맑은 고딕" pitchFamily="34" charset="-122"/>
                <a:cs typeface="맑은 고딕" pitchFamily="34" charset="-120"/>
              </a:rPr>
              <a:t>횡단보도 진입 순간과 통과 완료 순간을 각각 저장</a:t>
            </a:r>
            <a:endParaRPr lang="en-US" sz="1100" dirty="0"/>
          </a:p>
        </p:txBody>
      </p:sp>
      <p:sp>
        <p:nvSpPr>
          <p:cNvPr id="16" name="Shape 13"/>
          <p:cNvSpPr/>
          <p:nvPr/>
        </p:nvSpPr>
        <p:spPr>
          <a:xfrm>
            <a:off x="7178040" y="3913632"/>
            <a:ext cx="4462272" cy="1033272"/>
          </a:xfrm>
          <a:prstGeom prst="roundRect">
            <a:avLst>
              <a:gd name="adj" fmla="val 7080"/>
            </a:avLst>
          </a:prstGeom>
          <a:solidFill>
            <a:srgbClr val="FFFFFF"/>
          </a:solidFill>
          <a:ln w="12700">
            <a:solidFill>
              <a:srgbClr val="DDE1E7"/>
            </a:solidFill>
            <a:prstDash val="solid"/>
          </a:ln>
        </p:spPr>
      </p:sp>
      <p:sp>
        <p:nvSpPr>
          <p:cNvPr id="17" name="Shape 14"/>
          <p:cNvSpPr/>
          <p:nvPr/>
        </p:nvSpPr>
        <p:spPr>
          <a:xfrm>
            <a:off x="7424928" y="4114800"/>
            <a:ext cx="292608" cy="292608"/>
          </a:xfrm>
          <a:prstGeom prst="ellipse">
            <a:avLst/>
          </a:prstGeom>
          <a:solidFill>
            <a:srgbClr val="F2A63B"/>
          </a:solidFill>
          <a:ln/>
        </p:spPr>
      </p:sp>
      <p:sp>
        <p:nvSpPr>
          <p:cNvPr id="18" name="Text 15"/>
          <p:cNvSpPr txBox="1"/>
          <p:nvPr/>
        </p:nvSpPr>
        <p:spPr>
          <a:xfrm>
            <a:off x="7863840" y="4059936"/>
            <a:ext cx="3611880" cy="365760"/>
          </a:xfrm>
          <a:prstGeom prst="rect">
            <a:avLst/>
          </a:prstGeom>
          <a:noFill/>
          <a:ln/>
        </p:spPr>
        <p:txBody>
          <a:bodyPr wrap="square" lIns="0" tIns="0" rIns="0" bIns="0" rtlCol="0" anchor="ctr"/>
          <a:lstStyle/>
          <a:p>
            <a:pPr marL="0" indent="0">
              <a:buNone/>
            </a:pPr>
            <a:r>
              <a:rPr lang="en-US" sz="1400" b="1" dirty="0">
                <a:solidFill>
                  <a:srgbClr val="14213D"/>
                </a:solidFill>
                <a:latin typeface="맑은 고딕" pitchFamily="34" charset="0"/>
                <a:ea typeface="맑은 고딕" pitchFamily="34" charset="-122"/>
                <a:cs typeface="맑은 고딕" pitchFamily="34" charset="-120"/>
              </a:rPr>
              <a:t>서술형 판정 근거</a:t>
            </a:r>
            <a:endParaRPr lang="en-US" sz="1400" dirty="0"/>
          </a:p>
        </p:txBody>
      </p:sp>
      <p:sp>
        <p:nvSpPr>
          <p:cNvPr id="19" name="Text 16"/>
          <p:cNvSpPr txBox="1"/>
          <p:nvPr/>
        </p:nvSpPr>
        <p:spPr>
          <a:xfrm>
            <a:off x="7863840" y="4443984"/>
            <a:ext cx="3611880" cy="457200"/>
          </a:xfrm>
          <a:prstGeom prst="rect">
            <a:avLst/>
          </a:prstGeom>
          <a:noFill/>
          <a:ln/>
        </p:spPr>
        <p:txBody>
          <a:bodyPr wrap="square" lIns="0" tIns="0" rIns="0" bIns="0" rtlCol="0" anchor="t"/>
          <a:lstStyle/>
          <a:p>
            <a:pPr marL="0" indent="0">
              <a:lnSpc>
                <a:spcPts val="1500"/>
              </a:lnSpc>
              <a:buNone/>
            </a:pPr>
            <a:r>
              <a:rPr lang="en-US" sz="1100" dirty="0">
                <a:solidFill>
                  <a:srgbClr val="6B7280"/>
                </a:solidFill>
                <a:latin typeface="맑은 고딕" pitchFamily="34" charset="0"/>
                <a:ea typeface="맑은 고딕" pitchFamily="34" charset="-122"/>
                <a:cs typeface="맑은 고딕" pitchFamily="34" charset="-120"/>
              </a:rPr>
              <a:t>몇 초에 보행자가 어떤 </a:t>
            </a:r>
            <a:r>
              <a:rPr lang="en-US" sz="1100">
                <a:solidFill>
                  <a:srgbClr val="6B7280"/>
                </a:solidFill>
                <a:latin typeface="맑은 고딕" pitchFamily="34" charset="0"/>
                <a:ea typeface="맑은 고딕" pitchFamily="34" charset="-122"/>
                <a:cs typeface="맑은 고딕" pitchFamily="34" charset="-120"/>
              </a:rPr>
              <a:t>상태였고 </a:t>
            </a:r>
          </a:p>
          <a:p>
            <a:pPr marL="0" indent="0">
              <a:lnSpc>
                <a:spcPts val="1500"/>
              </a:lnSpc>
              <a:buNone/>
            </a:pPr>
            <a:r>
              <a:rPr lang="en-US" sz="1100">
                <a:solidFill>
                  <a:srgbClr val="6B7280"/>
                </a:solidFill>
                <a:latin typeface="맑은 고딕" pitchFamily="34" charset="0"/>
                <a:ea typeface="맑은 고딕" pitchFamily="34" charset="-122"/>
                <a:cs typeface="맑은 고딕" pitchFamily="34" charset="-120"/>
              </a:rPr>
              <a:t>차량이 </a:t>
            </a:r>
            <a:r>
              <a:rPr lang="en-US" sz="1100" dirty="0">
                <a:solidFill>
                  <a:srgbClr val="6B7280"/>
                </a:solidFill>
                <a:latin typeface="맑은 고딕" pitchFamily="34" charset="0"/>
                <a:ea typeface="맑은 고딕" pitchFamily="34" charset="-122"/>
                <a:cs typeface="맑은 고딕" pitchFamily="34" charset="-120"/>
              </a:rPr>
              <a:t>어떻게 통과했는지 문장으로 설명</a:t>
            </a:r>
            <a:endParaRPr lang="en-US" sz="1100" dirty="0"/>
          </a:p>
        </p:txBody>
      </p:sp>
      <p:sp>
        <p:nvSpPr>
          <p:cNvPr id="20" name="Shape 17"/>
          <p:cNvSpPr/>
          <p:nvPr/>
        </p:nvSpPr>
        <p:spPr>
          <a:xfrm>
            <a:off x="7178040" y="5084064"/>
            <a:ext cx="4462272" cy="1033272"/>
          </a:xfrm>
          <a:prstGeom prst="roundRect">
            <a:avLst>
              <a:gd name="adj" fmla="val 7080"/>
            </a:avLst>
          </a:prstGeom>
          <a:solidFill>
            <a:srgbClr val="FFFFFF"/>
          </a:solidFill>
          <a:ln w="12700">
            <a:solidFill>
              <a:srgbClr val="DDE1E7"/>
            </a:solidFill>
            <a:prstDash val="solid"/>
          </a:ln>
        </p:spPr>
      </p:sp>
      <p:sp>
        <p:nvSpPr>
          <p:cNvPr id="21" name="Shape 18"/>
          <p:cNvSpPr/>
          <p:nvPr/>
        </p:nvSpPr>
        <p:spPr>
          <a:xfrm>
            <a:off x="7424928" y="5285232"/>
            <a:ext cx="292608" cy="292608"/>
          </a:xfrm>
          <a:prstGeom prst="ellipse">
            <a:avLst/>
          </a:prstGeom>
          <a:solidFill>
            <a:srgbClr val="F2A63B"/>
          </a:solidFill>
          <a:ln/>
        </p:spPr>
      </p:sp>
      <p:sp>
        <p:nvSpPr>
          <p:cNvPr id="22" name="Text 19"/>
          <p:cNvSpPr txBox="1"/>
          <p:nvPr/>
        </p:nvSpPr>
        <p:spPr>
          <a:xfrm>
            <a:off x="7863840" y="5230368"/>
            <a:ext cx="3611880" cy="365760"/>
          </a:xfrm>
          <a:prstGeom prst="rect">
            <a:avLst/>
          </a:prstGeom>
          <a:noFill/>
          <a:ln/>
        </p:spPr>
        <p:txBody>
          <a:bodyPr wrap="square" lIns="0" tIns="0" rIns="0" bIns="0" rtlCol="0" anchor="ctr"/>
          <a:lstStyle/>
          <a:p>
            <a:pPr marL="0" indent="0">
              <a:buNone/>
            </a:pPr>
            <a:r>
              <a:rPr lang="en-US" sz="1400" b="1" dirty="0">
                <a:solidFill>
                  <a:srgbClr val="14213D"/>
                </a:solidFill>
                <a:latin typeface="맑은 고딕" pitchFamily="34" charset="0"/>
                <a:ea typeface="맑은 고딕" pitchFamily="34" charset="-122"/>
                <a:cs typeface="맑은 고딕" pitchFamily="34" charset="-120"/>
              </a:rPr>
              <a:t>CSV 내보내기</a:t>
            </a:r>
            <a:endParaRPr lang="en-US" sz="1400" dirty="0"/>
          </a:p>
        </p:txBody>
      </p:sp>
      <p:sp>
        <p:nvSpPr>
          <p:cNvPr id="23" name="Text 20"/>
          <p:cNvSpPr txBox="1"/>
          <p:nvPr/>
        </p:nvSpPr>
        <p:spPr>
          <a:xfrm>
            <a:off x="7863840" y="5614416"/>
            <a:ext cx="3611880" cy="457200"/>
          </a:xfrm>
          <a:prstGeom prst="rect">
            <a:avLst/>
          </a:prstGeom>
          <a:noFill/>
          <a:ln/>
        </p:spPr>
        <p:txBody>
          <a:bodyPr wrap="square" lIns="0" tIns="0" rIns="0" bIns="0" rtlCol="0" anchor="t"/>
          <a:lstStyle/>
          <a:p>
            <a:pPr marL="0" indent="0">
              <a:lnSpc>
                <a:spcPts val="1500"/>
              </a:lnSpc>
              <a:buNone/>
            </a:pPr>
            <a:r>
              <a:rPr lang="en-US" sz="1100" dirty="0">
                <a:solidFill>
                  <a:srgbClr val="6B7280"/>
                </a:solidFill>
                <a:latin typeface="맑은 고딕" pitchFamily="34" charset="0"/>
                <a:ea typeface="맑은 고딕" pitchFamily="34" charset="-122"/>
                <a:cs typeface="맑은 고딕" pitchFamily="34" charset="-120"/>
              </a:rPr>
              <a:t>검토자가 엑셀에서 바로 열어볼 수 있는 형식으로 출력</a:t>
            </a:r>
            <a:endParaRPr lang="en-US" sz="1100" dirty="0"/>
          </a:p>
        </p:txBody>
      </p:sp>
      <p:pic>
        <p:nvPicPr>
          <p:cNvPr id="27" name="그림 26">
            <a:extLst>
              <a:ext uri="{FF2B5EF4-FFF2-40B4-BE49-F238E27FC236}">
                <a16:creationId xmlns:a16="http://schemas.microsoft.com/office/drawing/2014/main" id="{F208EF0F-2FB7-5E80-8D6C-FB0F48D430B0}"/>
              </a:ext>
            </a:extLst>
          </p:cNvPr>
          <p:cNvPicPr>
            <a:picLocks noChangeAspect="1"/>
          </p:cNvPicPr>
          <p:nvPr/>
        </p:nvPicPr>
        <p:blipFill>
          <a:blip r:embed="rId3"/>
          <a:stretch>
            <a:fillRect/>
          </a:stretch>
        </p:blipFill>
        <p:spPr>
          <a:xfrm>
            <a:off x="786384" y="1572768"/>
            <a:ext cx="5010849" cy="408679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F2A63B"/>
          </a:solidFill>
          <a:ln/>
        </p:spPr>
        <p:txBody>
          <a:bodyPr/>
          <a:p/>
        </p:txBody>
      </p:sp>
      <p:sp>
        <p:nvSpPr>
          <p:cNvPr id="3" name="Text 1"/>
          <p:cNvSpPr txBox="1"/>
          <p:nvPr/>
        </p:nvSpPr>
        <p:spPr>
          <a:xfrm>
            <a:off x="548640" y="384048"/>
            <a:ext cx="475488" cy="475488"/>
          </a:xfrm>
          <a:prstGeom prst="rect">
            <a:avLst/>
          </a:prstGeom>
          <a:noFill/>
          <a:ln/>
        </p:spPr>
        <p:txBody>
          <a:bodyPr wrap="square" lIns="0" tIns="0" rIns="0" bIns="0" rtlCol="0" anchor="ctr"/>
          <a:lstStyle/>
          <a:p>
            <a:pPr marL="0" indent="0" algn="ctr">
              <a:buNone/>
            </a:pPr>
            <a:r>
              <a:rPr lang="en-US" sz="1800" b="1">
                <a:solidFill>
                  <a:srgbClr val="14213D"/>
                </a:solidFill>
                <a:latin typeface="맑은 고딕" pitchFamily="34" charset="0"/>
                <a:ea typeface="맑은 고딕" pitchFamily="34" charset="-122"/>
              </a:rPr>
              <a:t>7.</a:t>
            </a:r>
            <a:r>
              <a:rPr lang="en-US" sz="1800" b="1" dirty="0">
                <a:solidFill>
                  <a:srgbClr val="14213D"/>
                </a:solidFill>
                <a:latin typeface="맑은 고딕" pitchFamily="34" charset="0"/>
                <a:ea typeface="맑은 고딕" pitchFamily="34" charset="-122"/>
              </a:rPr>
              <a:t>2</a:t>
            </a:r>
            <a:endParaRPr lang="en-US" sz="1800" dirty="0"/>
          </a:p>
        </p:txBody>
      </p:sp>
      <p:sp>
        <p:nvSpPr>
          <p:cNvPr id="4" name="Text 2"/>
          <p:cNvSpPr txBox="1"/>
          <p:nvPr/>
        </p:nvSpPr>
        <p:spPr>
          <a:xfrm>
            <a:off x="1170432" y="347472"/>
            <a:ext cx="7680960" cy="548640"/>
          </a:xfrm>
          <a:prstGeom prst="rect">
            <a:avLst/>
          </a:prstGeom>
          <a:noFill/>
          <a:ln/>
        </p:spPr>
        <p:txBody>
          <a:bodyPr wrap="square" lIns="0" tIns="0" rIns="0" bIns="0" rtlCol="0" anchor="ctr"/>
          <a:lstStyle/>
          <a:p>
            <a:pPr marL="0" indent="0" algn="l">
              <a:buNone/>
            </a:pPr>
            <a:r>
              <a:rPr lang="en-US" sz="3000" b="1" dirty="0">
                <a:solidFill>
                  <a:srgbClr val="14213D"/>
                </a:solidFill>
                <a:latin typeface="맑은 고딕" pitchFamily="34" charset="0"/>
                <a:ea typeface="맑은 고딕" pitchFamily="34" charset="-122"/>
                <a:cs typeface="맑은 고딕" pitchFamily="34" charset="-120"/>
              </a:rPr>
              <a:t>핵심 기술 — 오토바이 검출 파인튜닝</a:t>
            </a:r>
            <a:endParaRPr lang="en-US" sz="3000" dirty="0"/>
          </a:p>
        </p:txBody>
      </p:sp>
      <p:sp>
        <p:nvSpPr>
          <p:cNvPr id="5" name="Text 3"/>
          <p:cNvSpPr txBox="1"/>
          <p:nvPr/>
        </p:nvSpPr>
        <p:spPr>
          <a:xfrm>
            <a:off x="1170432" y="896112"/>
            <a:ext cx="10424160" cy="310896"/>
          </a:xfrm>
          <a:prstGeom prst="rect">
            <a:avLst/>
          </a:prstGeom>
          <a:noFill/>
          <a:ln/>
        </p:spPr>
        <p:txBody>
          <a:bodyPr wrap="square" lIns="0" tIns="0" rIns="0" bIns="0" rtlCol="0" anchor="ctr"/>
          <a:lstStyle/>
          <a:p>
            <a:pPr marL="0" indent="0" algn="l">
              <a:buNone/>
            </a:pPr>
            <a:r>
              <a:rPr lang="en-US" sz="1300" dirty="0">
                <a:solidFill>
                  <a:srgbClr val="6B7280"/>
                </a:solidFill>
                <a:latin typeface="맑은 고딕" pitchFamily="34" charset="0"/>
                <a:ea typeface="맑은 고딕" pitchFamily="34" charset="-122"/>
                <a:cs typeface="맑은 고딕" pitchFamily="34" charset="-120"/>
              </a:rPr>
              <a:t>사전학습 모델이 야간 CCTV의 오토바이를 놓치는 문제를 직접 학습으로 해결</a:t>
            </a:r>
            <a:endParaRPr lang="en-US" sz="1300" dirty="0"/>
          </a:p>
        </p:txBody>
      </p:sp>
      <p:sp>
        <p:nvSpPr>
          <p:cNvPr id="6" name="Shape 4"/>
          <p:cNvSpPr/>
          <p:nvPr/>
        </p:nvSpPr>
        <p:spPr>
          <a:xfrm>
            <a:off x="548640" y="1600200"/>
            <a:ext cx="3931920" cy="4526280"/>
          </a:xfrm>
          <a:prstGeom prst="roundRect">
            <a:avLst>
              <a:gd name="adj" fmla="val 1860"/>
            </a:avLst>
          </a:prstGeom>
          <a:solidFill>
            <a:srgbClr val="FFFFFF"/>
          </a:solidFill>
          <a:ln w="12700">
            <a:solidFill>
              <a:srgbClr val="DDE1E7"/>
            </a:solidFill>
            <a:prstDash val="solid"/>
          </a:ln>
        </p:spPr>
        <p:txBody>
          <a:bodyPr/>
          <a:p/>
        </p:txBody>
      </p:sp>
      <p:sp>
        <p:nvSpPr>
          <p:cNvPr id="7" name="Text 5"/>
          <p:cNvSpPr txBox="1"/>
          <p:nvPr/>
        </p:nvSpPr>
        <p:spPr>
          <a:xfrm>
            <a:off x="804672" y="1810512"/>
            <a:ext cx="3383280" cy="310896"/>
          </a:xfrm>
          <a:prstGeom prst="rect">
            <a:avLst/>
          </a:prstGeom>
          <a:noFill/>
          <a:ln/>
        </p:spPr>
        <p:txBody>
          <a:bodyPr wrap="square" lIns="0" tIns="0" rIns="0" bIns="0" rtlCol="0" anchor="ctr"/>
          <a:lstStyle/>
          <a:p>
            <a:pPr marL="0" indent="0">
              <a:buNone/>
            </a:pPr>
            <a:r>
              <a:rPr lang="en-US" sz="1500" b="1" dirty="0">
                <a:solidFill>
                  <a:srgbClr val="D64545"/>
                </a:solidFill>
                <a:latin typeface="맑은 고딕" pitchFamily="34" charset="0"/>
                <a:ea typeface="맑은 고딕" pitchFamily="34" charset="-122"/>
                <a:cs typeface="맑은 고딕" pitchFamily="34" charset="-120"/>
              </a:rPr>
              <a:t>문제</a:t>
            </a:r>
            <a:endParaRPr lang="en-US" sz="1500" dirty="0"/>
          </a:p>
        </p:txBody>
      </p:sp>
      <p:sp>
        <p:nvSpPr>
          <p:cNvPr id="8" name="Text 6"/>
          <p:cNvSpPr txBox="1"/>
          <p:nvPr/>
        </p:nvSpPr>
        <p:spPr>
          <a:xfrm>
            <a:off x="804672" y="2176272"/>
            <a:ext cx="3383280" cy="822960"/>
          </a:xfrm>
          <a:prstGeom prst="rect">
            <a:avLst/>
          </a:prstGeom>
          <a:noFill/>
          <a:ln/>
        </p:spPr>
        <p:txBody>
          <a:bodyPr wrap="square" lIns="0" tIns="0" rIns="0" bIns="0" rtlCol="0" anchor="ctr"/>
          <a:lstStyle/>
          <a:p>
            <a:pPr marL="0" indent="0">
              <a:lnSpc>
                <a:spcPts val="1800"/>
              </a:lnSpc>
              <a:buNone/>
            </a:pPr>
            <a:r>
              <a:rPr lang="en-US" sz="1200" dirty="0">
                <a:solidFill>
                  <a:srgbClr val="1F2937"/>
                </a:solidFill>
                <a:latin typeface="맑은 고딕" pitchFamily="34" charset="0"/>
                <a:ea typeface="맑은 고딕" pitchFamily="34" charset="-122"/>
                <a:cs typeface="맑은 고딕" pitchFamily="34" charset="-120"/>
              </a:rPr>
              <a:t>사전학습 YOLO11m은 야간 저조도 CCTV에서 오토바이 신뢰도가 낮아, 위반 차량임에도 검출되지 않고 빠지는 경우가 많았다.</a:t>
            </a:r>
            <a:endParaRPr lang="en-US" sz="1200" dirty="0"/>
          </a:p>
        </p:txBody>
      </p:sp>
      <p:sp>
        <p:nvSpPr>
          <p:cNvPr id="9" name="Shape 7"/>
          <p:cNvSpPr/>
          <p:nvPr/>
        </p:nvSpPr>
        <p:spPr>
          <a:xfrm>
            <a:off x="804672" y="3127248"/>
            <a:ext cx="3383280" cy="18288"/>
          </a:xfrm>
          <a:prstGeom prst="rect">
            <a:avLst/>
          </a:prstGeom>
          <a:solidFill>
            <a:srgbClr val="DDE1E7"/>
          </a:solidFill>
          <a:ln/>
        </p:spPr>
        <p:txBody>
          <a:bodyPr/>
          <a:p/>
        </p:txBody>
      </p:sp>
      <p:sp>
        <p:nvSpPr>
          <p:cNvPr id="10" name="Text 8"/>
          <p:cNvSpPr txBox="1"/>
          <p:nvPr/>
        </p:nvSpPr>
        <p:spPr>
          <a:xfrm>
            <a:off x="804672" y="3291840"/>
            <a:ext cx="3383280" cy="310896"/>
          </a:xfrm>
          <a:prstGeom prst="rect">
            <a:avLst/>
          </a:prstGeom>
          <a:noFill/>
          <a:ln/>
        </p:spPr>
        <p:txBody>
          <a:bodyPr wrap="square" lIns="0" tIns="0" rIns="0" bIns="0" rtlCol="0" anchor="ctr"/>
          <a:lstStyle/>
          <a:p>
            <a:pPr marL="0" indent="0">
              <a:buNone/>
            </a:pPr>
            <a:r>
              <a:rPr lang="en-US" sz="1500" b="1" dirty="0">
                <a:solidFill>
                  <a:srgbClr val="F2A63B"/>
                </a:solidFill>
                <a:latin typeface="맑은 고딕" pitchFamily="34" charset="0"/>
                <a:ea typeface="맑은 고딕" pitchFamily="34" charset="-122"/>
                <a:cs typeface="맑은 고딕" pitchFamily="34" charset="-120"/>
              </a:rPr>
              <a:t>해결 과정</a:t>
            </a:r>
            <a:endParaRPr lang="en-US" sz="1500" dirty="0"/>
          </a:p>
        </p:txBody>
      </p:sp>
      <p:sp>
        <p:nvSpPr>
          <p:cNvPr id="11" name="Text 9"/>
          <p:cNvSpPr txBox="1"/>
          <p:nvPr/>
        </p:nvSpPr>
        <p:spPr>
          <a:xfrm>
            <a:off x="960120" y="3657600"/>
            <a:ext cx="3246120" cy="1783080"/>
          </a:xfrm>
          <a:prstGeom prst="rect">
            <a:avLst/>
          </a:prstGeom>
          <a:noFill/>
          <a:ln/>
        </p:spPr>
        <p:txBody>
          <a:bodyPr wrap="square" lIns="0" tIns="0" rIns="0" bIns="0" rtlCol="0" anchor="ctr"/>
          <a:lstStyle/>
          <a:p>
            <a:pPr marL="342900" indent="-342900">
              <a:lnSpc>
                <a:spcPts val="1600"/>
              </a:lnSpc>
              <a:spcAft>
                <a:spcPts val="700"/>
              </a:spcAft>
              <a:buSzPct val="100000"/>
              <a:buChar char="•"/>
            </a:pPr>
            <a:r>
              <a:rPr lang="en-US" sz="1150" dirty="0">
                <a:solidFill>
                  <a:srgbClr val="1F2937"/>
                </a:solidFill>
                <a:latin typeface="맑은 고딕" pitchFamily="34" charset="0"/>
                <a:ea typeface="맑은 고딕" pitchFamily="34" charset="-122"/>
                <a:cs typeface="맑은 고딕" pitchFamily="34" charset="-120"/>
              </a:rPr>
              <a:t>경기도 ITS 공개 CCTV 녹화 · 9개 영상 처리</a:t>
            </a:r>
            <a:endParaRPr lang="en-US" sz="1150" dirty="0"/>
          </a:p>
          <a:p>
            <a:pPr marL="342900" indent="-342900">
              <a:lnSpc>
                <a:spcPts val="1600"/>
              </a:lnSpc>
              <a:spcAft>
                <a:spcPts val="700"/>
              </a:spcAft>
              <a:buSzPct val="100000"/>
              <a:buChar char="•"/>
            </a:pPr>
            <a:r>
              <a:rPr lang="en-US" sz="1150" dirty="0">
                <a:solidFill>
                  <a:srgbClr val="1F2937"/>
                </a:solidFill>
                <a:latin typeface="맑은 고딕" pitchFamily="34" charset="0"/>
                <a:ea typeface="맑은 고딕" pitchFamily="34" charset="-122"/>
                <a:cs typeface="맑은 고딕" pitchFamily="34" charset="-120"/>
              </a:rPr>
              <a:t>낮은 임계값(conf 0.10) 자동 검출로 초안 라벨 생성</a:t>
            </a:r>
            <a:endParaRPr lang="en-US" sz="1150" dirty="0"/>
          </a:p>
          <a:p>
            <a:pPr marL="342900" indent="-342900">
              <a:lnSpc>
                <a:spcPts val="1600"/>
              </a:lnSpc>
              <a:spcAft>
                <a:spcPts val="700"/>
              </a:spcAft>
              <a:buSzPct val="100000"/>
              <a:buChar char="•"/>
            </a:pPr>
            <a:r>
              <a:rPr lang="en-US" sz="1150" dirty="0">
                <a:solidFill>
                  <a:srgbClr val="1F2937"/>
                </a:solidFill>
                <a:latin typeface="맑은 고딕" pitchFamily="34" charset="0"/>
                <a:ea typeface="맑은 고딕" pitchFamily="34" charset="-122"/>
                <a:cs typeface="맑은 고딕" pitchFamily="34" charset="-120"/>
              </a:rPr>
              <a:t>등장 구간별 대표 프레임 선별 — 2,472장 → 693장</a:t>
            </a:r>
            <a:endParaRPr lang="en-US" sz="1150" dirty="0"/>
          </a:p>
          <a:p>
            <a:pPr marL="342900" indent="-342900">
              <a:lnSpc>
                <a:spcPts val="1600"/>
              </a:lnSpc>
              <a:spcAft>
                <a:spcPts val="700"/>
              </a:spcAft>
              <a:buSzPct val="100000"/>
              <a:buChar char="•"/>
            </a:pPr>
            <a:r>
              <a:rPr lang="en-US" sz="1150" dirty="0">
                <a:solidFill>
                  <a:srgbClr val="1F2937"/>
                </a:solidFill>
                <a:latin typeface="맑은 고딕" pitchFamily="34" charset="0"/>
                <a:ea typeface="맑은 고딕" pitchFamily="34" charset="-122"/>
                <a:cs typeface="맑은 고딕" pitchFamily="34" charset="-120"/>
              </a:rPr>
              <a:t>Roboflow 증강 후 YOLO11m 파인튜닝 → best_moto.pt</a:t>
            </a:r>
            <a:endParaRPr lang="en-US" sz="1150" dirty="0"/>
          </a:p>
        </p:txBody>
      </p:sp>
      <p:sp>
        <p:nvSpPr>
          <p:cNvPr id="12" name="Shape 10"/>
          <p:cNvSpPr/>
          <p:nvPr/>
        </p:nvSpPr>
        <p:spPr>
          <a:xfrm>
            <a:off x="4663440" y="1600200"/>
            <a:ext cx="6976872" cy="4526280"/>
          </a:xfrm>
          <a:prstGeom prst="roundRect">
            <a:avLst>
              <a:gd name="adj" fmla="val 1616"/>
            </a:avLst>
          </a:prstGeom>
          <a:solidFill>
            <a:srgbClr val="FFFFFF"/>
          </a:solidFill>
          <a:ln w="12700">
            <a:solidFill>
              <a:srgbClr val="DDE1E7"/>
            </a:solidFill>
            <a:prstDash val="solid"/>
          </a:ln>
        </p:spPr>
        <p:txBody>
          <a:bodyPr/>
          <a:p/>
        </p:txBody>
      </p:sp>
      <p:sp>
        <p:nvSpPr>
          <p:cNvPr id="13" name="Text 11"/>
          <p:cNvSpPr txBox="1"/>
          <p:nvPr/>
        </p:nvSpPr>
        <p:spPr>
          <a:xfrm>
            <a:off x="4937760" y="1783080"/>
            <a:ext cx="6400800" cy="310896"/>
          </a:xfrm>
          <a:prstGeom prst="rect">
            <a:avLst/>
          </a:prstGeom>
          <a:noFill/>
          <a:ln/>
        </p:spPr>
        <p:txBody>
          <a:bodyPr wrap="square" lIns="0" tIns="0" rIns="0" bIns="0" rtlCol="0" anchor="ctr"/>
          <a:lstStyle/>
          <a:p>
            <a:pPr marL="0" indent="0">
              <a:buNone/>
            </a:pPr>
            <a:r>
              <a:rPr lang="en-US" sz="1400" b="1" dirty="0">
                <a:solidFill>
                  <a:srgbClr val="14213D"/>
                </a:solidFill>
                <a:latin typeface="맑은 고딕" pitchFamily="34" charset="0"/>
                <a:ea typeface="맑은 고딕" pitchFamily="34" charset="-122"/>
                <a:cs typeface="맑은 고딕" pitchFamily="34" charset="-120"/>
              </a:rPr>
              <a:t>검증셋 173장 · 신뢰도 0.45 이상으로 검출된 비율</a:t>
            </a:r>
            <a:endParaRPr lang="en-US" sz="1400" dirty="0"/>
          </a:p>
        </p:txBody>
      </p:sp>
      <p:graphicFrame>
        <p:nvGraphicFramePr>
          <p:cNvPr id="14" name="Chart 0"/>
          <p:cNvGraphicFramePr/>
          <p:nvPr/>
        </p:nvGraphicFramePr>
        <p:xfrm>
          <a:off x="4892040" y="2194560"/>
          <a:ext cx="6492240" cy="2514600"/>
        </p:xfrm>
        <a:graphic>
          <a:graphicData uri="http://schemas.openxmlformats.org/drawingml/2006/chart">
            <c:chart xmlns:c="http://schemas.openxmlformats.org/drawingml/2006/chart" xmlns:r="http://schemas.openxmlformats.org/officeDocument/2006/relationships" r:id="rId3"/>
          </a:graphicData>
        </a:graphic>
      </p:graphicFrame>
      <p:sp>
        <p:nvSpPr>
          <p:cNvPr id="15" name="Shape 12"/>
          <p:cNvSpPr/>
          <p:nvPr/>
        </p:nvSpPr>
        <p:spPr>
          <a:xfrm>
            <a:off x="4892040" y="5074920"/>
            <a:ext cx="2057400" cy="868680"/>
          </a:xfrm>
          <a:prstGeom prst="roundRect">
            <a:avLst>
              <a:gd name="adj" fmla="val 6316"/>
            </a:avLst>
          </a:prstGeom>
          <a:solidFill>
            <a:srgbClr val="FDF5E8"/>
          </a:solidFill>
          <a:ln w="12700">
            <a:solidFill>
              <a:srgbClr val="F2A63B"/>
            </a:solidFill>
            <a:prstDash val="solid"/>
          </a:ln>
        </p:spPr>
        <p:txBody>
          <a:bodyPr/>
          <a:p/>
        </p:txBody>
      </p:sp>
      <p:sp>
        <p:nvSpPr>
          <p:cNvPr id="16" name="Text 13"/>
          <p:cNvSpPr txBox="1"/>
          <p:nvPr/>
        </p:nvSpPr>
        <p:spPr>
          <a:xfrm>
            <a:off x="5029200" y="5212080"/>
            <a:ext cx="1783080" cy="256032"/>
          </a:xfrm>
          <a:prstGeom prst="rect">
            <a:avLst/>
          </a:prstGeom>
          <a:noFill/>
          <a:ln/>
        </p:spPr>
        <p:txBody>
          <a:bodyPr wrap="square" lIns="0" tIns="0" rIns="0" bIns="0" rtlCol="0" anchor="ctr"/>
          <a:lstStyle/>
          <a:p>
            <a:pPr marL="0" indent="0">
              <a:buNone/>
            </a:pPr>
            <a:r>
              <a:rPr lang="en-US" sz="1050" dirty="0">
                <a:solidFill>
                  <a:srgbClr val="6B7280"/>
                </a:solidFill>
                <a:latin typeface="맑은 고딕" pitchFamily="34" charset="0"/>
                <a:ea typeface="맑은 고딕" pitchFamily="34" charset="-122"/>
                <a:cs typeface="맑은 고딕" pitchFamily="34" charset="-120"/>
              </a:rPr>
              <a:t>신뢰도 중앙값</a:t>
            </a:r>
            <a:endParaRPr lang="en-US" sz="1050" dirty="0"/>
          </a:p>
        </p:txBody>
      </p:sp>
      <p:sp>
        <p:nvSpPr>
          <p:cNvPr id="17" name="Text 14"/>
          <p:cNvSpPr txBox="1"/>
          <p:nvPr/>
        </p:nvSpPr>
        <p:spPr>
          <a:xfrm>
            <a:off x="5029200" y="5504688"/>
            <a:ext cx="1783080" cy="347472"/>
          </a:xfrm>
          <a:prstGeom prst="rect">
            <a:avLst/>
          </a:prstGeom>
          <a:noFill/>
          <a:ln/>
        </p:spPr>
        <p:txBody>
          <a:bodyPr wrap="square" lIns="0" tIns="0" rIns="0" bIns="0" rtlCol="0" anchor="ctr"/>
          <a:lstStyle/>
          <a:p>
            <a:pPr marL="0" indent="0">
              <a:buNone/>
            </a:pPr>
            <a:r>
              <a:rPr lang="en-US" sz="1500" b="1" dirty="0">
                <a:solidFill>
                  <a:srgbClr val="14213D"/>
                </a:solidFill>
                <a:latin typeface="맑은 고딕" pitchFamily="34" charset="0"/>
                <a:ea typeface="맑은 고딕" pitchFamily="34" charset="-122"/>
                <a:cs typeface="맑은 고딕" pitchFamily="34" charset="-120"/>
              </a:rPr>
              <a:t>0.209 → 0.319</a:t>
            </a:r>
            <a:endParaRPr lang="en-US" sz="1500" dirty="0"/>
          </a:p>
        </p:txBody>
      </p:sp>
      <p:sp>
        <p:nvSpPr>
          <p:cNvPr id="18" name="Shape 15"/>
          <p:cNvSpPr/>
          <p:nvPr/>
        </p:nvSpPr>
        <p:spPr>
          <a:xfrm>
            <a:off x="7086600" y="5074920"/>
            <a:ext cx="2057400" cy="868680"/>
          </a:xfrm>
          <a:prstGeom prst="roundRect">
            <a:avLst>
              <a:gd name="adj" fmla="val 6316"/>
            </a:avLst>
          </a:prstGeom>
          <a:solidFill>
            <a:srgbClr val="FDF5E8"/>
          </a:solidFill>
          <a:ln w="12700">
            <a:solidFill>
              <a:srgbClr val="F2A63B"/>
            </a:solidFill>
            <a:prstDash val="solid"/>
          </a:ln>
        </p:spPr>
        <p:txBody>
          <a:bodyPr/>
          <a:p/>
        </p:txBody>
      </p:sp>
      <p:sp>
        <p:nvSpPr>
          <p:cNvPr id="19" name="Text 16"/>
          <p:cNvSpPr txBox="1"/>
          <p:nvPr/>
        </p:nvSpPr>
        <p:spPr>
          <a:xfrm>
            <a:off x="7223760" y="5212080"/>
            <a:ext cx="1783080" cy="256032"/>
          </a:xfrm>
          <a:prstGeom prst="rect">
            <a:avLst/>
          </a:prstGeom>
          <a:noFill/>
          <a:ln/>
        </p:spPr>
        <p:txBody>
          <a:bodyPr wrap="square" lIns="0" tIns="0" rIns="0" bIns="0" rtlCol="0" anchor="ctr"/>
          <a:lstStyle/>
          <a:p>
            <a:pPr marL="0" indent="0">
              <a:buNone/>
            </a:pPr>
            <a:r>
              <a:rPr lang="en-US" sz="1050" dirty="0">
                <a:solidFill>
                  <a:srgbClr val="6B7280"/>
                </a:solidFill>
                <a:latin typeface="맑은 고딕" pitchFamily="34" charset="0"/>
                <a:ea typeface="맑은 고딕" pitchFamily="34" charset="-122"/>
                <a:cs typeface="맑은 고딕" pitchFamily="34" charset="-120"/>
              </a:rPr>
              <a:t>0.45 이상 비율</a:t>
            </a:r>
            <a:endParaRPr lang="en-US" sz="1050" dirty="0"/>
          </a:p>
        </p:txBody>
      </p:sp>
      <p:sp>
        <p:nvSpPr>
          <p:cNvPr id="20" name="Text 17"/>
          <p:cNvSpPr txBox="1"/>
          <p:nvPr/>
        </p:nvSpPr>
        <p:spPr>
          <a:xfrm>
            <a:off x="7223760" y="5504688"/>
            <a:ext cx="1783080" cy="347472"/>
          </a:xfrm>
          <a:prstGeom prst="rect">
            <a:avLst/>
          </a:prstGeom>
          <a:noFill/>
          <a:ln/>
        </p:spPr>
        <p:txBody>
          <a:bodyPr wrap="square" lIns="0" tIns="0" rIns="0" bIns="0" rtlCol="0" anchor="ctr"/>
          <a:lstStyle/>
          <a:p>
            <a:pPr marL="0" indent="0">
              <a:buNone/>
            </a:pPr>
            <a:r>
              <a:rPr lang="en-US" sz="1500" b="1" dirty="0">
                <a:solidFill>
                  <a:srgbClr val="14213D"/>
                </a:solidFill>
                <a:latin typeface="맑은 고딕" pitchFamily="34" charset="0"/>
                <a:ea typeface="맑은 고딕" pitchFamily="34" charset="-122"/>
                <a:cs typeface="맑은 고딕" pitchFamily="34" charset="-120"/>
              </a:rPr>
              <a:t>20.8% → 45.5%</a:t>
            </a:r>
            <a:endParaRPr lang="en-US" sz="1500" dirty="0"/>
          </a:p>
        </p:txBody>
      </p:sp>
      <p:sp>
        <p:nvSpPr>
          <p:cNvPr id="21" name="Shape 18"/>
          <p:cNvSpPr/>
          <p:nvPr/>
        </p:nvSpPr>
        <p:spPr>
          <a:xfrm>
            <a:off x="9281160" y="5074920"/>
            <a:ext cx="2057400" cy="868680"/>
          </a:xfrm>
          <a:prstGeom prst="roundRect">
            <a:avLst>
              <a:gd name="adj" fmla="val 6316"/>
            </a:avLst>
          </a:prstGeom>
          <a:solidFill>
            <a:srgbClr val="FDF5E8"/>
          </a:solidFill>
          <a:ln w="12700">
            <a:solidFill>
              <a:srgbClr val="F2A63B"/>
            </a:solidFill>
            <a:prstDash val="solid"/>
          </a:ln>
        </p:spPr>
        <p:txBody>
          <a:bodyPr/>
          <a:p/>
        </p:txBody>
      </p:sp>
      <p:sp>
        <p:nvSpPr>
          <p:cNvPr id="22" name="Text 19"/>
          <p:cNvSpPr txBox="1"/>
          <p:nvPr/>
        </p:nvSpPr>
        <p:spPr>
          <a:xfrm>
            <a:off x="9418320" y="5212080"/>
            <a:ext cx="1783080" cy="256032"/>
          </a:xfrm>
          <a:prstGeom prst="rect">
            <a:avLst/>
          </a:prstGeom>
          <a:noFill/>
          <a:ln/>
        </p:spPr>
        <p:txBody>
          <a:bodyPr wrap="square" lIns="0" tIns="0" rIns="0" bIns="0" rtlCol="0" anchor="ctr"/>
          <a:lstStyle/>
          <a:p>
            <a:pPr marL="0" indent="0">
              <a:buNone/>
            </a:pPr>
            <a:r>
              <a:rPr lang="en-US" sz="1050" dirty="0">
                <a:solidFill>
                  <a:srgbClr val="6B7280"/>
                </a:solidFill>
                <a:latin typeface="맑은 고딕" pitchFamily="34" charset="0"/>
                <a:ea typeface="맑은 고딕" pitchFamily="34" charset="-122"/>
                <a:cs typeface="맑은 고딕" pitchFamily="34" charset="-120"/>
              </a:rPr>
              <a:t>mAP50</a:t>
            </a:r>
            <a:endParaRPr lang="en-US" sz="1050" dirty="0"/>
          </a:p>
        </p:txBody>
      </p:sp>
      <p:sp>
        <p:nvSpPr>
          <p:cNvPr id="23" name="Text 20"/>
          <p:cNvSpPr txBox="1"/>
          <p:nvPr/>
        </p:nvSpPr>
        <p:spPr>
          <a:xfrm>
            <a:off x="9418320" y="5504688"/>
            <a:ext cx="1783080" cy="347472"/>
          </a:xfrm>
          <a:prstGeom prst="rect">
            <a:avLst/>
          </a:prstGeom>
          <a:noFill/>
          <a:ln/>
        </p:spPr>
        <p:txBody>
          <a:bodyPr wrap="square" lIns="0" tIns="0" rIns="0" bIns="0" rtlCol="0" anchor="ctr"/>
          <a:lstStyle/>
          <a:p>
            <a:pPr marL="0" indent="0">
              <a:buNone/>
            </a:pPr>
            <a:r>
              <a:rPr lang="en-US" sz="1500" b="1" dirty="0">
                <a:solidFill>
                  <a:srgbClr val="14213D"/>
                </a:solidFill>
                <a:latin typeface="맑은 고딕" pitchFamily="34" charset="0"/>
                <a:ea typeface="맑은 고딕" pitchFamily="34" charset="-122"/>
                <a:cs typeface="맑은 고딕" pitchFamily="34" charset="-120"/>
              </a:rPr>
              <a:t>0.797</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9"/>
        </a:solidFill>
        <a:effectLst/>
      </p:bgPr>
    </p:bg>
    <p:spTree>
      <p:nvGrpSpPr>
        <p:cNvPr id="1" name=""/>
        <p:cNvGrpSpPr/>
        <p:nvPr/>
      </p:nvGrpSpPr>
      <p:grpSpPr>
        <a:xfrm>
          <a:off x="0" y="0"/>
          <a:ext cx="0" cy="0"/>
          <a:chOff x="0" y="0"/>
          <a:chExt cx="0" cy="0"/>
        </a:xfrm>
      </p:grpSpPr>
      <p:sp>
        <p:nvSpPr>
          <p:cNvPr id="2" name="Shape 0"/>
          <p:cNvSpPr/>
          <p:nvPr/>
        </p:nvSpPr>
        <p:spPr>
          <a:xfrm>
            <a:off x="548640" y="384048"/>
            <a:ext cx="475488" cy="475488"/>
          </a:xfrm>
          <a:prstGeom prst="ellipse">
            <a:avLst/>
          </a:prstGeom>
          <a:solidFill>
            <a:srgbClr val="F2A63B"/>
          </a:solidFill>
          <a:ln/>
        </p:spPr>
      </p:sp>
      <p:sp>
        <p:nvSpPr>
          <p:cNvPr id="3" name="Text 1"/>
          <p:cNvSpPr txBox="1"/>
          <p:nvPr/>
        </p:nvSpPr>
        <p:spPr>
          <a:xfrm>
            <a:off x="548640" y="384048"/>
            <a:ext cx="475488" cy="475488"/>
          </a:xfrm>
          <a:prstGeom prst="rect">
            <a:avLst/>
          </a:prstGeom>
          <a:noFill/>
          <a:ln/>
        </p:spPr>
        <p:txBody>
          <a:bodyPr wrap="square" lIns="0" tIns="0" rIns="0" bIns="0" rtlCol="0" anchor="ctr"/>
          <a:lstStyle/>
          <a:p>
            <a:pPr marL="0" indent="0" algn="ctr">
              <a:buNone/>
            </a:pPr>
            <a:r>
              <a:rPr lang="en-US" b="1" dirty="0">
                <a:solidFill>
                  <a:srgbClr val="14213D"/>
                </a:solidFill>
                <a:latin typeface="맑은 고딕" pitchFamily="34" charset="0"/>
                <a:ea typeface="맑은 고딕" pitchFamily="34" charset="-122"/>
              </a:rPr>
              <a:t>8</a:t>
            </a:r>
            <a:endParaRPr lang="en-US" sz="1800" dirty="0"/>
          </a:p>
        </p:txBody>
      </p:sp>
      <p:sp>
        <p:nvSpPr>
          <p:cNvPr id="4" name="Text 2"/>
          <p:cNvSpPr txBox="1"/>
          <p:nvPr/>
        </p:nvSpPr>
        <p:spPr>
          <a:xfrm>
            <a:off x="1170432" y="347472"/>
            <a:ext cx="7680960" cy="548640"/>
          </a:xfrm>
          <a:prstGeom prst="rect">
            <a:avLst/>
          </a:prstGeom>
          <a:noFill/>
          <a:ln/>
        </p:spPr>
        <p:txBody>
          <a:bodyPr wrap="square" lIns="0" tIns="0" rIns="0" bIns="0" rtlCol="0" anchor="ctr"/>
          <a:lstStyle/>
          <a:p>
            <a:pPr marL="0" indent="0" algn="l">
              <a:buNone/>
            </a:pPr>
            <a:r>
              <a:rPr lang="en-US" sz="3000" b="1" dirty="0">
                <a:solidFill>
                  <a:srgbClr val="14213D"/>
                </a:solidFill>
                <a:latin typeface="맑은 고딕" pitchFamily="34" charset="0"/>
                <a:ea typeface="맑은 고딕" pitchFamily="34" charset="-122"/>
                <a:cs typeface="맑은 고딕" pitchFamily="34" charset="-120"/>
              </a:rPr>
              <a:t>활용방안 및 기대 효과</a:t>
            </a:r>
            <a:endParaRPr lang="en-US" sz="3000" dirty="0"/>
          </a:p>
        </p:txBody>
      </p:sp>
      <p:sp>
        <p:nvSpPr>
          <p:cNvPr id="5" name="Text 3"/>
          <p:cNvSpPr txBox="1"/>
          <p:nvPr/>
        </p:nvSpPr>
        <p:spPr>
          <a:xfrm>
            <a:off x="1170432" y="896112"/>
            <a:ext cx="10424160" cy="310896"/>
          </a:xfrm>
          <a:prstGeom prst="rect">
            <a:avLst/>
          </a:prstGeom>
          <a:noFill/>
          <a:ln/>
        </p:spPr>
        <p:txBody>
          <a:bodyPr wrap="square" lIns="0" tIns="0" rIns="0" bIns="0" rtlCol="0" anchor="ctr"/>
          <a:lstStyle/>
          <a:p>
            <a:pPr marL="0" indent="0" algn="l">
              <a:buNone/>
            </a:pPr>
            <a:r>
              <a:rPr lang="en-US" sz="1300" dirty="0">
                <a:solidFill>
                  <a:srgbClr val="6B7280"/>
                </a:solidFill>
                <a:latin typeface="맑은 고딕" pitchFamily="34" charset="0"/>
                <a:ea typeface="맑은 고딕" pitchFamily="34" charset="-122"/>
                <a:cs typeface="맑은 고딕" pitchFamily="34" charset="-120"/>
              </a:rPr>
              <a:t>누가, 어떻게 쓸 수 있는가</a:t>
            </a:r>
            <a:endParaRPr lang="en-US" sz="1300" dirty="0"/>
          </a:p>
        </p:txBody>
      </p:sp>
      <p:sp>
        <p:nvSpPr>
          <p:cNvPr id="6" name="Shape 4"/>
          <p:cNvSpPr/>
          <p:nvPr/>
        </p:nvSpPr>
        <p:spPr>
          <a:xfrm>
            <a:off x="548640" y="1481328"/>
            <a:ext cx="11091672" cy="1234440"/>
          </a:xfrm>
          <a:prstGeom prst="roundRect">
            <a:avLst>
              <a:gd name="adj" fmla="val 5926"/>
            </a:avLst>
          </a:prstGeom>
          <a:solidFill>
            <a:srgbClr val="FFFFFF"/>
          </a:solidFill>
          <a:ln w="12700">
            <a:solidFill>
              <a:srgbClr val="DDE1E7"/>
            </a:solidFill>
            <a:prstDash val="solid"/>
          </a:ln>
        </p:spPr>
      </p:sp>
      <p:sp>
        <p:nvSpPr>
          <p:cNvPr id="7" name="Shape 5"/>
          <p:cNvSpPr/>
          <p:nvPr/>
        </p:nvSpPr>
        <p:spPr>
          <a:xfrm>
            <a:off x="548640" y="1481328"/>
            <a:ext cx="2834640" cy="1234440"/>
          </a:xfrm>
          <a:prstGeom prst="rect">
            <a:avLst/>
          </a:prstGeom>
          <a:solidFill>
            <a:srgbClr val="14213D"/>
          </a:solidFill>
          <a:ln/>
        </p:spPr>
      </p:sp>
      <p:sp>
        <p:nvSpPr>
          <p:cNvPr id="8" name="Text 6"/>
          <p:cNvSpPr txBox="1"/>
          <p:nvPr/>
        </p:nvSpPr>
        <p:spPr>
          <a:xfrm>
            <a:off x="777240" y="1700784"/>
            <a:ext cx="2487168" cy="365760"/>
          </a:xfrm>
          <a:prstGeom prst="rect">
            <a:avLst/>
          </a:prstGeom>
          <a:noFill/>
          <a:ln/>
        </p:spPr>
        <p:txBody>
          <a:bodyPr wrap="square" lIns="0" tIns="0" rIns="0" bIns="0" rtlCol="0" anchor="ctr"/>
          <a:lstStyle/>
          <a:p>
            <a:pPr marL="0" indent="0">
              <a:buNone/>
            </a:pPr>
            <a:r>
              <a:rPr lang="en-US" sz="1600" b="1" dirty="0">
                <a:solidFill>
                  <a:srgbClr val="FFFFFF"/>
                </a:solidFill>
                <a:latin typeface="맑은 고딕" pitchFamily="34" charset="0"/>
                <a:ea typeface="맑은 고딕" pitchFamily="34" charset="-122"/>
                <a:cs typeface="맑은 고딕" pitchFamily="34" charset="-120"/>
              </a:rPr>
              <a:t>검토 업무 지원</a:t>
            </a:r>
            <a:endParaRPr lang="en-US" sz="1600" dirty="0"/>
          </a:p>
        </p:txBody>
      </p:sp>
      <p:sp>
        <p:nvSpPr>
          <p:cNvPr id="9" name="Text 7"/>
          <p:cNvSpPr txBox="1"/>
          <p:nvPr/>
        </p:nvSpPr>
        <p:spPr>
          <a:xfrm>
            <a:off x="777240" y="2121408"/>
            <a:ext cx="2487168" cy="475488"/>
          </a:xfrm>
          <a:prstGeom prst="rect">
            <a:avLst/>
          </a:prstGeom>
          <a:noFill/>
          <a:ln/>
        </p:spPr>
        <p:txBody>
          <a:bodyPr wrap="square" lIns="0" tIns="0" rIns="0" bIns="0" rtlCol="0" anchor="t"/>
          <a:lstStyle/>
          <a:p>
            <a:pPr marL="0" indent="0">
              <a:lnSpc>
                <a:spcPts val="1600"/>
              </a:lnSpc>
              <a:buNone/>
            </a:pPr>
            <a:r>
              <a:rPr lang="en-US" sz="1100" dirty="0">
                <a:solidFill>
                  <a:srgbClr val="F2A63B"/>
                </a:solidFill>
                <a:latin typeface="맑은 고딕" pitchFamily="34" charset="0"/>
                <a:ea typeface="맑은 고딕" pitchFamily="34" charset="-122"/>
                <a:cs typeface="맑은 고딕" pitchFamily="34" charset="-120"/>
              </a:rPr>
              <a:t>경찰 교통부서</a:t>
            </a:r>
            <a:endParaRPr lang="en-US" sz="1100" dirty="0"/>
          </a:p>
          <a:p>
            <a:pPr marL="0" indent="0">
              <a:lnSpc>
                <a:spcPts val="1600"/>
              </a:lnSpc>
              <a:buNone/>
            </a:pPr>
            <a:r>
              <a:rPr lang="en-US" sz="1100" dirty="0">
                <a:solidFill>
                  <a:srgbClr val="F2A63B"/>
                </a:solidFill>
                <a:latin typeface="맑은 고딕" pitchFamily="34" charset="0"/>
                <a:ea typeface="맑은 고딕" pitchFamily="34" charset="-122"/>
                <a:cs typeface="맑은 고딕" pitchFamily="34" charset="-120"/>
              </a:rPr>
              <a:t>지자체 교통안전 담당자</a:t>
            </a:r>
            <a:endParaRPr lang="en-US" sz="1100" dirty="0"/>
          </a:p>
        </p:txBody>
      </p:sp>
      <p:sp>
        <p:nvSpPr>
          <p:cNvPr id="10" name="Text 8"/>
          <p:cNvSpPr txBox="1"/>
          <p:nvPr/>
        </p:nvSpPr>
        <p:spPr>
          <a:xfrm>
            <a:off x="3584448" y="1664208"/>
            <a:ext cx="7818120" cy="868680"/>
          </a:xfrm>
          <a:prstGeom prst="rect">
            <a:avLst/>
          </a:prstGeom>
          <a:noFill/>
          <a:ln/>
        </p:spPr>
        <p:txBody>
          <a:bodyPr wrap="square" lIns="0" tIns="0" rIns="0" bIns="0" rtlCol="0" anchor="ctr"/>
          <a:lstStyle/>
          <a:p>
            <a:pPr marL="0" indent="0">
              <a:lnSpc>
                <a:spcPts val="1900"/>
              </a:lnSpc>
              <a:buNone/>
            </a:pPr>
            <a:r>
              <a:rPr lang="en-US" sz="1200" dirty="0">
                <a:solidFill>
                  <a:srgbClr val="1F2937"/>
                </a:solidFill>
                <a:latin typeface="맑은 고딕" pitchFamily="34" charset="0"/>
                <a:ea typeface="맑은 고딕" pitchFamily="34" charset="-122"/>
                <a:cs typeface="맑은 고딕" pitchFamily="34" charset="-120"/>
              </a:rPr>
              <a:t>장시간 CCTV 영상에서 위반 후보 구간만 자동으로 추려, 담당자가 확인해야 할 영상 분량을 크게 줄인다</a:t>
            </a:r>
            <a:r>
              <a:rPr lang="en-US" sz="1200">
                <a:solidFill>
                  <a:srgbClr val="1F2937"/>
                </a:solidFill>
                <a:latin typeface="맑은 고딕" pitchFamily="34" charset="0"/>
                <a:ea typeface="맑은 고딕" pitchFamily="34" charset="-122"/>
                <a:cs typeface="맑은 고딕" pitchFamily="34" charset="-120"/>
              </a:rPr>
              <a:t>. </a:t>
            </a:r>
          </a:p>
          <a:p>
            <a:pPr marL="0" indent="0">
              <a:lnSpc>
                <a:spcPts val="1900"/>
              </a:lnSpc>
              <a:buNone/>
            </a:pPr>
            <a:r>
              <a:rPr lang="en-US" sz="1200">
                <a:solidFill>
                  <a:srgbClr val="1F2937"/>
                </a:solidFill>
                <a:latin typeface="맑은 고딕" pitchFamily="34" charset="0"/>
                <a:ea typeface="맑은 고딕" pitchFamily="34" charset="-122"/>
                <a:cs typeface="맑은 고딕" pitchFamily="34" charset="-120"/>
              </a:rPr>
              <a:t>진입</a:t>
            </a:r>
            <a:r>
              <a:rPr lang="en-US" sz="1200" dirty="0">
                <a:solidFill>
                  <a:srgbClr val="1F2937"/>
                </a:solidFill>
                <a:latin typeface="맑은 고딕" pitchFamily="34" charset="0"/>
                <a:ea typeface="맑은 고딕" pitchFamily="34" charset="-122"/>
                <a:cs typeface="맑은 고딕" pitchFamily="34" charset="-120"/>
              </a:rPr>
              <a:t>·통과 스냅샷과 판단 근거, CSV가 함께 나와 검토 결과를 그대로 기록으로 남길 수 있다.</a:t>
            </a:r>
            <a:endParaRPr lang="en-US" sz="1200" dirty="0"/>
          </a:p>
        </p:txBody>
      </p:sp>
      <p:sp>
        <p:nvSpPr>
          <p:cNvPr id="11" name="Shape 9"/>
          <p:cNvSpPr/>
          <p:nvPr/>
        </p:nvSpPr>
        <p:spPr>
          <a:xfrm>
            <a:off x="548640" y="2880360"/>
            <a:ext cx="11091672" cy="1234440"/>
          </a:xfrm>
          <a:prstGeom prst="roundRect">
            <a:avLst>
              <a:gd name="adj" fmla="val 5926"/>
            </a:avLst>
          </a:prstGeom>
          <a:solidFill>
            <a:srgbClr val="FFFFFF"/>
          </a:solidFill>
          <a:ln w="12700">
            <a:solidFill>
              <a:srgbClr val="DDE1E7"/>
            </a:solidFill>
            <a:prstDash val="solid"/>
          </a:ln>
        </p:spPr>
      </p:sp>
      <p:sp>
        <p:nvSpPr>
          <p:cNvPr id="12" name="Shape 10"/>
          <p:cNvSpPr/>
          <p:nvPr/>
        </p:nvSpPr>
        <p:spPr>
          <a:xfrm>
            <a:off x="548640" y="2880360"/>
            <a:ext cx="2834640" cy="1234440"/>
          </a:xfrm>
          <a:prstGeom prst="rect">
            <a:avLst/>
          </a:prstGeom>
          <a:solidFill>
            <a:srgbClr val="EDF0F4"/>
          </a:solidFill>
          <a:ln/>
        </p:spPr>
      </p:sp>
      <p:sp>
        <p:nvSpPr>
          <p:cNvPr id="13" name="Text 11"/>
          <p:cNvSpPr txBox="1"/>
          <p:nvPr/>
        </p:nvSpPr>
        <p:spPr>
          <a:xfrm>
            <a:off x="777240" y="3099816"/>
            <a:ext cx="2487168" cy="365760"/>
          </a:xfrm>
          <a:prstGeom prst="rect">
            <a:avLst/>
          </a:prstGeom>
          <a:noFill/>
          <a:ln/>
        </p:spPr>
        <p:txBody>
          <a:bodyPr wrap="square" lIns="0" tIns="0" rIns="0" bIns="0" rtlCol="0" anchor="ctr"/>
          <a:lstStyle/>
          <a:p>
            <a:pPr marL="0" indent="0">
              <a:buNone/>
            </a:pPr>
            <a:r>
              <a:rPr lang="en-US" sz="1600" b="1" dirty="0">
                <a:solidFill>
                  <a:srgbClr val="14213D"/>
                </a:solidFill>
                <a:latin typeface="맑은 고딕" pitchFamily="34" charset="0"/>
                <a:ea typeface="맑은 고딕" pitchFamily="34" charset="-122"/>
                <a:cs typeface="맑은 고딕" pitchFamily="34" charset="-120"/>
              </a:rPr>
              <a:t>위험 지점 진단</a:t>
            </a:r>
            <a:endParaRPr lang="en-US" sz="1600" dirty="0"/>
          </a:p>
        </p:txBody>
      </p:sp>
      <p:sp>
        <p:nvSpPr>
          <p:cNvPr id="14" name="Text 12"/>
          <p:cNvSpPr txBox="1"/>
          <p:nvPr/>
        </p:nvSpPr>
        <p:spPr>
          <a:xfrm>
            <a:off x="777240" y="3520440"/>
            <a:ext cx="2487168" cy="475488"/>
          </a:xfrm>
          <a:prstGeom prst="rect">
            <a:avLst/>
          </a:prstGeom>
          <a:noFill/>
          <a:ln/>
        </p:spPr>
        <p:txBody>
          <a:bodyPr wrap="square" lIns="0" tIns="0" rIns="0" bIns="0" rtlCol="0" anchor="t"/>
          <a:lstStyle/>
          <a:p>
            <a:pPr marL="0" indent="0">
              <a:lnSpc>
                <a:spcPts val="1600"/>
              </a:lnSpc>
              <a:buNone/>
            </a:pPr>
            <a:r>
              <a:rPr lang="en-US" sz="1100" dirty="0">
                <a:solidFill>
                  <a:srgbClr val="6B7280"/>
                </a:solidFill>
                <a:latin typeface="맑은 고딕" pitchFamily="34" charset="0"/>
                <a:ea typeface="맑은 고딕" pitchFamily="34" charset="-122"/>
                <a:cs typeface="맑은 고딕" pitchFamily="34" charset="-120"/>
              </a:rPr>
              <a:t>교통안전 정책</a:t>
            </a:r>
            <a:endParaRPr lang="en-US" sz="1100" dirty="0"/>
          </a:p>
        </p:txBody>
      </p:sp>
      <p:sp>
        <p:nvSpPr>
          <p:cNvPr id="15" name="Text 13"/>
          <p:cNvSpPr txBox="1"/>
          <p:nvPr/>
        </p:nvSpPr>
        <p:spPr>
          <a:xfrm>
            <a:off x="3584448" y="3063240"/>
            <a:ext cx="7818120" cy="868680"/>
          </a:xfrm>
          <a:prstGeom prst="rect">
            <a:avLst/>
          </a:prstGeom>
          <a:noFill/>
          <a:ln/>
        </p:spPr>
        <p:txBody>
          <a:bodyPr wrap="square" lIns="0" tIns="0" rIns="0" bIns="0" rtlCol="0" anchor="ctr"/>
          <a:lstStyle/>
          <a:p>
            <a:pPr marL="0" indent="0">
              <a:lnSpc>
                <a:spcPts val="1900"/>
              </a:lnSpc>
              <a:buNone/>
            </a:pPr>
            <a:r>
              <a:rPr lang="en-US" sz="1200" dirty="0">
                <a:solidFill>
                  <a:srgbClr val="1F2937"/>
                </a:solidFill>
                <a:latin typeface="맑은 고딕" pitchFamily="34" charset="0"/>
                <a:ea typeface="맑은 고딕" pitchFamily="34" charset="-122"/>
                <a:cs typeface="맑은 고딕" pitchFamily="34" charset="-120"/>
              </a:rPr>
              <a:t>특정 횡단보도에서 위반이 얼마나 자주 발생하는지 정량 데이터로 축적해, 과속방지턱·조명·스마트 횡단보도 설치 우선순위 판단 근거로 활용한다.</a:t>
            </a:r>
            <a:endParaRPr lang="en-US" sz="1200" dirty="0"/>
          </a:p>
        </p:txBody>
      </p:sp>
      <p:sp>
        <p:nvSpPr>
          <p:cNvPr id="16" name="Shape 14"/>
          <p:cNvSpPr/>
          <p:nvPr/>
        </p:nvSpPr>
        <p:spPr>
          <a:xfrm>
            <a:off x="548640" y="4279392"/>
            <a:ext cx="11091672" cy="1234440"/>
          </a:xfrm>
          <a:prstGeom prst="roundRect">
            <a:avLst>
              <a:gd name="adj" fmla="val 5926"/>
            </a:avLst>
          </a:prstGeom>
          <a:solidFill>
            <a:srgbClr val="FFFFFF"/>
          </a:solidFill>
          <a:ln w="12700">
            <a:solidFill>
              <a:srgbClr val="DDE1E7"/>
            </a:solidFill>
            <a:prstDash val="solid"/>
          </a:ln>
        </p:spPr>
      </p:sp>
      <p:sp>
        <p:nvSpPr>
          <p:cNvPr id="17" name="Shape 15"/>
          <p:cNvSpPr/>
          <p:nvPr/>
        </p:nvSpPr>
        <p:spPr>
          <a:xfrm>
            <a:off x="548640" y="4279392"/>
            <a:ext cx="2834640" cy="1234440"/>
          </a:xfrm>
          <a:prstGeom prst="rect">
            <a:avLst/>
          </a:prstGeom>
          <a:solidFill>
            <a:srgbClr val="EDF0F4"/>
          </a:solidFill>
          <a:ln/>
        </p:spPr>
      </p:sp>
      <p:sp>
        <p:nvSpPr>
          <p:cNvPr id="18" name="Text 16"/>
          <p:cNvSpPr txBox="1"/>
          <p:nvPr/>
        </p:nvSpPr>
        <p:spPr>
          <a:xfrm>
            <a:off x="777240" y="4498848"/>
            <a:ext cx="2487168" cy="365760"/>
          </a:xfrm>
          <a:prstGeom prst="rect">
            <a:avLst/>
          </a:prstGeom>
          <a:noFill/>
          <a:ln/>
        </p:spPr>
        <p:txBody>
          <a:bodyPr wrap="square" lIns="0" tIns="0" rIns="0" bIns="0" rtlCol="0" anchor="ctr"/>
          <a:lstStyle/>
          <a:p>
            <a:pPr marL="0" indent="0">
              <a:buNone/>
            </a:pPr>
            <a:r>
              <a:rPr lang="en-US" sz="1600" b="1" dirty="0">
                <a:solidFill>
                  <a:srgbClr val="14213D"/>
                </a:solidFill>
                <a:latin typeface="맑은 고딕" pitchFamily="34" charset="0"/>
                <a:ea typeface="맑은 고딕" pitchFamily="34" charset="-122"/>
                <a:cs typeface="맑은 고딕" pitchFamily="34" charset="-120"/>
              </a:rPr>
              <a:t>보행 안전 캠페인</a:t>
            </a:r>
            <a:endParaRPr lang="en-US" sz="1600" dirty="0"/>
          </a:p>
        </p:txBody>
      </p:sp>
      <p:sp>
        <p:nvSpPr>
          <p:cNvPr id="19" name="Text 17"/>
          <p:cNvSpPr txBox="1"/>
          <p:nvPr/>
        </p:nvSpPr>
        <p:spPr>
          <a:xfrm>
            <a:off x="777240" y="4919472"/>
            <a:ext cx="2487168" cy="475488"/>
          </a:xfrm>
          <a:prstGeom prst="rect">
            <a:avLst/>
          </a:prstGeom>
          <a:noFill/>
          <a:ln/>
        </p:spPr>
        <p:txBody>
          <a:bodyPr wrap="square" lIns="0" tIns="0" rIns="0" bIns="0" rtlCol="0" anchor="t"/>
          <a:lstStyle/>
          <a:p>
            <a:pPr marL="0" indent="0">
              <a:lnSpc>
                <a:spcPts val="1600"/>
              </a:lnSpc>
              <a:buNone/>
            </a:pPr>
            <a:r>
              <a:rPr lang="en-US" sz="1100" dirty="0">
                <a:solidFill>
                  <a:srgbClr val="6B7280"/>
                </a:solidFill>
                <a:latin typeface="맑은 고딕" pitchFamily="34" charset="0"/>
                <a:ea typeface="맑은 고딕" pitchFamily="34" charset="-122"/>
                <a:cs typeface="맑은 고딕" pitchFamily="34" charset="-120"/>
              </a:rPr>
              <a:t>교육 · 홍보</a:t>
            </a:r>
            <a:endParaRPr lang="en-US" sz="1100" dirty="0"/>
          </a:p>
        </p:txBody>
      </p:sp>
      <p:sp>
        <p:nvSpPr>
          <p:cNvPr id="20" name="Text 18"/>
          <p:cNvSpPr txBox="1"/>
          <p:nvPr/>
        </p:nvSpPr>
        <p:spPr>
          <a:xfrm>
            <a:off x="3584448" y="4462272"/>
            <a:ext cx="7818120" cy="868680"/>
          </a:xfrm>
          <a:prstGeom prst="rect">
            <a:avLst/>
          </a:prstGeom>
          <a:noFill/>
          <a:ln/>
        </p:spPr>
        <p:txBody>
          <a:bodyPr wrap="square" lIns="0" tIns="0" rIns="0" bIns="0" rtlCol="0" anchor="ctr"/>
          <a:lstStyle/>
          <a:p>
            <a:pPr marL="0" indent="0">
              <a:lnSpc>
                <a:spcPts val="1900"/>
              </a:lnSpc>
              <a:buNone/>
            </a:pPr>
            <a:r>
              <a:rPr lang="en-US" sz="1200" dirty="0">
                <a:solidFill>
                  <a:srgbClr val="1F2937"/>
                </a:solidFill>
                <a:latin typeface="맑은 고딕" pitchFamily="34" charset="0"/>
                <a:ea typeface="맑은 고딕" pitchFamily="34" charset="-122"/>
                <a:cs typeface="맑은 고딕" pitchFamily="34" charset="-120"/>
              </a:rPr>
              <a:t>실제 위반 장면과 통계를 함께 제시해, 운전자 대상 교육 자료나 지역 안전 캠페인의 실증 근거로 활용한다.</a:t>
            </a:r>
            <a:endParaRPr lang="en-US" sz="1200" dirty="0"/>
          </a:p>
        </p:txBody>
      </p:sp>
      <p:sp>
        <p:nvSpPr>
          <p:cNvPr id="21" name="Shape 19"/>
          <p:cNvSpPr/>
          <p:nvPr/>
        </p:nvSpPr>
        <p:spPr>
          <a:xfrm>
            <a:off x="548640" y="5669280"/>
            <a:ext cx="11091672" cy="658368"/>
          </a:xfrm>
          <a:prstGeom prst="roundRect">
            <a:avLst>
              <a:gd name="adj" fmla="val 11111"/>
            </a:avLst>
          </a:prstGeom>
          <a:solidFill>
            <a:srgbClr val="14213D"/>
          </a:solidFill>
          <a:ln w="12700">
            <a:solidFill>
              <a:srgbClr val="14213D"/>
            </a:solidFill>
            <a:prstDash val="solid"/>
          </a:ln>
        </p:spPr>
      </p:sp>
      <p:sp>
        <p:nvSpPr>
          <p:cNvPr id="22" name="Text 20"/>
          <p:cNvSpPr txBox="1"/>
          <p:nvPr/>
        </p:nvSpPr>
        <p:spPr>
          <a:xfrm>
            <a:off x="868680" y="5669280"/>
            <a:ext cx="10424160" cy="658368"/>
          </a:xfrm>
          <a:prstGeom prst="rect">
            <a:avLst/>
          </a:prstGeom>
          <a:noFill/>
          <a:ln/>
        </p:spPr>
        <p:txBody>
          <a:bodyPr wrap="square" lIns="0" tIns="0" rIns="0" bIns="0" rtlCol="0" anchor="ctr"/>
          <a:lstStyle/>
          <a:p>
            <a:pPr marL="0" indent="0">
              <a:buNone/>
            </a:pPr>
            <a:r>
              <a:rPr lang="en-US" sz="1250" b="1" dirty="0">
                <a:solidFill>
                  <a:srgbClr val="FFFFFF"/>
                </a:solidFill>
                <a:latin typeface="맑은 고딕" pitchFamily="34" charset="0"/>
                <a:ea typeface="맑은 고딕" pitchFamily="34" charset="-122"/>
                <a:cs typeface="맑은 고딕" pitchFamily="34" charset="-120"/>
              </a:rPr>
              <a:t>이미 설치된 CCTV만으로 동작하므로, 추가 장비 투자 없이 기존 인프라 위에 바로 얹을 수 있다.</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213D"/>
        </a:solidFill>
        <a:effectLst/>
      </p:bgPr>
    </p:bg>
    <p:spTree>
      <p:nvGrpSpPr>
        <p:cNvPr id="1" name=""/>
        <p:cNvGrpSpPr/>
        <p:nvPr/>
      </p:nvGrpSpPr>
      <p:grpSpPr>
        <a:xfrm>
          <a:off x="0" y="0"/>
          <a:ext cx="0" cy="0"/>
          <a:chOff x="0" y="0"/>
          <a:chExt cx="0" cy="0"/>
        </a:xfrm>
      </p:grpSpPr>
      <p:sp>
        <p:nvSpPr>
          <p:cNvPr id="2" name="Shape 0"/>
          <p:cNvSpPr/>
          <p:nvPr/>
        </p:nvSpPr>
        <p:spPr>
          <a:xfrm>
            <a:off x="685800" y="640080"/>
            <a:ext cx="475488" cy="475488"/>
          </a:xfrm>
          <a:prstGeom prst="ellipse">
            <a:avLst/>
          </a:prstGeom>
          <a:solidFill>
            <a:srgbClr val="F2A63B"/>
          </a:solidFill>
          <a:ln/>
        </p:spPr>
      </p:sp>
      <p:sp>
        <p:nvSpPr>
          <p:cNvPr id="3" name="Text 1"/>
          <p:cNvSpPr txBox="1"/>
          <p:nvPr/>
        </p:nvSpPr>
        <p:spPr>
          <a:xfrm>
            <a:off x="685800" y="640080"/>
            <a:ext cx="475488" cy="475488"/>
          </a:xfrm>
          <a:prstGeom prst="rect">
            <a:avLst/>
          </a:prstGeom>
          <a:noFill/>
          <a:ln/>
        </p:spPr>
        <p:txBody>
          <a:bodyPr wrap="square" lIns="0" tIns="0" rIns="0" bIns="0" rtlCol="0" anchor="ctr"/>
          <a:lstStyle/>
          <a:p>
            <a:pPr marL="0" indent="0" algn="ctr">
              <a:buNone/>
            </a:pPr>
            <a:r>
              <a:rPr lang="en-US" sz="2000" b="1" dirty="0">
                <a:solidFill>
                  <a:srgbClr val="14213D"/>
                </a:solidFill>
                <a:latin typeface="맑은 고딕" pitchFamily="34" charset="0"/>
                <a:ea typeface="맑은 고딕" pitchFamily="34" charset="-122"/>
                <a:cs typeface="맑은 고딕" pitchFamily="34" charset="-120"/>
              </a:rPr>
              <a:t>!</a:t>
            </a:r>
            <a:endParaRPr lang="en-US" sz="2000" dirty="0"/>
          </a:p>
        </p:txBody>
      </p:sp>
      <p:sp>
        <p:nvSpPr>
          <p:cNvPr id="4" name="Text 2"/>
          <p:cNvSpPr txBox="1"/>
          <p:nvPr/>
        </p:nvSpPr>
        <p:spPr>
          <a:xfrm>
            <a:off x="1325880" y="603504"/>
            <a:ext cx="7772400" cy="548640"/>
          </a:xfrm>
          <a:prstGeom prst="rect">
            <a:avLst/>
          </a:prstGeom>
          <a:noFill/>
          <a:ln/>
        </p:spPr>
        <p:txBody>
          <a:bodyPr wrap="square" lIns="0" tIns="0" rIns="0" bIns="0" rtlCol="0" anchor="ctr"/>
          <a:lstStyle/>
          <a:p>
            <a:pPr marL="0" indent="0">
              <a:buNone/>
            </a:pPr>
            <a:r>
              <a:rPr lang="en-US" sz="3000" b="1" dirty="0">
                <a:solidFill>
                  <a:srgbClr val="FFFFFF"/>
                </a:solidFill>
                <a:latin typeface="맑은 고딕" pitchFamily="34" charset="0"/>
                <a:ea typeface="맑은 고딕" pitchFamily="34" charset="-122"/>
                <a:cs typeface="맑은 고딕" pitchFamily="34" charset="-120"/>
              </a:rPr>
              <a:t>한계 및 향후 과제</a:t>
            </a:r>
            <a:endParaRPr lang="en-US" sz="3000" dirty="0"/>
          </a:p>
        </p:txBody>
      </p:sp>
      <p:sp>
        <p:nvSpPr>
          <p:cNvPr id="5" name="Shape 3"/>
          <p:cNvSpPr/>
          <p:nvPr/>
        </p:nvSpPr>
        <p:spPr>
          <a:xfrm>
            <a:off x="685800" y="1463040"/>
            <a:ext cx="10789920" cy="1024128"/>
          </a:xfrm>
          <a:prstGeom prst="roundRect">
            <a:avLst>
              <a:gd name="adj" fmla="val 7143"/>
            </a:avLst>
          </a:prstGeom>
          <a:solidFill>
            <a:srgbClr val="24334F"/>
          </a:solidFill>
          <a:ln w="12700">
            <a:solidFill>
              <a:srgbClr val="3A4A66"/>
            </a:solidFill>
            <a:prstDash val="solid"/>
          </a:ln>
        </p:spPr>
      </p:sp>
      <p:sp>
        <p:nvSpPr>
          <p:cNvPr id="6" name="Text 4"/>
          <p:cNvSpPr txBox="1"/>
          <p:nvPr/>
        </p:nvSpPr>
        <p:spPr>
          <a:xfrm>
            <a:off x="960120" y="1591056"/>
            <a:ext cx="4023360" cy="329184"/>
          </a:xfrm>
          <a:prstGeom prst="rect">
            <a:avLst/>
          </a:prstGeom>
          <a:noFill/>
          <a:ln/>
        </p:spPr>
        <p:txBody>
          <a:bodyPr wrap="square" lIns="0" tIns="0" rIns="0" bIns="0" rtlCol="0" anchor="ctr"/>
          <a:lstStyle/>
          <a:p>
            <a:pPr marL="0" indent="0">
              <a:buNone/>
            </a:pPr>
            <a:r>
              <a:rPr lang="en-US" sz="1350" b="1" dirty="0">
                <a:solidFill>
                  <a:srgbClr val="F2A63B"/>
                </a:solidFill>
                <a:latin typeface="맑은 고딕" pitchFamily="34" charset="0"/>
                <a:ea typeface="맑은 고딕" pitchFamily="34" charset="-122"/>
                <a:cs typeface="맑은 고딕" pitchFamily="34" charset="-120"/>
              </a:rPr>
              <a:t>야간 검출 신뢰도의 불안정성</a:t>
            </a:r>
            <a:endParaRPr lang="en-US" sz="1350" dirty="0"/>
          </a:p>
        </p:txBody>
      </p:sp>
      <p:sp>
        <p:nvSpPr>
          <p:cNvPr id="7" name="Text 5"/>
          <p:cNvSpPr txBox="1"/>
          <p:nvPr/>
        </p:nvSpPr>
        <p:spPr>
          <a:xfrm>
            <a:off x="960120" y="1920240"/>
            <a:ext cx="6771350" cy="512064"/>
          </a:xfrm>
          <a:prstGeom prst="rect">
            <a:avLst/>
          </a:prstGeom>
          <a:noFill/>
          <a:ln/>
        </p:spPr>
        <p:txBody>
          <a:bodyPr wrap="square" lIns="0" tIns="0" rIns="0" bIns="0" rtlCol="0" anchor="t"/>
          <a:lstStyle/>
          <a:p>
            <a:pPr marL="0" indent="0">
              <a:lnSpc>
                <a:spcPts val="1500"/>
              </a:lnSpc>
              <a:buNone/>
            </a:pPr>
            <a:r>
              <a:rPr lang="en-US" sz="1050" dirty="0">
                <a:solidFill>
                  <a:srgbClr val="C3CBD8"/>
                </a:solidFill>
                <a:latin typeface="맑은 고딕" pitchFamily="34" charset="0"/>
                <a:ea typeface="맑은 고딕" pitchFamily="34" charset="-122"/>
                <a:cs typeface="맑은 고딕" pitchFamily="34" charset="-120"/>
              </a:rPr>
              <a:t>저조도 환경에서 오토바이 검출 신뢰도가 프레임마다 요동쳐, 같은 차량의 추적 ID가 중간에 끊기는 경우가 있다. 이벤트 병합 후처리로 상당 부분 보완했으나, 매우 짧게 스쳐 지나가는 검출은 여전히 오탐으로 남을 수 있다.</a:t>
            </a:r>
            <a:endParaRPr lang="en-US" sz="1050" dirty="0"/>
          </a:p>
        </p:txBody>
      </p:sp>
      <p:sp>
        <p:nvSpPr>
          <p:cNvPr id="8" name="Shape 6"/>
          <p:cNvSpPr/>
          <p:nvPr/>
        </p:nvSpPr>
        <p:spPr>
          <a:xfrm>
            <a:off x="7882128" y="1627632"/>
            <a:ext cx="18288" cy="713232"/>
          </a:xfrm>
          <a:prstGeom prst="rect">
            <a:avLst/>
          </a:prstGeom>
          <a:solidFill>
            <a:srgbClr val="3A4A66"/>
          </a:solidFill>
          <a:ln/>
        </p:spPr>
      </p:sp>
      <p:sp>
        <p:nvSpPr>
          <p:cNvPr id="9" name="Text 7"/>
          <p:cNvSpPr txBox="1"/>
          <p:nvPr/>
        </p:nvSpPr>
        <p:spPr>
          <a:xfrm>
            <a:off x="8092440" y="1609344"/>
            <a:ext cx="3200400" cy="237744"/>
          </a:xfrm>
          <a:prstGeom prst="rect">
            <a:avLst/>
          </a:prstGeom>
          <a:noFill/>
          <a:ln/>
        </p:spPr>
        <p:txBody>
          <a:bodyPr wrap="square" lIns="0" tIns="0" rIns="0" bIns="0" rtlCol="0" anchor="ctr"/>
          <a:lstStyle/>
          <a:p>
            <a:pPr marL="0" indent="0">
              <a:buNone/>
            </a:pPr>
            <a:r>
              <a:rPr lang="en-US" sz="950" dirty="0">
                <a:solidFill>
                  <a:srgbClr val="6B7280"/>
                </a:solidFill>
                <a:latin typeface="맑은 고딕" pitchFamily="34" charset="0"/>
                <a:ea typeface="맑은 고딕" pitchFamily="34" charset="-122"/>
                <a:cs typeface="맑은 고딕" pitchFamily="34" charset="-120"/>
              </a:rPr>
              <a:t>향후 계획</a:t>
            </a:r>
            <a:endParaRPr lang="en-US" sz="950" dirty="0"/>
          </a:p>
        </p:txBody>
      </p:sp>
      <p:sp>
        <p:nvSpPr>
          <p:cNvPr id="10" name="Text 8"/>
          <p:cNvSpPr txBox="1"/>
          <p:nvPr/>
        </p:nvSpPr>
        <p:spPr>
          <a:xfrm>
            <a:off x="8092440" y="1865376"/>
            <a:ext cx="3200400" cy="548640"/>
          </a:xfrm>
          <a:prstGeom prst="rect">
            <a:avLst/>
          </a:prstGeom>
          <a:noFill/>
          <a:ln/>
        </p:spPr>
        <p:txBody>
          <a:bodyPr wrap="square" lIns="0" tIns="0" rIns="0" bIns="0" rtlCol="0" anchor="t"/>
          <a:lstStyle/>
          <a:p>
            <a:pPr marL="0" indent="0">
              <a:lnSpc>
                <a:spcPts val="1500"/>
              </a:lnSpc>
              <a:buNone/>
            </a:pPr>
            <a:r>
              <a:rPr lang="en-US" sz="1100" dirty="0">
                <a:solidFill>
                  <a:srgbClr val="FFFFFF"/>
                </a:solidFill>
                <a:latin typeface="맑은 고딕" pitchFamily="34" charset="0"/>
                <a:ea typeface="맑은 고딕" pitchFamily="34" charset="-122"/>
                <a:cs typeface="맑은 고딕" pitchFamily="34" charset="-120"/>
              </a:rPr>
              <a:t>학습 데이터 확대 및 추적기 파라미터 최적화</a:t>
            </a:r>
            <a:endParaRPr lang="en-US" sz="1100" dirty="0"/>
          </a:p>
        </p:txBody>
      </p:sp>
      <p:sp>
        <p:nvSpPr>
          <p:cNvPr id="11" name="Shape 9"/>
          <p:cNvSpPr/>
          <p:nvPr/>
        </p:nvSpPr>
        <p:spPr>
          <a:xfrm>
            <a:off x="685800" y="2615184"/>
            <a:ext cx="10789920" cy="1024128"/>
          </a:xfrm>
          <a:prstGeom prst="roundRect">
            <a:avLst>
              <a:gd name="adj" fmla="val 7143"/>
            </a:avLst>
          </a:prstGeom>
          <a:solidFill>
            <a:srgbClr val="24334F"/>
          </a:solidFill>
          <a:ln w="12700">
            <a:solidFill>
              <a:srgbClr val="3A4A66"/>
            </a:solidFill>
            <a:prstDash val="solid"/>
          </a:ln>
        </p:spPr>
      </p:sp>
      <p:sp>
        <p:nvSpPr>
          <p:cNvPr id="12" name="Text 10"/>
          <p:cNvSpPr txBox="1"/>
          <p:nvPr/>
        </p:nvSpPr>
        <p:spPr>
          <a:xfrm>
            <a:off x="960120" y="2743200"/>
            <a:ext cx="4023360" cy="329184"/>
          </a:xfrm>
          <a:prstGeom prst="rect">
            <a:avLst/>
          </a:prstGeom>
          <a:noFill/>
          <a:ln/>
        </p:spPr>
        <p:txBody>
          <a:bodyPr wrap="square" lIns="0" tIns="0" rIns="0" bIns="0" rtlCol="0" anchor="ctr"/>
          <a:lstStyle/>
          <a:p>
            <a:pPr marL="0" indent="0">
              <a:buNone/>
            </a:pPr>
            <a:r>
              <a:rPr lang="en-US" sz="1350" b="1" dirty="0">
                <a:solidFill>
                  <a:srgbClr val="F2A63B"/>
                </a:solidFill>
                <a:latin typeface="맑은 고딕" pitchFamily="34" charset="0"/>
                <a:ea typeface="맑은 고딕" pitchFamily="34" charset="-122"/>
                <a:cs typeface="맑은 고딕" pitchFamily="34" charset="-120"/>
              </a:rPr>
              <a:t>처리 속도</a:t>
            </a:r>
            <a:endParaRPr lang="en-US" sz="1350" dirty="0"/>
          </a:p>
        </p:txBody>
      </p:sp>
      <p:sp>
        <p:nvSpPr>
          <p:cNvPr id="13" name="Text 11"/>
          <p:cNvSpPr txBox="1"/>
          <p:nvPr/>
        </p:nvSpPr>
        <p:spPr>
          <a:xfrm>
            <a:off x="960120" y="3072384"/>
            <a:ext cx="6675120" cy="512064"/>
          </a:xfrm>
          <a:prstGeom prst="rect">
            <a:avLst/>
          </a:prstGeom>
          <a:noFill/>
          <a:ln/>
        </p:spPr>
        <p:txBody>
          <a:bodyPr wrap="square" lIns="0" tIns="0" rIns="0" bIns="0" rtlCol="0" anchor="t"/>
          <a:lstStyle/>
          <a:p>
            <a:pPr marL="0" indent="0">
              <a:lnSpc>
                <a:spcPts val="1500"/>
              </a:lnSpc>
              <a:buNone/>
            </a:pPr>
            <a:r>
              <a:rPr lang="en-US" sz="1050" dirty="0">
                <a:solidFill>
                  <a:srgbClr val="C3CBD8"/>
                </a:solidFill>
                <a:latin typeface="맑은 고딕" pitchFamily="34" charset="0"/>
                <a:ea typeface="맑은 고딕" pitchFamily="34" charset="-122"/>
                <a:cs typeface="맑은 고딕" pitchFamily="34" charset="-120"/>
              </a:rPr>
              <a:t>세 개의 모델을 함께 추론하는 구조라 처리 시간이 </a:t>
            </a:r>
            <a:r>
              <a:rPr lang="en-US" sz="1050">
                <a:solidFill>
                  <a:srgbClr val="C3CBD8"/>
                </a:solidFill>
                <a:latin typeface="맑은 고딕" pitchFamily="34" charset="0"/>
                <a:ea typeface="맑은 고딕" pitchFamily="34" charset="-122"/>
                <a:cs typeface="맑은 고딕" pitchFamily="34" charset="-120"/>
              </a:rPr>
              <a:t>길다.</a:t>
            </a:r>
          </a:p>
          <a:p>
            <a:pPr marL="0" indent="0">
              <a:lnSpc>
                <a:spcPts val="1500"/>
              </a:lnSpc>
              <a:buNone/>
            </a:pPr>
            <a:r>
              <a:rPr lang="en-US" sz="1050">
                <a:solidFill>
                  <a:srgbClr val="C3CBD8"/>
                </a:solidFill>
                <a:latin typeface="맑은 고딕" pitchFamily="34" charset="0"/>
                <a:ea typeface="맑은 고딕" pitchFamily="34" charset="-122"/>
                <a:cs typeface="맑은 고딕" pitchFamily="34" charset="-120"/>
              </a:rPr>
              <a:t>장시간 </a:t>
            </a:r>
            <a:r>
              <a:rPr lang="en-US" sz="1050" dirty="0">
                <a:solidFill>
                  <a:srgbClr val="C3CBD8"/>
                </a:solidFill>
                <a:latin typeface="맑은 고딕" pitchFamily="34" charset="0"/>
                <a:ea typeface="맑은 고딕" pitchFamily="34" charset="-122"/>
                <a:cs typeface="맑은 고딕" pitchFamily="34" charset="-120"/>
              </a:rPr>
              <a:t>영상을 다루려면 속도 개선이 필요하다.</a:t>
            </a:r>
            <a:endParaRPr lang="en-US" sz="1050" dirty="0"/>
          </a:p>
        </p:txBody>
      </p:sp>
      <p:sp>
        <p:nvSpPr>
          <p:cNvPr id="14" name="Shape 12"/>
          <p:cNvSpPr/>
          <p:nvPr/>
        </p:nvSpPr>
        <p:spPr>
          <a:xfrm>
            <a:off x="7882128" y="2779776"/>
            <a:ext cx="18288" cy="713232"/>
          </a:xfrm>
          <a:prstGeom prst="rect">
            <a:avLst/>
          </a:prstGeom>
          <a:solidFill>
            <a:srgbClr val="3A4A66"/>
          </a:solidFill>
          <a:ln/>
        </p:spPr>
      </p:sp>
      <p:sp>
        <p:nvSpPr>
          <p:cNvPr id="15" name="Text 13"/>
          <p:cNvSpPr txBox="1"/>
          <p:nvPr/>
        </p:nvSpPr>
        <p:spPr>
          <a:xfrm>
            <a:off x="8092440" y="2761488"/>
            <a:ext cx="3200400" cy="237744"/>
          </a:xfrm>
          <a:prstGeom prst="rect">
            <a:avLst/>
          </a:prstGeom>
          <a:noFill/>
          <a:ln/>
        </p:spPr>
        <p:txBody>
          <a:bodyPr wrap="square" lIns="0" tIns="0" rIns="0" bIns="0" rtlCol="0" anchor="ctr"/>
          <a:lstStyle/>
          <a:p>
            <a:pPr marL="0" indent="0">
              <a:buNone/>
            </a:pPr>
            <a:r>
              <a:rPr lang="en-US" sz="950" dirty="0">
                <a:solidFill>
                  <a:srgbClr val="6B7280"/>
                </a:solidFill>
                <a:latin typeface="맑은 고딕" pitchFamily="34" charset="0"/>
                <a:ea typeface="맑은 고딕" pitchFamily="34" charset="-122"/>
                <a:cs typeface="맑은 고딕" pitchFamily="34" charset="-120"/>
              </a:rPr>
              <a:t>향후 계획</a:t>
            </a:r>
            <a:endParaRPr lang="en-US" sz="950" dirty="0"/>
          </a:p>
        </p:txBody>
      </p:sp>
      <p:sp>
        <p:nvSpPr>
          <p:cNvPr id="16" name="Text 14"/>
          <p:cNvSpPr txBox="1"/>
          <p:nvPr/>
        </p:nvSpPr>
        <p:spPr>
          <a:xfrm>
            <a:off x="8092440" y="3017520"/>
            <a:ext cx="3200400" cy="548640"/>
          </a:xfrm>
          <a:prstGeom prst="rect">
            <a:avLst/>
          </a:prstGeom>
          <a:noFill/>
          <a:ln/>
        </p:spPr>
        <p:txBody>
          <a:bodyPr wrap="square" lIns="0" tIns="0" rIns="0" bIns="0" rtlCol="0" anchor="t"/>
          <a:lstStyle/>
          <a:p>
            <a:pPr marL="0" indent="0">
              <a:lnSpc>
                <a:spcPts val="1500"/>
              </a:lnSpc>
              <a:buNone/>
            </a:pPr>
            <a:r>
              <a:rPr lang="en-US" sz="1100" dirty="0">
                <a:solidFill>
                  <a:srgbClr val="FFFFFF"/>
                </a:solidFill>
                <a:latin typeface="맑은 고딕" pitchFamily="34" charset="0"/>
                <a:ea typeface="맑은 고딕" pitchFamily="34" charset="-122"/>
                <a:cs typeface="맑은 고딕" pitchFamily="34" charset="-120"/>
              </a:rPr>
              <a:t>프레임 샘플링 · 모델 경량화 · 배치 추론 도입</a:t>
            </a:r>
            <a:endParaRPr lang="en-US" sz="1100" dirty="0"/>
          </a:p>
        </p:txBody>
      </p:sp>
      <p:sp>
        <p:nvSpPr>
          <p:cNvPr id="17" name="Shape 15"/>
          <p:cNvSpPr/>
          <p:nvPr/>
        </p:nvSpPr>
        <p:spPr>
          <a:xfrm>
            <a:off x="685800" y="3767328"/>
            <a:ext cx="10789920" cy="1024128"/>
          </a:xfrm>
          <a:prstGeom prst="roundRect">
            <a:avLst>
              <a:gd name="adj" fmla="val 7143"/>
            </a:avLst>
          </a:prstGeom>
          <a:solidFill>
            <a:srgbClr val="24334F"/>
          </a:solidFill>
          <a:ln w="12700">
            <a:solidFill>
              <a:srgbClr val="3A4A66"/>
            </a:solidFill>
            <a:prstDash val="solid"/>
          </a:ln>
        </p:spPr>
      </p:sp>
      <p:sp>
        <p:nvSpPr>
          <p:cNvPr id="18" name="Text 16"/>
          <p:cNvSpPr txBox="1"/>
          <p:nvPr/>
        </p:nvSpPr>
        <p:spPr>
          <a:xfrm>
            <a:off x="960120" y="3895344"/>
            <a:ext cx="4023360" cy="329184"/>
          </a:xfrm>
          <a:prstGeom prst="rect">
            <a:avLst/>
          </a:prstGeom>
          <a:noFill/>
          <a:ln/>
        </p:spPr>
        <p:txBody>
          <a:bodyPr wrap="square" lIns="0" tIns="0" rIns="0" bIns="0" rtlCol="0" anchor="ctr"/>
          <a:lstStyle/>
          <a:p>
            <a:pPr marL="0" indent="0">
              <a:buNone/>
            </a:pPr>
            <a:r>
              <a:rPr lang="en-US" sz="1350" b="1" dirty="0">
                <a:solidFill>
                  <a:srgbClr val="F2A63B"/>
                </a:solidFill>
                <a:latin typeface="맑은 고딕" pitchFamily="34" charset="0"/>
                <a:ea typeface="맑은 고딕" pitchFamily="34" charset="-122"/>
                <a:cs typeface="맑은 고딕" pitchFamily="34" charset="-120"/>
              </a:rPr>
              <a:t>단일 횡단보도 · 수동 지정</a:t>
            </a:r>
            <a:endParaRPr lang="en-US" sz="1350" dirty="0"/>
          </a:p>
        </p:txBody>
      </p:sp>
      <p:sp>
        <p:nvSpPr>
          <p:cNvPr id="19" name="Text 17"/>
          <p:cNvSpPr txBox="1"/>
          <p:nvPr/>
        </p:nvSpPr>
        <p:spPr>
          <a:xfrm>
            <a:off x="960120" y="4224528"/>
            <a:ext cx="6675120" cy="512064"/>
          </a:xfrm>
          <a:prstGeom prst="rect">
            <a:avLst/>
          </a:prstGeom>
          <a:noFill/>
          <a:ln/>
        </p:spPr>
        <p:txBody>
          <a:bodyPr wrap="square" lIns="0" tIns="0" rIns="0" bIns="0" rtlCol="0" anchor="t"/>
          <a:lstStyle/>
          <a:p>
            <a:pPr marL="0" indent="0">
              <a:lnSpc>
                <a:spcPts val="1500"/>
              </a:lnSpc>
              <a:buNone/>
            </a:pPr>
            <a:r>
              <a:rPr lang="en-US" sz="1050" dirty="0">
                <a:solidFill>
                  <a:srgbClr val="C3CBD8"/>
                </a:solidFill>
                <a:latin typeface="맑은 고딕" pitchFamily="34" charset="0"/>
                <a:ea typeface="맑은 고딕" pitchFamily="34" charset="-122"/>
                <a:cs typeface="맑은 고딕" pitchFamily="34" charset="-120"/>
              </a:rPr>
              <a:t>한 번에 하나의 횡단보도만 분석하며, 영역을 사람이 직접 클릭해 지정해야 한다.</a:t>
            </a:r>
            <a:endParaRPr lang="en-US" sz="1050" dirty="0"/>
          </a:p>
        </p:txBody>
      </p:sp>
      <p:sp>
        <p:nvSpPr>
          <p:cNvPr id="20" name="Shape 18"/>
          <p:cNvSpPr/>
          <p:nvPr/>
        </p:nvSpPr>
        <p:spPr>
          <a:xfrm>
            <a:off x="7882128" y="3931920"/>
            <a:ext cx="18288" cy="713232"/>
          </a:xfrm>
          <a:prstGeom prst="rect">
            <a:avLst/>
          </a:prstGeom>
          <a:solidFill>
            <a:srgbClr val="3A4A66"/>
          </a:solidFill>
          <a:ln/>
        </p:spPr>
      </p:sp>
      <p:sp>
        <p:nvSpPr>
          <p:cNvPr id="21" name="Text 19"/>
          <p:cNvSpPr txBox="1"/>
          <p:nvPr/>
        </p:nvSpPr>
        <p:spPr>
          <a:xfrm>
            <a:off x="8092440" y="3913632"/>
            <a:ext cx="3200400" cy="237744"/>
          </a:xfrm>
          <a:prstGeom prst="rect">
            <a:avLst/>
          </a:prstGeom>
          <a:noFill/>
          <a:ln/>
        </p:spPr>
        <p:txBody>
          <a:bodyPr wrap="square" lIns="0" tIns="0" rIns="0" bIns="0" rtlCol="0" anchor="ctr"/>
          <a:lstStyle/>
          <a:p>
            <a:pPr marL="0" indent="0">
              <a:buNone/>
            </a:pPr>
            <a:r>
              <a:rPr lang="en-US" sz="950" dirty="0">
                <a:solidFill>
                  <a:srgbClr val="6B7280"/>
                </a:solidFill>
                <a:latin typeface="맑은 고딕" pitchFamily="34" charset="0"/>
                <a:ea typeface="맑은 고딕" pitchFamily="34" charset="-122"/>
                <a:cs typeface="맑은 고딕" pitchFamily="34" charset="-120"/>
              </a:rPr>
              <a:t>향후 계획</a:t>
            </a:r>
            <a:endParaRPr lang="en-US" sz="950" dirty="0"/>
          </a:p>
        </p:txBody>
      </p:sp>
      <p:sp>
        <p:nvSpPr>
          <p:cNvPr id="22" name="Text 20"/>
          <p:cNvSpPr txBox="1"/>
          <p:nvPr/>
        </p:nvSpPr>
        <p:spPr>
          <a:xfrm>
            <a:off x="8092440" y="4169664"/>
            <a:ext cx="3200400" cy="548640"/>
          </a:xfrm>
          <a:prstGeom prst="rect">
            <a:avLst/>
          </a:prstGeom>
          <a:noFill/>
          <a:ln/>
        </p:spPr>
        <p:txBody>
          <a:bodyPr wrap="square" lIns="0" tIns="0" rIns="0" bIns="0" rtlCol="0" anchor="t"/>
          <a:lstStyle/>
          <a:p>
            <a:pPr marL="0" indent="0">
              <a:lnSpc>
                <a:spcPts val="1500"/>
              </a:lnSpc>
              <a:buNone/>
            </a:pPr>
            <a:r>
              <a:rPr lang="en-US" sz="1100" dirty="0">
                <a:solidFill>
                  <a:srgbClr val="FFFFFF"/>
                </a:solidFill>
                <a:latin typeface="맑은 고딕" pitchFamily="34" charset="0"/>
                <a:ea typeface="맑은 고딕" pitchFamily="34" charset="-122"/>
                <a:cs typeface="맑은 고딕" pitchFamily="34" charset="-120"/>
              </a:rPr>
              <a:t>횡단보도 자동 검출 및 다중 구역 동시 분석</a:t>
            </a:r>
            <a:endParaRPr lang="en-US" sz="1100" dirty="0"/>
          </a:p>
        </p:txBody>
      </p:sp>
      <p:sp>
        <p:nvSpPr>
          <p:cNvPr id="23" name="Shape 21"/>
          <p:cNvSpPr/>
          <p:nvPr/>
        </p:nvSpPr>
        <p:spPr>
          <a:xfrm>
            <a:off x="685800" y="4919472"/>
            <a:ext cx="10789920" cy="1024128"/>
          </a:xfrm>
          <a:prstGeom prst="roundRect">
            <a:avLst>
              <a:gd name="adj" fmla="val 7143"/>
            </a:avLst>
          </a:prstGeom>
          <a:solidFill>
            <a:srgbClr val="24334F"/>
          </a:solidFill>
          <a:ln w="12700">
            <a:solidFill>
              <a:srgbClr val="3A4A66"/>
            </a:solidFill>
            <a:prstDash val="solid"/>
          </a:ln>
        </p:spPr>
      </p:sp>
      <p:sp>
        <p:nvSpPr>
          <p:cNvPr id="24" name="Text 22"/>
          <p:cNvSpPr txBox="1"/>
          <p:nvPr/>
        </p:nvSpPr>
        <p:spPr>
          <a:xfrm>
            <a:off x="960120" y="5047488"/>
            <a:ext cx="4023360" cy="329184"/>
          </a:xfrm>
          <a:prstGeom prst="rect">
            <a:avLst/>
          </a:prstGeom>
          <a:noFill/>
          <a:ln/>
        </p:spPr>
        <p:txBody>
          <a:bodyPr wrap="square" lIns="0" tIns="0" rIns="0" bIns="0" rtlCol="0" anchor="ctr"/>
          <a:lstStyle/>
          <a:p>
            <a:pPr marL="0" indent="0">
              <a:buNone/>
            </a:pPr>
            <a:r>
              <a:rPr lang="en-US" sz="1350" b="1" dirty="0">
                <a:solidFill>
                  <a:srgbClr val="F2A63B"/>
                </a:solidFill>
                <a:latin typeface="맑은 고딕" pitchFamily="34" charset="0"/>
                <a:ea typeface="맑은 고딕" pitchFamily="34" charset="-122"/>
                <a:cs typeface="맑은 고딕" pitchFamily="34" charset="-120"/>
              </a:rPr>
              <a:t>서비스 구조 확장</a:t>
            </a:r>
            <a:endParaRPr lang="en-US" sz="1350" dirty="0"/>
          </a:p>
        </p:txBody>
      </p:sp>
      <p:sp>
        <p:nvSpPr>
          <p:cNvPr id="25" name="Text 23"/>
          <p:cNvSpPr txBox="1"/>
          <p:nvPr/>
        </p:nvSpPr>
        <p:spPr>
          <a:xfrm>
            <a:off x="960120" y="5376672"/>
            <a:ext cx="6675120" cy="512064"/>
          </a:xfrm>
          <a:prstGeom prst="rect">
            <a:avLst/>
          </a:prstGeom>
          <a:noFill/>
          <a:ln/>
        </p:spPr>
        <p:txBody>
          <a:bodyPr wrap="square" lIns="0" tIns="0" rIns="0" bIns="0" rtlCol="0" anchor="t"/>
          <a:lstStyle/>
          <a:p>
            <a:pPr marL="0" indent="0">
              <a:lnSpc>
                <a:spcPts val="1500"/>
              </a:lnSpc>
              <a:buNone/>
            </a:pPr>
            <a:r>
              <a:rPr lang="en-US" sz="1050" dirty="0">
                <a:solidFill>
                  <a:srgbClr val="C3CBD8"/>
                </a:solidFill>
                <a:latin typeface="맑은 고딕" pitchFamily="34" charset="0"/>
                <a:ea typeface="맑은 고딕" pitchFamily="34" charset="-122"/>
                <a:cs typeface="맑은 고딕" pitchFamily="34" charset="-120"/>
              </a:rPr>
              <a:t>현재는 단일 애플리케이션에서 파일 기반으로 동작하며, 검토 결과를 누적해 관리하는 구조가 아니다.</a:t>
            </a:r>
            <a:endParaRPr lang="en-US" sz="1050" dirty="0"/>
          </a:p>
        </p:txBody>
      </p:sp>
      <p:sp>
        <p:nvSpPr>
          <p:cNvPr id="26" name="Shape 24"/>
          <p:cNvSpPr/>
          <p:nvPr/>
        </p:nvSpPr>
        <p:spPr>
          <a:xfrm>
            <a:off x="7882128" y="5084064"/>
            <a:ext cx="18288" cy="713232"/>
          </a:xfrm>
          <a:prstGeom prst="rect">
            <a:avLst/>
          </a:prstGeom>
          <a:solidFill>
            <a:srgbClr val="3A4A66"/>
          </a:solidFill>
          <a:ln/>
        </p:spPr>
      </p:sp>
      <p:sp>
        <p:nvSpPr>
          <p:cNvPr id="27" name="Text 25"/>
          <p:cNvSpPr txBox="1"/>
          <p:nvPr/>
        </p:nvSpPr>
        <p:spPr>
          <a:xfrm>
            <a:off x="8092440" y="5065776"/>
            <a:ext cx="3200400" cy="237744"/>
          </a:xfrm>
          <a:prstGeom prst="rect">
            <a:avLst/>
          </a:prstGeom>
          <a:noFill/>
          <a:ln/>
        </p:spPr>
        <p:txBody>
          <a:bodyPr wrap="square" lIns="0" tIns="0" rIns="0" bIns="0" rtlCol="0" anchor="ctr"/>
          <a:lstStyle/>
          <a:p>
            <a:pPr marL="0" indent="0">
              <a:buNone/>
            </a:pPr>
            <a:r>
              <a:rPr lang="en-US" sz="950" dirty="0">
                <a:solidFill>
                  <a:srgbClr val="6B7280"/>
                </a:solidFill>
                <a:latin typeface="맑은 고딕" pitchFamily="34" charset="0"/>
                <a:ea typeface="맑은 고딕" pitchFamily="34" charset="-122"/>
                <a:cs typeface="맑은 고딕" pitchFamily="34" charset="-120"/>
              </a:rPr>
              <a:t>향후 계획</a:t>
            </a:r>
            <a:endParaRPr lang="en-US" sz="950" dirty="0"/>
          </a:p>
        </p:txBody>
      </p:sp>
      <p:sp>
        <p:nvSpPr>
          <p:cNvPr id="28" name="Text 26"/>
          <p:cNvSpPr txBox="1"/>
          <p:nvPr/>
        </p:nvSpPr>
        <p:spPr>
          <a:xfrm>
            <a:off x="8092440" y="5321808"/>
            <a:ext cx="3200400" cy="548640"/>
          </a:xfrm>
          <a:prstGeom prst="rect">
            <a:avLst/>
          </a:prstGeom>
          <a:noFill/>
          <a:ln/>
        </p:spPr>
        <p:txBody>
          <a:bodyPr wrap="square" lIns="0" tIns="0" rIns="0" bIns="0" rtlCol="0" anchor="t"/>
          <a:lstStyle/>
          <a:p>
            <a:pPr marL="0" indent="0">
              <a:lnSpc>
                <a:spcPts val="1500"/>
              </a:lnSpc>
              <a:buNone/>
            </a:pPr>
            <a:r>
              <a:rPr lang="en-US" sz="1100" dirty="0">
                <a:solidFill>
                  <a:srgbClr val="FFFFFF"/>
                </a:solidFill>
                <a:latin typeface="맑은 고딕" pitchFamily="34" charset="0"/>
                <a:ea typeface="맑은 고딕" pitchFamily="34" charset="-122"/>
                <a:cs typeface="맑은 고딕" pitchFamily="34" charset="-120"/>
              </a:rPr>
              <a:t>백엔드 분리 · 사건 메타데이터 DB화 · 컨테이너 배포</a:t>
            </a:r>
            <a:endParaRPr lang="en-US" sz="1100" dirty="0"/>
          </a:p>
        </p:txBody>
      </p:sp>
      <p:sp>
        <p:nvSpPr>
          <p:cNvPr id="29" name="Text 27"/>
          <p:cNvSpPr txBox="1"/>
          <p:nvPr/>
        </p:nvSpPr>
        <p:spPr>
          <a:xfrm>
            <a:off x="685800" y="6144768"/>
            <a:ext cx="10789920" cy="457200"/>
          </a:xfrm>
          <a:prstGeom prst="rect">
            <a:avLst/>
          </a:prstGeom>
          <a:noFill/>
          <a:ln/>
        </p:spPr>
        <p:txBody>
          <a:bodyPr wrap="square" lIns="0" tIns="0" rIns="0" bIns="0" rtlCol="0" anchor="ctr"/>
          <a:lstStyle/>
          <a:p>
            <a:pPr marL="0" indent="0" algn="ctr">
              <a:buNone/>
            </a:pPr>
            <a:r>
              <a:rPr lang="en-US" sz="2000" b="1" dirty="0">
                <a:solidFill>
                  <a:srgbClr val="FFFFFF"/>
                </a:solidFill>
                <a:latin typeface="맑은 고딕" pitchFamily="34" charset="0"/>
                <a:ea typeface="맑은 고딕" pitchFamily="34" charset="-122"/>
                <a:cs typeface="맑은 고딕" pitchFamily="34" charset="-120"/>
              </a:rPr>
              <a:t>감사합니다</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1909</Words>
  <Application>Microsoft Office PowerPoint</Application>
  <PresentationFormat>와이드스크린</PresentationFormat>
  <Paragraphs>265</Paragraphs>
  <Slides>12</Slides>
  <Notes>12</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12</vt:i4>
      </vt:variant>
    </vt:vector>
  </HeadingPairs>
  <TitlesOfParts>
    <vt:vector size="15" baseType="lpstr">
      <vt:lpstr>맑은 고딕</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Admin</cp:lastModifiedBy>
  <cp:revision>16</cp:revision>
  <dcterms:created xsi:type="dcterms:W3CDTF">2026-09-07T05:23:55Z</dcterms:created>
  <dcterms:modified xsi:type="dcterms:W3CDTF">2026-09-07T05:41:14Z</dcterms:modified>
</cp:coreProperties>
</file>